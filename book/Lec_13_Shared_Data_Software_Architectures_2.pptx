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0"/>
  </p:notesMasterIdLst>
  <p:sldIdLst>
    <p:sldId id="320" r:id="rId2"/>
    <p:sldId id="390" r:id="rId3"/>
    <p:sldId id="425" r:id="rId4"/>
    <p:sldId id="376" r:id="rId5"/>
    <p:sldId id="436" r:id="rId6"/>
    <p:sldId id="437" r:id="rId7"/>
    <p:sldId id="438" r:id="rId8"/>
    <p:sldId id="428" r:id="rId9"/>
    <p:sldId id="427" r:id="rId10"/>
    <p:sldId id="439" r:id="rId11"/>
    <p:sldId id="440" r:id="rId12"/>
    <p:sldId id="441" r:id="rId13"/>
    <p:sldId id="442" r:id="rId14"/>
    <p:sldId id="443" r:id="rId15"/>
    <p:sldId id="444" r:id="rId16"/>
    <p:sldId id="445" r:id="rId17"/>
    <p:sldId id="446" r:id="rId18"/>
    <p:sldId id="447" r:id="rId19"/>
    <p:sldId id="453" r:id="rId20"/>
    <p:sldId id="454" r:id="rId21"/>
    <p:sldId id="455" r:id="rId22"/>
    <p:sldId id="456" r:id="rId23"/>
    <p:sldId id="448" r:id="rId24"/>
    <p:sldId id="449" r:id="rId25"/>
    <p:sldId id="450" r:id="rId26"/>
    <p:sldId id="451" r:id="rId27"/>
    <p:sldId id="452" r:id="rId28"/>
    <p:sldId id="32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70D3D8-FE8C-4948-89FA-4A31366A4612}" type="datetimeFigureOut">
              <a:rPr lang="en-US" smtClean="0"/>
              <a:pPr/>
              <a:t>10/27/2024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B87A72-AE6E-4F97-A386-96D2D976BC4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12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289089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744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1012911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1872054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3352844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2252105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5674ED9-745F-4B40-A9C6-03AEE5B8ECEC}" type="datetimeFigureOut">
              <a:rPr lang="en-US" smtClean="0"/>
              <a:pPr/>
              <a:t>10/27/2024</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67BDE92-96A6-471A-9FB7-29D1BE3A80D9}" type="slidenum">
              <a:rPr lang="en-US" smtClean="0"/>
              <a:pPr/>
              <a:t>‹#›</a:t>
            </a:fld>
            <a:endParaRPr lang="en-US"/>
          </a:p>
        </p:txBody>
      </p:sp>
    </p:spTree>
    <p:extLst>
      <p:ext uri="{BB962C8B-B14F-4D97-AF65-F5344CB8AC3E}">
        <p14:creationId xmlns:p14="http://schemas.microsoft.com/office/powerpoint/2010/main" val="2396676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51308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113229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674ED9-745F-4B40-A9C6-03AEE5B8ECEC}" type="datetimeFigureOut">
              <a:rPr lang="en-US" smtClean="0"/>
              <a:pPr/>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pPr/>
              <a:t>‹#›</a:t>
            </a:fld>
            <a:endParaRPr lang="en-US"/>
          </a:p>
        </p:txBody>
      </p:sp>
    </p:spTree>
    <p:extLst>
      <p:ext uri="{BB962C8B-B14F-4D97-AF65-F5344CB8AC3E}">
        <p14:creationId xmlns:p14="http://schemas.microsoft.com/office/powerpoint/2010/main" val="1892449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5674ED9-745F-4B40-A9C6-03AEE5B8ECEC}" type="datetimeFigureOut">
              <a:rPr lang="en-US" smtClean="0"/>
              <a:pPr/>
              <a:t>10/27/2024</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667BDE92-96A6-471A-9FB7-29D1BE3A80D9}"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64338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dirty="0"/>
              <a:t>SOFTWARE DESIGN AND ARCHITECTURE</a:t>
            </a:r>
          </a:p>
        </p:txBody>
      </p:sp>
      <p:sp>
        <p:nvSpPr>
          <p:cNvPr id="3" name="Subtitle 2"/>
          <p:cNvSpPr>
            <a:spLocks noGrp="1"/>
          </p:cNvSpPr>
          <p:nvPr>
            <p:ph type="subTitle" idx="1"/>
          </p:nvPr>
        </p:nvSpPr>
        <p:spPr/>
        <p:txBody>
          <a:bodyPr/>
          <a:lstStyle/>
          <a:p>
            <a:r>
              <a:rPr lang="en-US" dirty="0">
                <a:solidFill>
                  <a:schemeClr val="tx1"/>
                </a:solidFill>
              </a:rPr>
              <a:t>Instructor: M FAIZAN KHAN</a:t>
            </a:r>
          </a:p>
        </p:txBody>
      </p:sp>
      <p:pic>
        <p:nvPicPr>
          <p:cNvPr id="4" name="Picture 3">
            <a:extLst>
              <a:ext uri="{FF2B5EF4-FFF2-40B4-BE49-F238E27FC236}">
                <a16:creationId xmlns:a16="http://schemas.microsoft.com/office/drawing/2014/main" id="{7E367499-C22C-F962-3518-02C9D7606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0" y="427340"/>
            <a:ext cx="2143125"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p>
        </p:txBody>
      </p:sp>
      <p:sp>
        <p:nvSpPr>
          <p:cNvPr id="3" name="Content Placeholder 2"/>
          <p:cNvSpPr>
            <a:spLocks noGrp="1"/>
          </p:cNvSpPr>
          <p:nvPr>
            <p:ph idx="1"/>
          </p:nvPr>
        </p:nvSpPr>
        <p:spPr/>
        <p:txBody>
          <a:bodyPr/>
          <a:lstStyle/>
          <a:p>
            <a:r>
              <a:rPr lang="en-US" dirty="0"/>
              <a:t>Shared Data Software Architectures</a:t>
            </a:r>
          </a:p>
          <a:p>
            <a:pPr lvl="1" algn="just">
              <a:buFont typeface="Arial" panose="020B0604020202020204" pitchFamily="34" charset="0"/>
              <a:buChar char="•"/>
            </a:pPr>
            <a:r>
              <a:rPr lang="en-US" dirty="0"/>
              <a:t>Central Repository Architecture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lgn="just"/>
            <a:r>
              <a:rPr lang="en-US" dirty="0"/>
              <a:t>Shared Data Software Architectures</a:t>
            </a:r>
          </a:p>
          <a:p>
            <a:pPr lvl="1"/>
            <a:r>
              <a:rPr lang="en-US" dirty="0"/>
              <a:t>Black board Style architecture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normAutofit fontScale="90000"/>
          </a:bodyPr>
          <a:lstStyle/>
          <a:p>
            <a:r>
              <a:rPr lang="en-US" dirty="0"/>
              <a:t>Shared data Software Architecture</a:t>
            </a:r>
            <a:br>
              <a:rPr lang="en-US" dirty="0"/>
            </a:br>
            <a:endParaRPr lang="en-US" dirty="0"/>
          </a:p>
        </p:txBody>
      </p:sp>
      <p:sp>
        <p:nvSpPr>
          <p:cNvPr id="4" name="Text Placeholder 3"/>
          <p:cNvSpPr>
            <a:spLocks noGrp="1"/>
          </p:cNvSpPr>
          <p:nvPr>
            <p:ph type="body" idx="1"/>
          </p:nvPr>
        </p:nvSpPr>
        <p:spPr/>
        <p:txBody>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Shared Data Software Architecture</a:t>
            </a:r>
          </a:p>
        </p:txBody>
      </p:sp>
      <p:sp>
        <p:nvSpPr>
          <p:cNvPr id="5" name="Content Placeholder 4"/>
          <p:cNvSpPr>
            <a:spLocks noGrp="1"/>
          </p:cNvSpPr>
          <p:nvPr>
            <p:ph idx="1"/>
          </p:nvPr>
        </p:nvSpPr>
        <p:spPr/>
        <p:txBody>
          <a:bodyPr>
            <a:normAutofit/>
          </a:bodyPr>
          <a:lstStyle/>
          <a:p>
            <a:pPr algn="just">
              <a:buFont typeface="Arial" panose="020B0604020202020204" pitchFamily="34" charset="0"/>
              <a:buChar char="•"/>
            </a:pPr>
            <a:r>
              <a:rPr lang="en-US" dirty="0"/>
              <a:t>Data-centered software architecture is characterized by a centralized data store that is shared by all surrounding software components.</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The software system is decomposed into two major partitions: data store and independent software component or agents.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Data Software Architecture</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The connections between the data module and the software components are implemented either by explicit method invocation or by implicit method invocation. </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Data Software Architecture</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In pure data-centered software architecture, the software components don't communicate with each other directly; instead, all the communication is conducted via the data store.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The shared data module provides all mechanisms for software components to access it, such as insertion, deletion, update, and retrieval.</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Data:</a:t>
            </a:r>
          </a:p>
        </p:txBody>
      </p:sp>
      <p:sp>
        <p:nvSpPr>
          <p:cNvPr id="3" name="Content Placeholder 2"/>
          <p:cNvSpPr>
            <a:spLocks noGrp="1"/>
          </p:cNvSpPr>
          <p:nvPr>
            <p:ph idx="1"/>
          </p:nvPr>
        </p:nvSpPr>
        <p:spPr/>
        <p:txBody>
          <a:bodyPr>
            <a:normAutofit/>
          </a:bodyPr>
          <a:lstStyle/>
          <a:p>
            <a:pPr algn="just">
              <a:lnSpc>
                <a:spcPct val="90000"/>
              </a:lnSpc>
              <a:buFont typeface="Arial" panose="020B0604020202020204" pitchFamily="34" charset="0"/>
              <a:buChar char="•"/>
            </a:pPr>
            <a:r>
              <a:rPr lang="en-US" altLang="zh-TW" sz="3600" dirty="0">
                <a:solidFill>
                  <a:schemeClr val="tx1"/>
                </a:solidFill>
                <a:ea typeface="新細明體" pitchFamily="18" charset="-120"/>
              </a:rPr>
              <a:t>The high level design solution is based on a shared data-store which acts as the “central command” with 2 variations:</a:t>
            </a:r>
          </a:p>
          <a:p>
            <a:pPr lvl="1" algn="just">
              <a:lnSpc>
                <a:spcPct val="90000"/>
              </a:lnSpc>
              <a:buFont typeface="Arial" panose="020B0604020202020204" pitchFamily="34" charset="0"/>
              <a:buChar char="•"/>
            </a:pPr>
            <a:endParaRPr lang="en-US" altLang="zh-TW" sz="3200" dirty="0">
              <a:solidFill>
                <a:schemeClr val="tx1"/>
              </a:solidFill>
              <a:ea typeface="新細明體" pitchFamily="18" charset="-120"/>
            </a:endParaRPr>
          </a:p>
          <a:p>
            <a:pPr algn="just">
              <a:lnSpc>
                <a:spcPct val="90000"/>
              </a:lnSpc>
              <a:buFont typeface="Arial" panose="020B0604020202020204" pitchFamily="34" charset="0"/>
              <a:buChar char="•"/>
            </a:pPr>
            <a:r>
              <a:rPr lang="en-US" altLang="zh-TW" dirty="0">
                <a:solidFill>
                  <a:schemeClr val="tx1"/>
                </a:solidFill>
                <a:ea typeface="新細明體" pitchFamily="18" charset="-120"/>
              </a:rPr>
              <a:t>Blackboard style</a:t>
            </a:r>
          </a:p>
          <a:p>
            <a:pPr algn="just">
              <a:lnSpc>
                <a:spcPct val="90000"/>
              </a:lnSpc>
              <a:buFont typeface="Arial" panose="020B0604020202020204" pitchFamily="34" charset="0"/>
              <a:buChar char="•"/>
            </a:pPr>
            <a:r>
              <a:rPr lang="en-US" altLang="zh-TW" dirty="0">
                <a:solidFill>
                  <a:schemeClr val="tx1"/>
                </a:solidFill>
                <a:ea typeface="新細明體" pitchFamily="18" charset="-120"/>
              </a:rPr>
              <a:t>Repository style </a:t>
            </a:r>
          </a:p>
        </p:txBody>
      </p:sp>
    </p:spTree>
    <p:extLst>
      <p:ext uri="{BB962C8B-B14F-4D97-AF65-F5344CB8AC3E}">
        <p14:creationId xmlns:p14="http://schemas.microsoft.com/office/powerpoint/2010/main" val="1000024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Blackboard architecture</a:t>
            </a:r>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Blackboard architecture</a:t>
            </a:r>
          </a:p>
        </p:txBody>
      </p:sp>
      <p:sp>
        <p:nvSpPr>
          <p:cNvPr id="5" name="Content Placeholder 4"/>
          <p:cNvSpPr>
            <a:spLocks noGrp="1"/>
          </p:cNvSpPr>
          <p:nvPr>
            <p:ph idx="1"/>
          </p:nvPr>
        </p:nvSpPr>
        <p:spPr/>
        <p:txBody>
          <a:bodyPr/>
          <a:lstStyle/>
          <a:p>
            <a:pPr algn="just">
              <a:buFont typeface="Arial" panose="020B0604020202020204" pitchFamily="34" charset="0"/>
              <a:buChar char="•"/>
            </a:pPr>
            <a:r>
              <a:rPr lang="en-US" dirty="0"/>
              <a:t>The blackboard architecture was developed for speech recognition applications in the 1970s.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Other applications for this architecture are image pattern recognition and weather broadcast systems.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Blackboard architecture</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The word blackboard comes from classroom teaching and learning.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Teachers and students can share data in solving classroom problems via a blackboard.</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 Students and teachers play the role of agents to contribute to the problem solving.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They can all work in parallel, and independently, trying to find the best solution.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Blackboard architecture</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It is a data- directed and a partially data-driven architecture.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Blackboard architecture</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The entire system is decomposed into two major partitions. </a:t>
            </a:r>
          </a:p>
          <a:p>
            <a:pPr lvl="1" algn="just">
              <a:buFont typeface="Arial" panose="020B0604020202020204" pitchFamily="34" charset="0"/>
              <a:buChar char="•"/>
            </a:pPr>
            <a:r>
              <a:rPr lang="en-US" dirty="0"/>
              <a:t>One partition, called the blackboard, is used to store data (hypotheses and facts)</a:t>
            </a:r>
          </a:p>
          <a:p>
            <a:pPr lvl="1" algn="just">
              <a:buFont typeface="Arial" panose="020B0604020202020204" pitchFamily="34" charset="0"/>
              <a:buChar char="•"/>
            </a:pPr>
            <a:endParaRPr lang="en-US" dirty="0"/>
          </a:p>
          <a:p>
            <a:pPr lvl="1" algn="just">
              <a:buFont typeface="Arial" panose="020B0604020202020204" pitchFamily="34" charset="0"/>
              <a:buChar char="•"/>
            </a:pPr>
            <a:r>
              <a:rPr lang="en-US" dirty="0"/>
              <a:t>while the other partition, called knowledge sources, stores domain specific knowledge.</a:t>
            </a:r>
          </a:p>
          <a:p>
            <a:pPr lvl="1" algn="just">
              <a:buFont typeface="Arial" panose="020B0604020202020204" pitchFamily="34" charset="0"/>
              <a:buChar char="•"/>
            </a:pPr>
            <a:endParaRPr lang="en-US" dirty="0"/>
          </a:p>
          <a:p>
            <a:pPr lvl="1" algn="just">
              <a:buFont typeface="Arial" panose="020B0604020202020204" pitchFamily="34" charset="0"/>
              <a:buChar char="•"/>
            </a:pPr>
            <a:r>
              <a:rPr lang="en-US" dirty="0"/>
              <a:t>There also may be a third partition, called the controller, that is used to initiate the blackboard and knowledge sources and that takes a bootstrap role and overall supervision control.</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Blackboard architecture - Connections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The connections between the blackboard subsystem and knowledge sources are basically </a:t>
            </a:r>
          </a:p>
          <a:p>
            <a:pPr lvl="1" algn="just">
              <a:buFont typeface="Arial" panose="020B0604020202020204" pitchFamily="34" charset="0"/>
              <a:buChar char="•"/>
            </a:pPr>
            <a:r>
              <a:rPr lang="en-US" dirty="0"/>
              <a:t>implicit invocations from the blackboard to specific knowledge sources, </a:t>
            </a:r>
          </a:p>
          <a:p>
            <a:pPr lvl="1" algn="just">
              <a:buFont typeface="Arial" panose="020B0604020202020204" pitchFamily="34" charset="0"/>
              <a:buChar char="•"/>
            </a:pPr>
            <a:endParaRPr lang="en-US" dirty="0"/>
          </a:p>
          <a:p>
            <a:pPr algn="just">
              <a:buFont typeface="Arial" panose="020B0604020202020204" pitchFamily="34" charset="0"/>
              <a:buChar char="•"/>
            </a:pPr>
            <a:r>
              <a:rPr lang="en-US" dirty="0"/>
              <a:t>which are registered with the blackboard in advance.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Blackboard architecture - Connections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Data changes in the blackboard trigger one or more matched knowledge source to continue processing.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Data changes may be caused by new deduced information or hypotheses results by some knowledge sources.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This connection can be implemented in publish/subscribe mode.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78557"/>
            <a:ext cx="7543800" cy="1008797"/>
          </a:xfrm>
        </p:spPr>
        <p:txBody>
          <a:bodyPr>
            <a:normAutofit/>
          </a:bodyPr>
          <a:lstStyle/>
          <a:p>
            <a:r>
              <a:rPr lang="en-US" sz="3600" b="1" dirty="0"/>
              <a:t>A block diagram - blackboard architecture</a:t>
            </a:r>
          </a:p>
        </p:txBody>
      </p:sp>
      <p:sp>
        <p:nvSpPr>
          <p:cNvPr id="3" name="Content Placeholder 2"/>
          <p:cNvSpPr>
            <a:spLocks noGrp="1"/>
          </p:cNvSpPr>
          <p:nvPr>
            <p:ph idx="1"/>
          </p:nvPr>
        </p:nvSpPr>
        <p:spPr>
          <a:xfrm>
            <a:off x="457200" y="1295401"/>
            <a:ext cx="8229600" cy="2514600"/>
          </a:xfrm>
        </p:spPr>
        <p:txBody>
          <a:bodyPr>
            <a:normAutofit fontScale="92500"/>
          </a:bodyPr>
          <a:lstStyle/>
          <a:p>
            <a:pPr algn="just">
              <a:buFont typeface="Arial" panose="020B0604020202020204" pitchFamily="34" charset="0"/>
              <a:buChar char="•"/>
            </a:pPr>
            <a:r>
              <a:rPr lang="en-US" sz="2800" dirty="0"/>
              <a:t>The solid lines indicate data links, </a:t>
            </a:r>
          </a:p>
          <a:p>
            <a:pPr lvl="1" algn="just">
              <a:buFont typeface="Arial" panose="020B0604020202020204" pitchFamily="34" charset="0"/>
              <a:buChar char="•"/>
            </a:pPr>
            <a:r>
              <a:rPr lang="en-US" sz="2400" dirty="0"/>
              <a:t>while dashed lines represent the flow logic control, </a:t>
            </a:r>
          </a:p>
          <a:p>
            <a:pPr algn="just">
              <a:buFont typeface="Arial" panose="020B0604020202020204" pitchFamily="34" charset="0"/>
              <a:buChar char="•"/>
            </a:pPr>
            <a:r>
              <a:rPr lang="en-US" sz="2800" dirty="0"/>
              <a:t>which is controlled by any data changes in the data store. </a:t>
            </a:r>
          </a:p>
          <a:p>
            <a:pPr algn="just">
              <a:buFont typeface="Arial" panose="020B0604020202020204" pitchFamily="34" charset="0"/>
              <a:buChar char="•"/>
            </a:pPr>
            <a:r>
              <a:rPr lang="en-US" sz="2800" dirty="0"/>
              <a:t>The data in the blackboard store directs the flow of the computation.</a:t>
            </a:r>
          </a:p>
        </p:txBody>
      </p:sp>
      <p:pic>
        <p:nvPicPr>
          <p:cNvPr id="1026" name="Picture 2"/>
          <p:cNvPicPr>
            <a:picLocks noChangeAspect="1" noChangeArrowheads="1"/>
          </p:cNvPicPr>
          <p:nvPr/>
        </p:nvPicPr>
        <p:blipFill>
          <a:blip r:embed="rId2"/>
          <a:srcRect l="25183" t="47917" r="25037" b="12500"/>
          <a:stretch>
            <a:fillRect/>
          </a:stretch>
        </p:blipFill>
        <p:spPr bwMode="auto">
          <a:xfrm>
            <a:off x="3962400" y="3886200"/>
            <a:ext cx="5029200" cy="23622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Rule-based blackboard software architecture</a:t>
            </a:r>
          </a:p>
        </p:txBody>
      </p:sp>
      <p:sp>
        <p:nvSpPr>
          <p:cNvPr id="3" name="Content Placeholder 2"/>
          <p:cNvSpPr>
            <a:spLocks noGrp="1"/>
          </p:cNvSpPr>
          <p:nvPr>
            <p:ph idx="1"/>
          </p:nvPr>
        </p:nvSpPr>
        <p:spPr>
          <a:xfrm>
            <a:off x="457200" y="2133600"/>
            <a:ext cx="4800600" cy="4724399"/>
          </a:xfrm>
        </p:spPr>
        <p:txBody>
          <a:bodyPr>
            <a:normAutofit/>
          </a:bodyPr>
          <a:lstStyle/>
          <a:p>
            <a:pPr algn="dist">
              <a:buFont typeface="Arial" panose="020B0604020202020204" pitchFamily="34" charset="0"/>
              <a:buChar char="•"/>
            </a:pPr>
            <a:r>
              <a:rPr lang="en-US" dirty="0"/>
              <a:t>Figure shows a UML class diagram of a rule-based blackboard software architecture. </a:t>
            </a:r>
          </a:p>
          <a:p>
            <a:pPr algn="dist">
              <a:buFont typeface="Arial" panose="020B0604020202020204" pitchFamily="34" charset="0"/>
              <a:buChar char="•"/>
            </a:pPr>
            <a:endParaRPr lang="en-US" dirty="0"/>
          </a:p>
          <a:p>
            <a:pPr algn="dist">
              <a:buFont typeface="Arial" panose="020B0604020202020204" pitchFamily="34" charset="0"/>
              <a:buChar char="•"/>
            </a:pPr>
            <a:r>
              <a:rPr lang="en-US" dirty="0"/>
              <a:t>One blackboard may have many knowledge sources associated with it, working on given data and deduced data available in the blackboard subsystem. </a:t>
            </a:r>
          </a:p>
        </p:txBody>
      </p:sp>
      <p:pic>
        <p:nvPicPr>
          <p:cNvPr id="4" name="Picture 2"/>
          <p:cNvPicPr>
            <a:picLocks noChangeAspect="1" noChangeArrowheads="1"/>
          </p:cNvPicPr>
          <p:nvPr/>
        </p:nvPicPr>
        <p:blipFill>
          <a:blip r:embed="rId2"/>
          <a:srcRect l="27526" t="39583" r="40849" b="10417"/>
          <a:stretch>
            <a:fillRect/>
          </a:stretch>
        </p:blipFill>
        <p:spPr bwMode="auto">
          <a:xfrm>
            <a:off x="5372100" y="2286000"/>
            <a:ext cx="3771900" cy="33528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604"/>
            <a:ext cx="7909560" cy="1450757"/>
          </a:xfrm>
        </p:spPr>
        <p:txBody>
          <a:bodyPr>
            <a:normAutofit/>
          </a:bodyPr>
          <a:lstStyle/>
          <a:p>
            <a:r>
              <a:rPr lang="en-US" b="1" dirty="0"/>
              <a:t>Rule-based blackboard software architecture</a:t>
            </a:r>
          </a:p>
        </p:txBody>
      </p:sp>
      <p:sp>
        <p:nvSpPr>
          <p:cNvPr id="3" name="Content Placeholder 2"/>
          <p:cNvSpPr>
            <a:spLocks noGrp="1"/>
          </p:cNvSpPr>
          <p:nvPr>
            <p:ph idx="1"/>
          </p:nvPr>
        </p:nvSpPr>
        <p:spPr>
          <a:xfrm>
            <a:off x="457200" y="1828799"/>
            <a:ext cx="4648200" cy="5029199"/>
          </a:xfrm>
        </p:spPr>
        <p:txBody>
          <a:bodyPr>
            <a:normAutofit/>
          </a:bodyPr>
          <a:lstStyle/>
          <a:p>
            <a:pPr algn="just">
              <a:buFont typeface="Arial" panose="020B0604020202020204" pitchFamily="34" charset="0"/>
              <a:buChar char="•"/>
            </a:pPr>
            <a:r>
              <a:rPr lang="en-US" dirty="0"/>
              <a:t>Each knowledge source helps to solve problems in its expertise area. </a:t>
            </a:r>
          </a:p>
          <a:p>
            <a:pPr algn="just">
              <a:buFont typeface="Arial" panose="020B0604020202020204" pitchFamily="34" charset="0"/>
              <a:buChar char="•"/>
            </a:pPr>
            <a:r>
              <a:rPr lang="en-US" dirty="0"/>
              <a:t>Knowledge can be stored in different knowledge representation formats depending on the reasoning strategy. </a:t>
            </a:r>
          </a:p>
          <a:p>
            <a:pPr algn="just">
              <a:buFont typeface="Arial" panose="020B0604020202020204" pitchFamily="34" charset="0"/>
              <a:buChar char="•"/>
            </a:pPr>
            <a:r>
              <a:rPr lang="en-US" dirty="0"/>
              <a:t>For example, a knowledge source stores all related rules and provides activation mechanisms for the blackboard to trigger in rule-based expert system.</a:t>
            </a:r>
          </a:p>
          <a:p>
            <a:pPr algn="just"/>
            <a:endParaRPr lang="en-US" dirty="0"/>
          </a:p>
        </p:txBody>
      </p:sp>
      <p:pic>
        <p:nvPicPr>
          <p:cNvPr id="1026" name="Picture 2"/>
          <p:cNvPicPr>
            <a:picLocks noChangeAspect="1" noChangeArrowheads="1"/>
          </p:cNvPicPr>
          <p:nvPr/>
        </p:nvPicPr>
        <p:blipFill>
          <a:blip r:embed="rId2"/>
          <a:srcRect l="27526" t="39583" r="40849" b="10417"/>
          <a:stretch>
            <a:fillRect/>
          </a:stretch>
        </p:blipFill>
        <p:spPr bwMode="auto">
          <a:xfrm>
            <a:off x="5136037" y="2133600"/>
            <a:ext cx="3748921" cy="3332374"/>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Travel Consulting System</a:t>
            </a:r>
          </a:p>
        </p:txBody>
      </p:sp>
      <p:sp>
        <p:nvSpPr>
          <p:cNvPr id="3" name="Content Placeholder 2"/>
          <p:cNvSpPr>
            <a:spLocks noGrp="1"/>
          </p:cNvSpPr>
          <p:nvPr>
            <p:ph idx="1"/>
          </p:nvPr>
        </p:nvSpPr>
        <p:spPr>
          <a:xfrm>
            <a:off x="304800" y="2057400"/>
            <a:ext cx="4114800" cy="4800599"/>
          </a:xfrm>
        </p:spPr>
        <p:txBody>
          <a:bodyPr>
            <a:normAutofit/>
          </a:bodyPr>
          <a:lstStyle/>
          <a:p>
            <a:pPr algn="just"/>
            <a:r>
              <a:rPr lang="en-US" sz="2800" dirty="0"/>
              <a:t>There may be many air travel agencies, hotel reservation systems, car rental companies, or attraction reservation systems to subscribe to or register with through this travel planning system. </a:t>
            </a:r>
          </a:p>
        </p:txBody>
      </p:sp>
      <p:pic>
        <p:nvPicPr>
          <p:cNvPr id="4" name="Picture 2"/>
          <p:cNvPicPr>
            <a:picLocks noChangeAspect="1" noChangeArrowheads="1"/>
          </p:cNvPicPr>
          <p:nvPr/>
        </p:nvPicPr>
        <p:blipFill>
          <a:blip r:embed="rId2"/>
          <a:srcRect l="28697" t="35417" r="39678" b="14583"/>
          <a:stretch>
            <a:fillRect/>
          </a:stretch>
        </p:blipFill>
        <p:spPr bwMode="auto">
          <a:xfrm>
            <a:off x="4907437" y="2438400"/>
            <a:ext cx="3962400" cy="3081867"/>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Travel Consulting System</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Once the system receives a client request, it publishes the request to all related agents and composes plan options for clients to choose from. </a:t>
            </a:r>
          </a:p>
        </p:txBody>
      </p:sp>
      <p:pic>
        <p:nvPicPr>
          <p:cNvPr id="2050" name="Picture 2"/>
          <p:cNvPicPr>
            <a:picLocks noChangeAspect="1" noChangeArrowheads="1"/>
          </p:cNvPicPr>
          <p:nvPr/>
        </p:nvPicPr>
        <p:blipFill>
          <a:blip r:embed="rId2"/>
          <a:srcRect l="28697" t="35417" r="39678" b="14583"/>
          <a:stretch>
            <a:fillRect/>
          </a:stretch>
        </p:blipFill>
        <p:spPr bwMode="auto">
          <a:xfrm>
            <a:off x="4724400" y="3200400"/>
            <a:ext cx="4038600" cy="254282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790700"/>
            <a:ext cx="8229600" cy="3276600"/>
          </a:xfrm>
        </p:spPr>
        <p:txBody>
          <a:bodyPr>
            <a:normAutofit/>
          </a:bodyPr>
          <a:lstStyle/>
          <a:p>
            <a:pPr algn="just">
              <a:buFont typeface="Arial" panose="020B0604020202020204" pitchFamily="34" charset="0"/>
              <a:buChar char="•"/>
            </a:pPr>
            <a:r>
              <a:rPr lang="en-US" sz="2600" dirty="0"/>
              <a:t>The system also stores all necessary data in the database. </a:t>
            </a:r>
          </a:p>
          <a:p>
            <a:pPr algn="just">
              <a:buFont typeface="Arial" panose="020B0604020202020204" pitchFamily="34" charset="0"/>
              <a:buChar char="•"/>
            </a:pPr>
            <a:r>
              <a:rPr lang="en-US" sz="2600" dirty="0"/>
              <a:t>After the system receives a confirmation from the client, it invokes the financial billing system to verify credit background and to issue invoices. </a:t>
            </a:r>
          </a:p>
        </p:txBody>
      </p:sp>
      <p:pic>
        <p:nvPicPr>
          <p:cNvPr id="4" name="Picture 2"/>
          <p:cNvPicPr>
            <a:picLocks noChangeAspect="1" noChangeArrowheads="1"/>
          </p:cNvPicPr>
          <p:nvPr/>
        </p:nvPicPr>
        <p:blipFill>
          <a:blip r:embed="rId2"/>
          <a:srcRect l="28697" t="35417" r="39678" b="14583"/>
          <a:stretch>
            <a:fillRect/>
          </a:stretch>
        </p:blipFill>
        <p:spPr bwMode="auto">
          <a:xfrm>
            <a:off x="5071621" y="3429000"/>
            <a:ext cx="3733800" cy="2809778"/>
          </a:xfrm>
          <a:prstGeom prst="rect">
            <a:avLst/>
          </a:prstGeom>
          <a:noFill/>
          <a:ln w="9525">
            <a:noFill/>
            <a:miter lim="800000"/>
            <a:headEnd/>
            <a:tailEnd/>
          </a:ln>
          <a:effectLst/>
        </p:spPr>
      </p:pic>
      <p:sp>
        <p:nvSpPr>
          <p:cNvPr id="5" name="TextBox 4">
            <a:extLst>
              <a:ext uri="{FF2B5EF4-FFF2-40B4-BE49-F238E27FC236}">
                <a16:creationId xmlns:a16="http://schemas.microsoft.com/office/drawing/2014/main" id="{1178678F-3EC2-F851-CAB9-45E19A41C8F9}"/>
              </a:ext>
            </a:extLst>
          </p:cNvPr>
          <p:cNvSpPr txBox="1"/>
          <p:nvPr/>
        </p:nvSpPr>
        <p:spPr>
          <a:xfrm>
            <a:off x="533400" y="1066800"/>
            <a:ext cx="4572000" cy="369332"/>
          </a:xfrm>
          <a:prstGeom prst="rect">
            <a:avLst/>
          </a:prstGeom>
          <a:noFill/>
        </p:spPr>
        <p:txBody>
          <a:bodyPr wrap="square">
            <a:spAutoFit/>
          </a:bodyPr>
          <a:lstStyle/>
          <a:p>
            <a:pPr algn="just"/>
            <a:r>
              <a:rPr lang="en-US" b="1" dirty="0"/>
              <a:t>Example - Travel Consulting System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133600"/>
            <a:ext cx="4343400" cy="3581400"/>
          </a:xfrm>
        </p:spPr>
        <p:txBody>
          <a:bodyPr>
            <a:normAutofit/>
          </a:bodyPr>
          <a:lstStyle/>
          <a:p>
            <a:pPr>
              <a:buFont typeface="Arial" panose="020B0604020202020204" pitchFamily="34" charset="0"/>
              <a:buChar char="•"/>
            </a:pPr>
            <a:r>
              <a:rPr lang="en-US" dirty="0"/>
              <a:t>The data in the data store plays an active role in this system.</a:t>
            </a:r>
          </a:p>
          <a:p>
            <a:pPr algn="just">
              <a:buFont typeface="Arial" panose="020B0604020202020204" pitchFamily="34" charset="0"/>
              <a:buChar char="•"/>
            </a:pPr>
            <a:r>
              <a:rPr lang="en-US" dirty="0"/>
              <a:t>It does not require much user interaction after the system receives client requests since the request data will direct the computation and activate all related knowledge sources to solve the problem.</a:t>
            </a:r>
          </a:p>
          <a:p>
            <a:endParaRPr lang="en-US" dirty="0"/>
          </a:p>
        </p:txBody>
      </p:sp>
      <p:pic>
        <p:nvPicPr>
          <p:cNvPr id="4" name="Picture 2"/>
          <p:cNvPicPr>
            <a:picLocks noChangeAspect="1" noChangeArrowheads="1"/>
          </p:cNvPicPr>
          <p:nvPr/>
        </p:nvPicPr>
        <p:blipFill>
          <a:blip r:embed="rId2"/>
          <a:srcRect l="28697" t="35417" r="39678" b="14583"/>
          <a:stretch>
            <a:fillRect/>
          </a:stretch>
        </p:blipFill>
        <p:spPr bwMode="auto">
          <a:xfrm>
            <a:off x="5181600" y="2861036"/>
            <a:ext cx="3667125" cy="3259667"/>
          </a:xfrm>
          <a:prstGeom prst="rect">
            <a:avLst/>
          </a:prstGeom>
          <a:noFill/>
          <a:ln w="9525">
            <a:noFill/>
            <a:miter lim="800000"/>
            <a:headEnd/>
            <a:tailEnd/>
          </a:ln>
          <a:effectLst/>
        </p:spPr>
      </p:pic>
      <p:sp>
        <p:nvSpPr>
          <p:cNvPr id="2" name="TextBox 1">
            <a:extLst>
              <a:ext uri="{FF2B5EF4-FFF2-40B4-BE49-F238E27FC236}">
                <a16:creationId xmlns:a16="http://schemas.microsoft.com/office/drawing/2014/main" id="{C1808FA7-E5A4-E10E-6819-CAAEA90A37B3}"/>
              </a:ext>
            </a:extLst>
          </p:cNvPr>
          <p:cNvSpPr txBox="1"/>
          <p:nvPr/>
        </p:nvSpPr>
        <p:spPr>
          <a:xfrm>
            <a:off x="685800" y="1219200"/>
            <a:ext cx="4572000" cy="369332"/>
          </a:xfrm>
          <a:prstGeom prst="rect">
            <a:avLst/>
          </a:prstGeom>
          <a:noFill/>
        </p:spPr>
        <p:txBody>
          <a:bodyPr wrap="square">
            <a:spAutoFit/>
          </a:bodyPr>
          <a:lstStyle/>
          <a:p>
            <a:pPr algn="just"/>
            <a:r>
              <a:rPr lang="en-US" b="1" dirty="0"/>
              <a:t>Example - Travel Consulting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Applicable domain:</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Suitable for solving open-ended and complex problems such as artificial intelligence (AI) problems where no preset solutions exist.</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r>
              <a:rPr lang="en-US" dirty="0"/>
              <a:t>The problem spans multiple disciplines, and each problem involves completely different types of knowledge expertise and problem solving paradigms that require cooperation.</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Applicable domain:</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Partial or approximate solution is acceptable to the problems.</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 Exhaustive searching is impossible and impractical since it may take forever because available knowledge and even data and hypotheses may not be complete or precisely accurate.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Benefits:</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dirty="0"/>
              <a:t>Scalability: easy to add or update knowledge source.</a:t>
            </a:r>
          </a:p>
          <a:p>
            <a:pPr algn="just">
              <a:buFont typeface="Arial" panose="020B0604020202020204" pitchFamily="34" charset="0"/>
              <a:buChar char="•"/>
            </a:pPr>
            <a:r>
              <a:rPr lang="en-US" dirty="0"/>
              <a:t>Concurrency: all knowledge sources can work in parallel since they are independent of each other.</a:t>
            </a:r>
          </a:p>
          <a:p>
            <a:pPr algn="just">
              <a:buFont typeface="Arial" panose="020B0604020202020204" pitchFamily="34" charset="0"/>
              <a:buChar char="•"/>
            </a:pPr>
            <a:r>
              <a:rPr lang="en-US" dirty="0"/>
              <a:t>Supports experimentation for hypotheses.</a:t>
            </a:r>
          </a:p>
          <a:p>
            <a:pPr algn="just">
              <a:buFont typeface="Arial" panose="020B0604020202020204" pitchFamily="34" charset="0"/>
              <a:buChar char="•"/>
            </a:pPr>
            <a:r>
              <a:rPr lang="en-US" dirty="0"/>
              <a:t>Reusability of knowledge source agents.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Limitations</a:t>
            </a:r>
            <a:r>
              <a:rPr lang="en-US" dirty="0"/>
              <a:t>:</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Due to the close dependency between the blackboard and knowledge source, the structure change of the blackboard may have a significant impact on all of its agents.</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Since only partial or approximate solutions are expected, it can be difficult to decide when to terminate reasoning.</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Limitations: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Synchronization of multiple agents is an issue. Since multiple agents are working and updating the shared data in the blackboard simultaneously, the preference or priority of executions of multiple agents must be coordinated.</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Debugging and testing of the system is a challenge.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dirty="0"/>
              <a:t>Summary</a:t>
            </a:r>
          </a:p>
        </p:txBody>
      </p:sp>
      <p:sp>
        <p:nvSpPr>
          <p:cNvPr id="3" name="Content Placeholder 2"/>
          <p:cNvSpPr>
            <a:spLocks noGrp="1"/>
          </p:cNvSpPr>
          <p:nvPr>
            <p:ph idx="1"/>
          </p:nvPr>
        </p:nvSpPr>
        <p:spPr/>
        <p:txBody>
          <a:bodyPr/>
          <a:lstStyle/>
          <a:p>
            <a:pPr algn="just"/>
            <a:r>
              <a:rPr lang="en-US" dirty="0"/>
              <a:t>Shared Data Software Architectures</a:t>
            </a:r>
          </a:p>
          <a:p>
            <a:pPr lvl="1" algn="just"/>
            <a:r>
              <a:rPr lang="en-US" dirty="0"/>
              <a:t>Black board style Architecture</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1738</TotalTime>
  <Words>988</Words>
  <Application>Microsoft Office PowerPoint</Application>
  <PresentationFormat>On-screen Show (4:3)</PresentationFormat>
  <Paragraphs>105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新細明體</vt:lpstr>
      <vt:lpstr>Arial</vt:lpstr>
      <vt:lpstr>Calibri</vt:lpstr>
      <vt:lpstr>Calibri Light</vt:lpstr>
      <vt:lpstr>Retrospect</vt:lpstr>
      <vt:lpstr>SOFTWARE DESIGN AND ARCHITECTURE</vt:lpstr>
      <vt:lpstr>Review</vt:lpstr>
      <vt:lpstr>Outline</vt:lpstr>
      <vt:lpstr>Shared data Software Architecture </vt:lpstr>
      <vt:lpstr>Shared Data Software Architecture</vt:lpstr>
      <vt:lpstr>Shared Data Software Architecture</vt:lpstr>
      <vt:lpstr>Shared Data Software Architecture</vt:lpstr>
      <vt:lpstr>Shared Data:</vt:lpstr>
      <vt:lpstr>Blackboard architecture</vt:lpstr>
      <vt:lpstr>Blackboard architecture</vt:lpstr>
      <vt:lpstr>Blackboard architecture</vt:lpstr>
      <vt:lpstr>Blackboard architecture</vt:lpstr>
      <vt:lpstr>Blackboard architecture</vt:lpstr>
      <vt:lpstr>Blackboard architecture - Connections</vt:lpstr>
      <vt:lpstr>Blackboard architecture - Connections</vt:lpstr>
      <vt:lpstr>A block diagram - blackboard architecture</vt:lpstr>
      <vt:lpstr>Rule-based blackboard software architecture</vt:lpstr>
      <vt:lpstr>Rule-based blackboard software architecture</vt:lpstr>
      <vt:lpstr>Example - Travel Consulting System</vt:lpstr>
      <vt:lpstr>Example - Travel Consulting System</vt:lpstr>
      <vt:lpstr>PowerPoint Presentation</vt:lpstr>
      <vt:lpstr>PowerPoint Presentation</vt:lpstr>
      <vt:lpstr>Applicable domain:</vt:lpstr>
      <vt:lpstr>Applicable domain:</vt:lpstr>
      <vt:lpstr>Benefits:</vt:lpstr>
      <vt:lpstr>Limitations:</vt:lpstr>
      <vt:lpstr>Limitations:</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Faizan Niazi</cp:lastModifiedBy>
  <cp:revision>127</cp:revision>
  <dcterms:created xsi:type="dcterms:W3CDTF">2015-07-31T14:09:29Z</dcterms:created>
  <dcterms:modified xsi:type="dcterms:W3CDTF">2024-10-27T08:55:45Z</dcterms:modified>
</cp:coreProperties>
</file>