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8" r:id="rId2"/>
    <p:sldId id="296" r:id="rId3"/>
    <p:sldId id="297" r:id="rId4"/>
    <p:sldId id="289" r:id="rId5"/>
    <p:sldId id="290" r:id="rId6"/>
    <p:sldId id="291" r:id="rId7"/>
    <p:sldId id="299" r:id="rId8"/>
    <p:sldId id="292" r:id="rId9"/>
    <p:sldId id="293" r:id="rId10"/>
    <p:sldId id="294" r:id="rId11"/>
    <p:sldId id="295" r:id="rId12"/>
    <p:sldId id="298" r:id="rId13"/>
    <p:sldId id="260" r:id="rId14"/>
    <p:sldId id="262" r:id="rId15"/>
    <p:sldId id="263" r:id="rId16"/>
    <p:sldId id="264" r:id="rId17"/>
    <p:sldId id="265" r:id="rId18"/>
    <p:sldId id="266" r:id="rId19"/>
    <p:sldId id="267" r:id="rId20"/>
    <p:sldId id="268" r:id="rId21"/>
    <p:sldId id="269" r:id="rId22"/>
    <p:sldId id="270" r:id="rId23"/>
    <p:sldId id="301" r:id="rId24"/>
    <p:sldId id="271" r:id="rId25"/>
    <p:sldId id="272" r:id="rId26"/>
    <p:sldId id="302" r:id="rId27"/>
    <p:sldId id="273" r:id="rId28"/>
    <p:sldId id="276" r:id="rId29"/>
    <p:sldId id="303" r:id="rId30"/>
    <p:sldId id="274" r:id="rId31"/>
    <p:sldId id="275"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21" d="100"/>
          <a:sy n="121" d="100"/>
        </p:scale>
        <p:origin x="562"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142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405678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0F6FF2-1C5E-44C6-B292-5894AC284FD8}"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879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0F6FF2-1C5E-44C6-B292-5894AC284FD8}"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1491984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0F6FF2-1C5E-44C6-B292-5894AC284FD8}"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1330647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0F6FF2-1C5E-44C6-B292-5894AC284FD8}"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2682856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0F6FF2-1C5E-44C6-B292-5894AC284FD8}" type="datetimeFigureOut">
              <a:rPr lang="en-US" smtClean="0"/>
              <a:t>9/15/2025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3807611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60F6FF2-1C5E-44C6-B292-5894AC284FD8}" type="datetimeFigureOut">
              <a:rPr lang="en-US" smtClean="0"/>
              <a:t>9/15/2025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6D2CEB-90FE-48B7-8B92-04B30B6191BF}" type="slidenum">
              <a:rPr lang="en-US" smtClean="0"/>
              <a:t>‹#›</a:t>
            </a:fld>
            <a:endParaRPr lang="en-US"/>
          </a:p>
        </p:txBody>
      </p:sp>
    </p:spTree>
    <p:extLst>
      <p:ext uri="{BB962C8B-B14F-4D97-AF65-F5344CB8AC3E}">
        <p14:creationId xmlns:p14="http://schemas.microsoft.com/office/powerpoint/2010/main" val="857416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0F6FF2-1C5E-44C6-B292-5894AC284FD8}"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3115402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3526624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0F6FF2-1C5E-44C6-B292-5894AC284FD8}"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D2CEB-90FE-48B7-8B92-04B30B6191BF}" type="slidenum">
              <a:rPr lang="en-US" smtClean="0"/>
              <a:t>‹#›</a:t>
            </a:fld>
            <a:endParaRPr lang="en-US"/>
          </a:p>
        </p:txBody>
      </p:sp>
    </p:spTree>
    <p:extLst>
      <p:ext uri="{BB962C8B-B14F-4D97-AF65-F5344CB8AC3E}">
        <p14:creationId xmlns:p14="http://schemas.microsoft.com/office/powerpoint/2010/main" val="5333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60F6FF2-1C5E-44C6-B292-5894AC284FD8}" type="datetimeFigureOut">
              <a:rPr lang="en-US" smtClean="0"/>
              <a:t>9/15/2025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26D2CEB-90FE-48B7-8B92-04B30B6191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72523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b="1" dirty="0"/>
              <a:t>20H58665– Software Design and Architecture</a:t>
            </a:r>
          </a:p>
        </p:txBody>
      </p:sp>
      <p:sp>
        <p:nvSpPr>
          <p:cNvPr id="3" name="Subtitle 2"/>
          <p:cNvSpPr>
            <a:spLocks noGrp="1"/>
          </p:cNvSpPr>
          <p:nvPr>
            <p:ph type="subTitle" idx="1"/>
          </p:nvPr>
        </p:nvSpPr>
        <p:spPr/>
        <p:txBody>
          <a:bodyPr/>
          <a:lstStyle/>
          <a:p>
            <a:r>
              <a:rPr lang="en-US" dirty="0"/>
              <a:t>Instructor: M Faizan Khan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437" y="398907"/>
            <a:ext cx="2143125" cy="2143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Revision</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Introduction to design</a:t>
            </a:r>
          </a:p>
          <a:p>
            <a:pPr>
              <a:buFont typeface="Arial" panose="020B0604020202020204" pitchFamily="34" charset="0"/>
              <a:buChar char="•"/>
            </a:pPr>
            <a:r>
              <a:rPr lang="en-US" dirty="0"/>
              <a:t>Importance of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Design phase in SDLC – architecture and detailed design</a:t>
            </a:r>
          </a:p>
          <a:p>
            <a:pPr>
              <a:buFont typeface="Arial" panose="020B0604020202020204" pitchFamily="34" charset="0"/>
              <a:buChar char="•"/>
            </a:pPr>
            <a:r>
              <a:rPr lang="en-US" dirty="0"/>
              <a:t>Factors that affect design</a:t>
            </a:r>
          </a:p>
          <a:p>
            <a:pPr>
              <a:buFont typeface="Arial" panose="020B0604020202020204" pitchFamily="34" charset="0"/>
              <a:buChar char="•"/>
            </a:pPr>
            <a:r>
              <a:rPr lang="en-US" dirty="0"/>
              <a:t>Quality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Development Activities</a:t>
            </a:r>
            <a:br>
              <a:rPr lang="en-US" dirty="0"/>
            </a:br>
            <a:endParaRPr lang="en-US" dirty="0"/>
          </a:p>
        </p:txBody>
      </p:sp>
      <p:sp>
        <p:nvSpPr>
          <p:cNvPr id="3" name="Content Placeholder 2"/>
          <p:cNvSpPr>
            <a:spLocks noGrp="1"/>
          </p:cNvSpPr>
          <p:nvPr>
            <p:ph idx="1"/>
          </p:nvPr>
        </p:nvSpPr>
        <p:spPr/>
        <p:txBody>
          <a:bodyPr>
            <a:normAutofit/>
          </a:bodyPr>
          <a:lstStyle/>
          <a:p>
            <a:r>
              <a:rPr lang="en-US" b="1" dirty="0"/>
              <a:t>Requirements Elicitation</a:t>
            </a:r>
          </a:p>
          <a:p>
            <a:r>
              <a:rPr lang="en-US" b="1" dirty="0"/>
              <a:t>Requirements Analysis </a:t>
            </a:r>
            <a:r>
              <a:rPr lang="en-US" dirty="0"/>
              <a:t>(e.g., Structured Analysis, OO Analysis)</a:t>
            </a:r>
          </a:p>
          <a:p>
            <a:pPr>
              <a:buNone/>
            </a:pPr>
            <a:r>
              <a:rPr lang="en-US" dirty="0"/>
              <a:t>		– analyzing requirements and working towards a conceptual model without taking the target implementation technology into account</a:t>
            </a:r>
          </a:p>
          <a:p>
            <a:r>
              <a:rPr lang="en-US" b="1" dirty="0"/>
              <a:t>Design</a:t>
            </a:r>
          </a:p>
          <a:p>
            <a:pPr lvl="1"/>
            <a:r>
              <a:rPr lang="en-US" dirty="0"/>
              <a:t>coming up with solution models taking the target implementation technology into account</a:t>
            </a:r>
          </a:p>
          <a:p>
            <a:r>
              <a:rPr lang="en-US" b="1" dirty="0"/>
              <a:t>Implementation</a:t>
            </a:r>
          </a:p>
          <a:p>
            <a:r>
              <a:rPr lang="en-US" b="1" dirty="0"/>
              <a:t>Testing</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chor="b"/>
          <a:lstStyle/>
          <a:p>
            <a:r>
              <a:rPr lang="en-US"/>
              <a:t>Software Design in SDLC</a:t>
            </a:r>
          </a:p>
        </p:txBody>
      </p:sp>
      <p:sp>
        <p:nvSpPr>
          <p:cNvPr id="15363" name="Rectangle 3"/>
          <p:cNvSpPr>
            <a:spLocks noGrp="1" noChangeArrowheads="1"/>
          </p:cNvSpPr>
          <p:nvPr>
            <p:ph idx="1"/>
          </p:nvPr>
        </p:nvSpPr>
        <p:spPr/>
        <p:txBody>
          <a:bodyPr/>
          <a:lstStyle/>
          <a:p>
            <a:r>
              <a:rPr lang="en-US" dirty="0"/>
              <a:t>In SDLC (Software Development Life Cycle), Design phase is one of the most important phases.</a:t>
            </a:r>
          </a:p>
          <a:p>
            <a:r>
              <a:rPr lang="en-GB" dirty="0"/>
              <a:t>In the software engineering context, design focuses on four major areas of concern: data, architecture, interfaces and components.</a:t>
            </a:r>
            <a:r>
              <a:rPr lang="en-GB" sz="4000" dirty="0"/>
              <a:t> </a:t>
            </a:r>
            <a:endParaRPr lang="en-US" sz="3100" b="1"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chor="b"/>
          <a:lstStyle/>
          <a:p>
            <a:r>
              <a:rPr lang="en-GB"/>
              <a:t>Design Process Activities</a:t>
            </a:r>
          </a:p>
        </p:txBody>
      </p:sp>
      <p:sp>
        <p:nvSpPr>
          <p:cNvPr id="17411" name="Rectangle 3"/>
          <p:cNvSpPr>
            <a:spLocks noGrp="1" noChangeArrowheads="1"/>
          </p:cNvSpPr>
          <p:nvPr>
            <p:ph idx="1"/>
          </p:nvPr>
        </p:nvSpPr>
        <p:spPr/>
        <p:txBody>
          <a:bodyPr>
            <a:normAutofit/>
          </a:bodyPr>
          <a:lstStyle/>
          <a:p>
            <a:pPr>
              <a:buFont typeface="Arial" panose="020B0604020202020204" pitchFamily="34" charset="0"/>
              <a:buChar char="•"/>
            </a:pPr>
            <a:r>
              <a:rPr lang="en-GB" dirty="0"/>
              <a:t>Architectural design</a:t>
            </a:r>
          </a:p>
          <a:p>
            <a:pPr lvl="1"/>
            <a:r>
              <a:rPr lang="en-GB" dirty="0"/>
              <a:t>Modules, inter-relationships etc</a:t>
            </a:r>
          </a:p>
          <a:p>
            <a:pPr>
              <a:buFont typeface="Arial" panose="020B0604020202020204" pitchFamily="34" charset="0"/>
              <a:buChar char="•"/>
            </a:pPr>
            <a:r>
              <a:rPr lang="en-GB" dirty="0"/>
              <a:t>Abstract specification</a:t>
            </a:r>
          </a:p>
          <a:p>
            <a:pPr lvl="1"/>
            <a:r>
              <a:rPr lang="en-GB" dirty="0"/>
              <a:t>Services of each sub-system, constraints etc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ym typeface="+mn-ea"/>
              </a:rPr>
              <a:t>Design Process Activities</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GB" sz="2800" dirty="0"/>
              <a:t>Interface design</a:t>
            </a:r>
          </a:p>
          <a:p>
            <a:pPr lvl="1"/>
            <a:r>
              <a:rPr lang="en-GB" sz="2400" dirty="0"/>
              <a:t>Interface to other sub-system or outside </a:t>
            </a:r>
            <a:r>
              <a:rPr lang="en-GB" sz="2400" dirty="0" err="1"/>
              <a:t>enviornment</a:t>
            </a:r>
            <a:endParaRPr lang="en-GB" sz="2400" dirty="0"/>
          </a:p>
          <a:p>
            <a:pPr>
              <a:buFont typeface="Arial" panose="020B0604020202020204" pitchFamily="34" charset="0"/>
              <a:buChar char="•"/>
            </a:pPr>
            <a:r>
              <a:rPr lang="en-GB" sz="2800" dirty="0"/>
              <a:t>Component design</a:t>
            </a:r>
          </a:p>
          <a:p>
            <a:pPr lvl="1"/>
            <a:r>
              <a:rPr lang="en-GB" sz="2400" dirty="0"/>
              <a:t>Services allocated to components and their interfaces designed</a:t>
            </a:r>
          </a:p>
          <a:p>
            <a:pPr>
              <a:buFont typeface="Arial" panose="020B0604020202020204" pitchFamily="34" charset="0"/>
              <a:buChar char="•"/>
            </a:pPr>
            <a:r>
              <a:rPr lang="en-GB" sz="2800" dirty="0"/>
              <a:t>Data structure design</a:t>
            </a:r>
          </a:p>
          <a:p>
            <a:pPr>
              <a:buFont typeface="Arial" panose="020B0604020202020204" pitchFamily="34" charset="0"/>
              <a:buChar char="•"/>
            </a:pPr>
            <a:r>
              <a:rPr lang="en-GB" sz="2800" dirty="0"/>
              <a:t>Algorithm design</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chor="b"/>
          <a:lstStyle/>
          <a:p>
            <a:r>
              <a:rPr lang="en-GB"/>
              <a:t>The Software Design Process</a:t>
            </a:r>
          </a:p>
        </p:txBody>
      </p:sp>
      <p:sp>
        <p:nvSpPr>
          <p:cNvPr id="4" name="Content Placeholder 3"/>
          <p:cNvSpPr>
            <a:spLocks noGrp="1"/>
          </p:cNvSpPr>
          <p:nvPr>
            <p:ph idx="1"/>
          </p:nvPr>
        </p:nvSpPr>
        <p:spPr/>
        <p:txBody>
          <a:bodyPr/>
          <a:lstStyle/>
          <a:p>
            <a:endParaRPr lang="en-US"/>
          </a:p>
        </p:txBody>
      </p:sp>
      <p:pic>
        <p:nvPicPr>
          <p:cNvPr id="18435" name="Picture 3"/>
          <p:cNvPicPr>
            <a:picLocks noChangeAspect="1" noChangeArrowheads="1"/>
          </p:cNvPicPr>
          <p:nvPr/>
        </p:nvPicPr>
        <p:blipFill>
          <a:blip r:embed="rId2"/>
          <a:srcRect/>
          <a:stretch>
            <a:fillRect/>
          </a:stretch>
        </p:blipFill>
        <p:spPr bwMode="auto">
          <a:xfrm>
            <a:off x="0" y="2133600"/>
            <a:ext cx="9144000" cy="36576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t>Levels of Software Design</a:t>
            </a:r>
            <a:endParaRPr lang="en-GB"/>
          </a:p>
        </p:txBody>
      </p:sp>
      <p:sp>
        <p:nvSpPr>
          <p:cNvPr id="74755" name="Rectangle 3"/>
          <p:cNvSpPr>
            <a:spLocks noGrp="1" noChangeArrowheads="1"/>
          </p:cNvSpPr>
          <p:nvPr>
            <p:ph idx="1"/>
          </p:nvPr>
        </p:nvSpPr>
        <p:spPr/>
        <p:txBody>
          <a:bodyPr>
            <a:normAutofit fontScale="92500" lnSpcReduction="20000"/>
          </a:bodyPr>
          <a:lstStyle/>
          <a:p>
            <a:pPr>
              <a:buFont typeface="Arial" panose="020B0604020202020204" pitchFamily="34" charset="0"/>
              <a:buChar char="•"/>
            </a:pPr>
            <a:r>
              <a:rPr lang="en-US" sz="3200" dirty="0"/>
              <a:t>Architectural design (high-level design)</a:t>
            </a:r>
          </a:p>
          <a:p>
            <a:pPr lvl="1"/>
            <a:r>
              <a:rPr lang="en-US" sz="2800" dirty="0"/>
              <a:t>architecture - the overall structure, main modules and their connections</a:t>
            </a:r>
          </a:p>
          <a:p>
            <a:pPr lvl="1"/>
            <a:r>
              <a:rPr lang="en-US" sz="2800" dirty="0"/>
              <a:t>addresses the main non-functional requirements (e.g., reliability, performance)</a:t>
            </a:r>
          </a:p>
          <a:p>
            <a:pPr lvl="1"/>
            <a:r>
              <a:rPr lang="en-US" sz="2800" dirty="0"/>
              <a:t>hard to change</a:t>
            </a:r>
          </a:p>
          <a:p>
            <a:pPr lvl="1"/>
            <a:endParaRPr lang="en-US" sz="2800" dirty="0"/>
          </a:p>
          <a:p>
            <a:pPr>
              <a:buFont typeface="Arial" panose="020B0604020202020204" pitchFamily="34" charset="0"/>
              <a:buChar char="•"/>
            </a:pPr>
            <a:r>
              <a:rPr lang="en-US" sz="3200" dirty="0"/>
              <a:t>Detailed design (low-level design)</a:t>
            </a:r>
          </a:p>
          <a:p>
            <a:pPr lvl="1"/>
            <a:r>
              <a:rPr lang="en-US" sz="2800" dirty="0"/>
              <a:t>the inner structure of the main modules</a:t>
            </a:r>
          </a:p>
          <a:p>
            <a:pPr lvl="1"/>
            <a:r>
              <a:rPr lang="en-US" sz="2800" dirty="0"/>
              <a:t>detailed enough to be implemented in the programming language</a:t>
            </a:r>
          </a:p>
          <a:p>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2" name="Picture 1" descr="Relation-between-architecture-design-and-implementation"/>
          <p:cNvPicPr>
            <a:picLocks noChangeAspect="1"/>
          </p:cNvPicPr>
          <p:nvPr/>
        </p:nvPicPr>
        <p:blipFill>
          <a:blip r:embed="rId2"/>
          <a:stretch>
            <a:fillRect/>
          </a:stretch>
        </p:blipFill>
        <p:spPr>
          <a:xfrm>
            <a:off x="1752600" y="2057400"/>
            <a:ext cx="6137910" cy="33915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chor="b"/>
          <a:lstStyle/>
          <a:p>
            <a:r>
              <a:rPr lang="en-US"/>
              <a:t>Design vs. Architecture</a:t>
            </a:r>
          </a:p>
        </p:txBody>
      </p:sp>
      <p:sp>
        <p:nvSpPr>
          <p:cNvPr id="38915" name="Rectangle 3"/>
          <p:cNvSpPr>
            <a:spLocks noGrp="1" noChangeArrowheads="1"/>
          </p:cNvSpPr>
          <p:nvPr>
            <p:ph idx="1"/>
          </p:nvPr>
        </p:nvSpPr>
        <p:spPr/>
        <p:txBody>
          <a:bodyPr>
            <a:normAutofit fontScale="92500" lnSpcReduction="10000"/>
          </a:bodyPr>
          <a:lstStyle/>
          <a:p>
            <a:pPr>
              <a:lnSpc>
                <a:spcPct val="90000"/>
              </a:lnSpc>
              <a:buFont typeface="Arial" panose="020B0604020202020204" pitchFamily="34" charset="0"/>
              <a:buChar char="•"/>
            </a:pPr>
            <a:r>
              <a:rPr lang="en-US" sz="2400" dirty="0"/>
              <a:t>Architecture is concerned with the selection of architectural elements, their interaction, and the constraints on those elements and their interactions</a:t>
            </a:r>
          </a:p>
          <a:p>
            <a:pPr marL="571500" indent="-571500">
              <a:lnSpc>
                <a:spcPct val="90000"/>
              </a:lnSpc>
            </a:pPr>
            <a:endParaRPr lang="en-US" sz="2400" dirty="0"/>
          </a:p>
          <a:p>
            <a:pPr>
              <a:lnSpc>
                <a:spcPct val="90000"/>
              </a:lnSpc>
              <a:buFont typeface="Arial" panose="020B0604020202020204" pitchFamily="34" charset="0"/>
              <a:buChar char="•"/>
            </a:pPr>
            <a:r>
              <a:rPr lang="en-US" sz="2400" dirty="0"/>
              <a:t>Design is concerned with the modularization and detailed interfaces of the design elements, their algorithms and procedures, and the data types needed to support the architecture and to satisfy the requirements.</a:t>
            </a:r>
          </a:p>
          <a:p>
            <a:pPr marL="571500" indent="-571500">
              <a:lnSpc>
                <a:spcPct val="90000"/>
              </a:lnSpc>
            </a:pPr>
            <a:endParaRPr lang="en-US" sz="2400" dirty="0"/>
          </a:p>
          <a:p>
            <a:pPr>
              <a:lnSpc>
                <a:spcPct val="90000"/>
              </a:lnSpc>
              <a:buFont typeface="Arial" panose="020B0604020202020204" pitchFamily="34" charset="0"/>
              <a:buChar char="•"/>
            </a:pPr>
            <a:r>
              <a:rPr lang="en-US" sz="2400" dirty="0"/>
              <a:t>Architecture…is specifically not about…details of implementations (e.g., algorithms and data structures.)</a:t>
            </a:r>
          </a:p>
          <a:p>
            <a:pPr marL="571500" indent="-571500">
              <a:lnSpc>
                <a:spcPct val="90000"/>
              </a:lnSpc>
            </a:pP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Factors that affect Design</a:t>
            </a:r>
          </a:p>
        </p:txBody>
      </p:sp>
      <p:sp>
        <p:nvSpPr>
          <p:cNvPr id="7" name="Text Placeholder 6"/>
          <p:cNvSpPr>
            <a:spLocks noGrp="1"/>
          </p:cNvSpPr>
          <p:nvPr>
            <p:ph type="body" idx="1"/>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ym typeface="+mn-ea"/>
              </a:rPr>
              <a:t>FACTORS THAT AFFECT DESIGNS</a:t>
            </a:r>
          </a:p>
        </p:txBody>
      </p:sp>
      <p:sp>
        <p:nvSpPr>
          <p:cNvPr id="3" name="Content Placeholder 2"/>
          <p:cNvSpPr>
            <a:spLocks noGrp="1"/>
          </p:cNvSpPr>
          <p:nvPr>
            <p:ph idx="1"/>
          </p:nvPr>
        </p:nvSpPr>
        <p:spPr/>
        <p:txBody>
          <a:bodyPr/>
          <a:lstStyle/>
          <a:p>
            <a:r>
              <a:rPr lang="en-US" dirty="0"/>
              <a:t>There is a set of general laws of design that characterize the nature of design:</a:t>
            </a:r>
          </a:p>
        </p:txBody>
      </p:sp>
      <p:sp>
        <p:nvSpPr>
          <p:cNvPr id="4" name="Content Placeholder 2"/>
          <p:cNvSpPr>
            <a:spLocks noGrp="1"/>
          </p:cNvSpPr>
          <p:nvPr/>
        </p:nvSpPr>
        <p:spPr>
          <a:xfrm>
            <a:off x="914400" y="2693670"/>
            <a:ext cx="7543800" cy="376809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dirty="0"/>
              <a:t>The Principle of Totality:</a:t>
            </a:r>
          </a:p>
          <a:p>
            <a:pPr lvl="1"/>
            <a:r>
              <a:rPr lang="en-US" dirty="0"/>
              <a:t> All design requirements are always interrelated and must always be treated as such throughout a design task</a:t>
            </a:r>
          </a:p>
          <a:p>
            <a:pPr lvl="1"/>
            <a:endParaRPr lang="en-US" dirty="0"/>
          </a:p>
          <a:p>
            <a:pPr lvl="2"/>
            <a:r>
              <a:rPr lang="en-US" dirty="0"/>
              <a:t>Requirement conflicts</a:t>
            </a:r>
          </a:p>
          <a:p>
            <a:pPr lvl="2"/>
            <a:r>
              <a:rPr lang="en-US" dirty="0"/>
              <a:t>Requirement prioritization</a:t>
            </a:r>
          </a:p>
          <a:p>
            <a:pPr lvl="2"/>
            <a:r>
              <a:rPr lang="en-US" dirty="0"/>
              <a:t>Design decisions</a:t>
            </a:r>
          </a:p>
          <a:p>
            <a:pPr lvl="2"/>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Time: </a:t>
            </a:r>
          </a:p>
          <a:p>
            <a:pPr lvl="1"/>
            <a:r>
              <a:rPr lang="en-US" dirty="0"/>
              <a:t>The features and characteristics of all products change as time passes.</a:t>
            </a:r>
          </a:p>
          <a:p>
            <a:endParaRPr lang="en-US" dirty="0"/>
          </a:p>
          <a:p>
            <a:pPr lvl="2"/>
            <a:r>
              <a:rPr lang="en-US" dirty="0"/>
              <a:t>User friendliness</a:t>
            </a:r>
          </a:p>
          <a:p>
            <a:pPr lvl="2"/>
            <a:r>
              <a:rPr lang="en-US" dirty="0"/>
              <a:t>Resource intensive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Value: </a:t>
            </a:r>
          </a:p>
          <a:p>
            <a:pPr lvl="1"/>
            <a:r>
              <a:rPr lang="en-US" dirty="0"/>
              <a:t>The characteristics of all products have different relative values depending upon the different circumstances and times in which they may be used.</a:t>
            </a:r>
          </a:p>
          <a:p>
            <a:pPr lvl="1"/>
            <a:endParaRPr lang="en-US" dirty="0"/>
          </a:p>
          <a:p>
            <a:pPr lvl="1"/>
            <a:r>
              <a:rPr lang="en-US" dirty="0"/>
              <a:t>Changes with time</a:t>
            </a:r>
          </a:p>
          <a:p>
            <a:pPr lvl="1"/>
            <a:r>
              <a:rPr lang="en-US" dirty="0"/>
              <a:t>Changes with circumstances</a:t>
            </a:r>
          </a:p>
          <a:p>
            <a:pPr lvl="1"/>
            <a:r>
              <a:rPr lang="en-US" dirty="0"/>
              <a:t>Adaptability for a wide range of user types should be considered.</a:t>
            </a:r>
          </a:p>
          <a:p>
            <a:pPr lvl="1"/>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Resources: </a:t>
            </a:r>
          </a:p>
          <a:p>
            <a:pPr lvl="1"/>
            <a:r>
              <a:rPr lang="en-US" dirty="0"/>
              <a:t>The design, manufacture and life of all products and systems depend upon the materials, tools and skills upon which we can call.</a:t>
            </a:r>
          </a:p>
          <a:p>
            <a:pPr lvl="2"/>
            <a:endParaRPr lang="en-US" dirty="0"/>
          </a:p>
          <a:p>
            <a:pPr lvl="2"/>
            <a:r>
              <a:rPr lang="en-US" dirty="0"/>
              <a:t>development tools, </a:t>
            </a:r>
          </a:p>
          <a:p>
            <a:pPr lvl="2"/>
            <a:r>
              <a:rPr lang="en-US" dirty="0"/>
              <a:t>run time support systems, </a:t>
            </a:r>
          </a:p>
          <a:p>
            <a:pPr lvl="2"/>
            <a:r>
              <a:rPr lang="en-US" dirty="0"/>
              <a:t>human resource </a:t>
            </a:r>
          </a:p>
          <a:p>
            <a:pPr lvl="2"/>
            <a:r>
              <a:rPr lang="en-US" dirty="0"/>
              <a:t>application domain-specific tools and equipment,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Synthesis: </a:t>
            </a:r>
          </a:p>
          <a:p>
            <a:pPr lvl="1"/>
            <a:r>
              <a:rPr lang="en-US" dirty="0"/>
              <a:t>All features of a product must combine to satisfy all the characteristics we expect it to possess with an acceptable relative importance for as long as we wish, bearing in mind the resources available to make and use it.</a:t>
            </a:r>
          </a:p>
          <a:p>
            <a:pPr lvl="2"/>
            <a:endParaRPr lang="en-US" dirty="0"/>
          </a:p>
          <a:p>
            <a:pPr lvl="2"/>
            <a:r>
              <a:rPr lang="en-US" dirty="0"/>
              <a:t>trade-offs between desirable features and functions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Iteration: </a:t>
            </a:r>
          </a:p>
          <a:p>
            <a:pPr lvl="1"/>
            <a:r>
              <a:rPr lang="en-US" dirty="0"/>
              <a:t>Design requires processes of evaluation that begin with the first intentions to explore the need for a product or system. </a:t>
            </a:r>
          </a:p>
          <a:p>
            <a:pPr lvl="1"/>
            <a:endParaRPr lang="en-US" dirty="0"/>
          </a:p>
          <a:p>
            <a:pPr lvl="1"/>
            <a:r>
              <a:rPr lang="en-US" dirty="0"/>
              <a:t>designs have to be changed to correct errors and to improve quality.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Change: </a:t>
            </a:r>
          </a:p>
          <a:p>
            <a:pPr lvl="1"/>
            <a:r>
              <a:rPr lang="en-US" dirty="0"/>
              <a:t>Design is a process of change, an activity undertaken not only to meet changing circumstance, but also to bring about changes to those circumstances by the nature of the product it creates.</a:t>
            </a:r>
          </a:p>
          <a:p>
            <a:pPr lvl="1"/>
            <a:endParaRPr lang="en-US" dirty="0"/>
          </a:p>
          <a:p>
            <a:pPr lvl="1"/>
            <a:r>
              <a:rPr lang="en-US" dirty="0"/>
              <a:t>The design of a software system must take into consideration how it changes the way that we will work and live as the consequence of using the system.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Relationships: </a:t>
            </a:r>
          </a:p>
          <a:p>
            <a:pPr lvl="1"/>
            <a:r>
              <a:rPr lang="en-US" dirty="0"/>
              <a:t>Design work cannot be undertaken effectively without established working relationships with all stakeholders</a:t>
            </a:r>
          </a:p>
          <a:p>
            <a:endParaRPr lang="en-US" dirty="0"/>
          </a:p>
          <a:p>
            <a:pPr lvl="1"/>
            <a:r>
              <a:rPr lang="en-US" i="1" dirty="0"/>
              <a:t>Customers, Users, System administrator, Project managers,</a:t>
            </a:r>
            <a:r>
              <a:rPr lang="en-US" dirty="0"/>
              <a:t> </a:t>
            </a:r>
            <a:r>
              <a:rPr lang="en-US" i="1" dirty="0"/>
              <a:t>Developers, Requirements analysts, Designers, Programmers, Testers:</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Competence: </a:t>
            </a:r>
          </a:p>
          <a:p>
            <a:pPr lvl="1"/>
            <a:r>
              <a:rPr lang="en-US" dirty="0"/>
              <a:t>Design competence is the ability to create a synthesis of features that achieves all desired characteristics in terms of their required life and relative value, using available effective information </a:t>
            </a:r>
          </a:p>
          <a:p>
            <a:pPr lvl="1"/>
            <a:endParaRPr lang="en-US" dirty="0"/>
          </a:p>
          <a:p>
            <a:pPr lvl="1"/>
            <a:r>
              <a:rPr lang="en-US" dirty="0"/>
              <a:t>competence of the designer.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FACTORS THAT AFFECT DESIGNS</a:t>
            </a:r>
            <a:endParaRPr lang="en-US" dirty="0"/>
          </a:p>
        </p:txBody>
      </p:sp>
      <p:sp>
        <p:nvSpPr>
          <p:cNvPr id="3" name="Content Placeholder 2"/>
          <p:cNvSpPr>
            <a:spLocks noGrp="1"/>
          </p:cNvSpPr>
          <p:nvPr>
            <p:ph idx="1"/>
          </p:nvPr>
        </p:nvSpPr>
        <p:spPr/>
        <p:txBody>
          <a:bodyPr>
            <a:normAutofit/>
          </a:bodyPr>
          <a:lstStyle/>
          <a:p>
            <a:r>
              <a:rPr lang="en-US" dirty="0"/>
              <a:t>The Principle of Service: </a:t>
            </a:r>
          </a:p>
          <a:p>
            <a:pPr lvl="1"/>
            <a:r>
              <a:rPr lang="en-US" i="1" dirty="0"/>
              <a:t>Design must satisfy everybody, and not just those </a:t>
            </a:r>
            <a:r>
              <a:rPr lang="en-US" dirty="0"/>
              <a:t>for whom its products are directly intended.</a:t>
            </a:r>
          </a:p>
          <a:p>
            <a:endParaRPr lang="en-US" dirty="0"/>
          </a:p>
          <a:p>
            <a:pPr lvl="1"/>
            <a:r>
              <a:rPr lang="en-US" dirty="0"/>
              <a:t>it must be easy to maintain, </a:t>
            </a:r>
          </a:p>
          <a:p>
            <a:pPr lvl="1"/>
            <a:r>
              <a:rPr lang="en-US" dirty="0"/>
              <a:t>easy to reuse, </a:t>
            </a:r>
          </a:p>
          <a:p>
            <a:pPr lvl="1"/>
            <a:r>
              <a:rPr lang="en-US" dirty="0"/>
              <a:t>easy to transport to other operation environments and to </a:t>
            </a:r>
          </a:p>
          <a:p>
            <a:pPr lvl="1"/>
            <a:r>
              <a:rPr lang="en-US" dirty="0"/>
              <a:t>be inter-operable to other software systems, etc.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Software Quality Models</a:t>
            </a:r>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QUALITY MODELS</a:t>
            </a:r>
            <a:endParaRPr lang="en-US" dirty="0"/>
          </a:p>
        </p:txBody>
      </p:sp>
      <p:sp>
        <p:nvSpPr>
          <p:cNvPr id="3" name="Content Placeholder 2"/>
          <p:cNvSpPr>
            <a:spLocks noGrp="1"/>
          </p:cNvSpPr>
          <p:nvPr>
            <p:ph idx="1"/>
          </p:nvPr>
        </p:nvSpPr>
        <p:spPr/>
        <p:txBody>
          <a:bodyPr>
            <a:normAutofit/>
          </a:bodyPr>
          <a:lstStyle/>
          <a:p>
            <a:r>
              <a:rPr lang="en-US" dirty="0"/>
              <a:t>Quality is the excellence of the product or service. </a:t>
            </a:r>
          </a:p>
          <a:p>
            <a:endParaRPr lang="en-US" dirty="0"/>
          </a:p>
          <a:p>
            <a:pPr lvl="1"/>
            <a:r>
              <a:rPr lang="en-US" dirty="0"/>
              <a:t>From a user’s point of view, quality is ‘fitness for purpose’. </a:t>
            </a:r>
          </a:p>
          <a:p>
            <a:pPr lvl="1"/>
            <a:endParaRPr lang="en-US" dirty="0"/>
          </a:p>
          <a:p>
            <a:pPr lvl="1"/>
            <a:r>
              <a:rPr lang="en-US" dirty="0"/>
              <a:t>The value-based view of quality is concerned with the ability to provide what the customer requires at a price that they can afford. </a:t>
            </a:r>
          </a:p>
          <a:p>
            <a:pPr lvl="1"/>
            <a:endParaRPr lang="en-US" dirty="0"/>
          </a:p>
          <a:p>
            <a:pPr lvl="1"/>
            <a:r>
              <a:rPr lang="en-US" dirty="0"/>
              <a:t>From the manufacturing point of view, the quality of a product is the conformance to specification. </a:t>
            </a:r>
          </a:p>
          <a:p>
            <a:pPr lvl="1"/>
            <a:endParaRPr lang="en-US" dirty="0"/>
          </a:p>
          <a:p>
            <a:pPr lvl="1"/>
            <a:r>
              <a:rPr lang="en-US" dirty="0"/>
              <a:t>the product view sees the quality of a product as tied to inherent characteristics of the product. </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63527"/>
            <a:ext cx="7543800" cy="1450757"/>
          </a:xfrm>
        </p:spPr>
        <p:txBody>
          <a:bodyPr/>
          <a:lstStyle/>
          <a:p>
            <a:r>
              <a:rPr lang="en-US" b="1" dirty="0"/>
              <a:t>Hierarchical models</a:t>
            </a:r>
            <a:endParaRPr lang="en-US" dirty="0"/>
          </a:p>
        </p:txBody>
      </p:sp>
      <p:sp>
        <p:nvSpPr>
          <p:cNvPr id="3" name="Content Placeholder 2"/>
          <p:cNvSpPr>
            <a:spLocks noGrp="1"/>
          </p:cNvSpPr>
          <p:nvPr>
            <p:ph idx="1"/>
          </p:nvPr>
        </p:nvSpPr>
        <p:spPr/>
        <p:txBody>
          <a:bodyPr>
            <a:normAutofit/>
          </a:bodyPr>
          <a:lstStyle/>
          <a:p>
            <a:r>
              <a:rPr lang="en-US" dirty="0"/>
              <a:t>McCall divided software quality attributes into 3 groups </a:t>
            </a:r>
          </a:p>
          <a:p>
            <a:endParaRPr lang="en-US" dirty="0"/>
          </a:p>
          <a:p>
            <a:r>
              <a:rPr lang="en-US" dirty="0"/>
              <a:t>Each group represents the quality with respect to one aspect of the software system while the attributes in the group contribute to that aspect. </a:t>
            </a:r>
          </a:p>
          <a:p>
            <a:endParaRPr lang="en-US" dirty="0"/>
          </a:p>
          <a:p>
            <a:r>
              <a:rPr lang="en-US" dirty="0"/>
              <a:t>Each quality attribute is defined by a question so that the quality of the software system can be assessed by answering the question.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noChangeArrowheads="1"/>
          </p:cNvPicPr>
          <p:nvPr/>
        </p:nvPicPr>
        <p:blipFill>
          <a:blip r:embed="rId2"/>
          <a:srcRect l="44729" t="38542" r="16618" b="15625"/>
          <a:stretch>
            <a:fillRect/>
          </a:stretch>
        </p:blipFill>
        <p:spPr bwMode="auto">
          <a:xfrm>
            <a:off x="594359" y="570931"/>
            <a:ext cx="8001000" cy="5334000"/>
          </a:xfrm>
          <a:prstGeom prst="rect">
            <a:avLst/>
          </a:prstGeom>
          <a:noFill/>
          <a:ln w="9525">
            <a:noFill/>
            <a:miter lim="800000"/>
            <a:headEnd/>
            <a:tailEnd/>
          </a:ln>
          <a:effectLst/>
        </p:spPr>
      </p:pic>
      <p:sp>
        <p:nvSpPr>
          <p:cNvPr id="5" name="Rectangle 4"/>
          <p:cNvSpPr/>
          <p:nvPr/>
        </p:nvSpPr>
        <p:spPr>
          <a:xfrm>
            <a:off x="1447800" y="5867400"/>
            <a:ext cx="16764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Relational models</a:t>
            </a:r>
            <a:endParaRPr lang="en-US" dirty="0"/>
          </a:p>
        </p:txBody>
      </p:sp>
      <p:sp>
        <p:nvSpPr>
          <p:cNvPr id="3" name="Content Placeholder 2"/>
          <p:cNvSpPr>
            <a:spLocks noGrp="1"/>
          </p:cNvSpPr>
          <p:nvPr>
            <p:ph idx="1"/>
          </p:nvPr>
        </p:nvSpPr>
        <p:spPr/>
        <p:txBody>
          <a:bodyPr>
            <a:normAutofit/>
          </a:bodyPr>
          <a:lstStyle/>
          <a:p>
            <a:r>
              <a:rPr lang="en-US" dirty="0"/>
              <a:t>Perry’s model contains three types of relationship between the quality attributes. </a:t>
            </a:r>
          </a:p>
          <a:p>
            <a:pPr lvl="1"/>
            <a:r>
              <a:rPr lang="en-US" dirty="0"/>
              <a:t>The direct relationship</a:t>
            </a:r>
          </a:p>
          <a:p>
            <a:pPr lvl="1"/>
            <a:r>
              <a:rPr lang="en-US" dirty="0"/>
              <a:t>The inverse relationship</a:t>
            </a:r>
          </a:p>
          <a:p>
            <a:pPr lvl="1"/>
            <a:r>
              <a:rPr lang="en-US" dirty="0"/>
              <a:t>The neutral relationship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l="42753" t="28125" r="19180" b="10417"/>
          <a:stretch>
            <a:fillRect/>
          </a:stretch>
        </p:blipFill>
        <p:spPr bwMode="auto">
          <a:xfrm>
            <a:off x="1295400" y="381000"/>
            <a:ext cx="6324600" cy="5740791"/>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Design phase in SDLC – architecture and detailed design</a:t>
            </a:r>
          </a:p>
          <a:p>
            <a:r>
              <a:rPr lang="en-US" dirty="0"/>
              <a:t>Factors that affect design</a:t>
            </a:r>
          </a:p>
          <a:p>
            <a:r>
              <a:rPr lang="en-US"/>
              <a:t>Quality Models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t>Integrity vs. efficiency (inverse): The control of data access will need additional</a:t>
            </a:r>
          </a:p>
          <a:p>
            <a:r>
              <a:rPr lang="en-US" dirty="0"/>
              <a:t>code, leading to a longer runtime and more storage requirement.</a:t>
            </a:r>
          </a:p>
          <a:p>
            <a:r>
              <a:rPr lang="en-US" dirty="0"/>
              <a:t>• </a:t>
            </a:r>
            <a:r>
              <a:rPr lang="en-US" i="1" dirty="0"/>
              <a:t>Usability vs. efficiency (inverse): Improvement of HCI will need more code</a:t>
            </a:r>
          </a:p>
          <a:p>
            <a:r>
              <a:rPr lang="en-US" dirty="0"/>
              <a:t>and data, hence the system will be less efficient.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i="1" dirty="0"/>
              <a:t>Maintainability and testability vs. efficiency (inverse): Compact and </a:t>
            </a:r>
            <a:r>
              <a:rPr lang="en-US" i="1" dirty="0" err="1"/>
              <a:t>optimised</a:t>
            </a:r>
            <a:endParaRPr lang="en-US" i="1" dirty="0"/>
          </a:p>
          <a:p>
            <a:r>
              <a:rPr lang="en-US" dirty="0"/>
              <a:t>code is not easy to maintain and test, and well-commented code is less</a:t>
            </a:r>
          </a:p>
          <a:p>
            <a:r>
              <a:rPr lang="en-US" dirty="0"/>
              <a:t>efficient.</a:t>
            </a:r>
          </a:p>
          <a:p>
            <a:r>
              <a:rPr lang="en-US" dirty="0"/>
              <a:t>• </a:t>
            </a:r>
            <a:r>
              <a:rPr lang="en-US" i="1" dirty="0"/>
              <a:t>Flexibility, reusability vs. integrity (inverse): Flexible data structures required</a:t>
            </a:r>
          </a:p>
          <a:p>
            <a:r>
              <a:rPr lang="en-US" dirty="0"/>
              <a:t>for flexible and reusable software increase the data security problem.</a:t>
            </a:r>
          </a:p>
          <a:p>
            <a:r>
              <a:rPr lang="en-US" dirty="0"/>
              <a:t>• </a:t>
            </a:r>
            <a:r>
              <a:rPr lang="en-US" i="1" dirty="0"/>
              <a:t>Flexibility and reusability vs. maintainability (direct): Maintainable code arises</a:t>
            </a:r>
          </a:p>
          <a:p>
            <a:r>
              <a:rPr lang="en-US" dirty="0"/>
              <a:t>from the code that is well structured; meantime, well-structured maintainable</a:t>
            </a:r>
          </a:p>
          <a:p>
            <a:r>
              <a:rPr lang="en-US" dirty="0"/>
              <a:t>code is easy to reuse in other programs.</a:t>
            </a:r>
          </a:p>
          <a:p>
            <a:r>
              <a:rPr lang="en-US" dirty="0"/>
              <a:t>• </a:t>
            </a:r>
            <a:r>
              <a:rPr lang="en-US" i="1" dirty="0"/>
              <a:t>Portability vs. reusability (direct): Portable code is likely to be easily used in</a:t>
            </a:r>
          </a:p>
          <a:p>
            <a:r>
              <a:rPr lang="en-US" dirty="0"/>
              <a:t>other environments. The code is likely well-structured and easier to be reused.</a:t>
            </a:r>
          </a:p>
          <a:p>
            <a:r>
              <a:rPr lang="en-US" dirty="0"/>
              <a:t>• </a:t>
            </a:r>
            <a:r>
              <a:rPr lang="en-US" i="1" dirty="0"/>
              <a:t>Correctness vs. efficiency (neutral): The correctness of code has no relation</a:t>
            </a:r>
          </a:p>
          <a:p>
            <a:r>
              <a:rPr lang="en-US" dirty="0"/>
              <a:t>with its efficiency. Correct code may be efficient or inefficient in operation.</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60</TotalTime>
  <Words>1201</Words>
  <Application>Microsoft Office PowerPoint</Application>
  <PresentationFormat>全屏显示(4:3)</PresentationFormat>
  <Paragraphs>153</Paragraphs>
  <Slides>31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31</vt:i4>
      </vt:variant>
    </vt:vector>
  </HeadingPairs>
  <TitlesOfParts>
    <vt:vector size="35" baseType="lpstr">
      <vt:lpstr>Arial</vt:lpstr>
      <vt:lpstr>Calibri</vt:lpstr>
      <vt:lpstr>Calibri Light</vt:lpstr>
      <vt:lpstr>Retrospect</vt:lpstr>
      <vt:lpstr>20H58665– Software Design and Architecture</vt:lpstr>
      <vt:lpstr>Revision</vt:lpstr>
      <vt:lpstr>Outline</vt:lpstr>
      <vt:lpstr>Software Development Activities </vt:lpstr>
      <vt:lpstr>Software Design in SDLC</vt:lpstr>
      <vt:lpstr>Design Process Activities</vt:lpstr>
      <vt:lpstr>Design Process Activities</vt:lpstr>
      <vt:lpstr>The Software Design Process</vt:lpstr>
      <vt:lpstr>Levels of Software Design</vt:lpstr>
      <vt:lpstr>PowerPoint 演示文稿</vt:lpstr>
      <vt:lpstr>Design vs. Architecture</vt:lpstr>
      <vt:lpstr>Factors that affect Design</vt:lpstr>
      <vt:lpstr>FACTORS THAT AFFECT DESIGNS</vt:lpstr>
      <vt:lpstr>FACTORS THAT AFFECT DESIGNS</vt:lpstr>
      <vt:lpstr>FACTORS THAT AFFECT DESIGNS</vt:lpstr>
      <vt:lpstr>FACTORS THAT AFFECT DESIGNS</vt:lpstr>
      <vt:lpstr>FACTORS THAT AFFECT DESIGNS</vt:lpstr>
      <vt:lpstr>FACTORS THAT AFFECT DESIGNS</vt:lpstr>
      <vt:lpstr>FACTORS THAT AFFECT DESIGNS</vt:lpstr>
      <vt:lpstr>FACTORS THAT AFFECT DESIGNS</vt:lpstr>
      <vt:lpstr>FACTORS THAT AFFECT DESIGNS</vt:lpstr>
      <vt:lpstr>FACTORS THAT AFFECT DESIGNS</vt:lpstr>
      <vt:lpstr>Software Quality Models</vt:lpstr>
      <vt:lpstr>SOFTWARE QUALITY MODELS</vt:lpstr>
      <vt:lpstr>Hierarchical models</vt:lpstr>
      <vt:lpstr>PowerPoint 演示文稿</vt:lpstr>
      <vt:lpstr>Relational models</vt:lpstr>
      <vt:lpstr>PowerPoint 演示文稿</vt:lpstr>
      <vt:lpstr>Summary</vt:lpstr>
      <vt:lpstr>PowerPoint 演示文稿</vt:lpstr>
      <vt:lpstr>PowerPoint 演示文稿</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LI, HAOLONG (UG)</cp:lastModifiedBy>
  <cp:revision>54</cp:revision>
  <dcterms:created xsi:type="dcterms:W3CDTF">2015-07-29T17:47:00Z</dcterms:created>
  <dcterms:modified xsi:type="dcterms:W3CDTF">2025-09-15T07:30:22Z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1ADDBB3EA8DA48A58AD7CC0E3AC7DE82_12</vt:lpwstr>
  </property>
  <property fmtid="{D5CDD505-2E9C-101B-9397-08002B2CF9AE}" pid="3" name="KSOProductBuildVer">
    <vt:lpwstr>1033-12.2.0.18165</vt:lpwstr>
  </property>
</Properties>
</file>