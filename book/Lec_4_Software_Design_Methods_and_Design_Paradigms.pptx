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7"/>
  </p:notesMasterIdLst>
  <p:sldIdLst>
    <p:sldId id="293" r:id="rId2"/>
    <p:sldId id="294" r:id="rId3"/>
    <p:sldId id="295" r:id="rId4"/>
    <p:sldId id="257" r:id="rId5"/>
    <p:sldId id="258" r:id="rId6"/>
    <p:sldId id="296" r:id="rId7"/>
    <p:sldId id="259" r:id="rId8"/>
    <p:sldId id="260" r:id="rId9"/>
    <p:sldId id="297" r:id="rId10"/>
    <p:sldId id="261" r:id="rId11"/>
    <p:sldId id="262" r:id="rId12"/>
    <p:sldId id="273" r:id="rId13"/>
    <p:sldId id="274" r:id="rId14"/>
    <p:sldId id="275" r:id="rId15"/>
    <p:sldId id="276" r:id="rId16"/>
    <p:sldId id="277" r:id="rId17"/>
    <p:sldId id="278" r:id="rId18"/>
    <p:sldId id="279" r:id="rId19"/>
    <p:sldId id="280" r:id="rId20"/>
    <p:sldId id="281" r:id="rId21"/>
    <p:sldId id="282" r:id="rId22"/>
    <p:sldId id="283" r:id="rId23"/>
    <p:sldId id="284" r:id="rId24"/>
    <p:sldId id="298" r:id="rId25"/>
    <p:sldId id="299" r:id="rId26"/>
    <p:sldId id="285" r:id="rId27"/>
    <p:sldId id="286" r:id="rId28"/>
    <p:sldId id="287" r:id="rId29"/>
    <p:sldId id="288" r:id="rId30"/>
    <p:sldId id="300" r:id="rId31"/>
    <p:sldId id="305" r:id="rId32"/>
    <p:sldId id="303" r:id="rId33"/>
    <p:sldId id="304" r:id="rId34"/>
    <p:sldId id="302" r:id="rId35"/>
    <p:sldId id="301" r:id="rId3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21" d="100"/>
          <a:sy n="121" d="100"/>
        </p:scale>
        <p:origin x="562"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9EB17CE-C048-455A-8CCE-08C0BA039694}" type="datetimeFigureOut">
              <a:rPr lang="en-US" smtClean="0"/>
              <a:pPr/>
              <a:t>9/29/2025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F987969-048D-4FDC-B265-23CE0461E20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05E26B6-CAD5-4DBA-9962-435418EF582D}" type="datetimeFigureOut">
              <a:rPr lang="en-US" smtClean="0"/>
              <a:pPr/>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96DBA8-B77D-4B8D-9A7F-3144543A2B89}" type="slidenum">
              <a:rPr lang="en-US" smtClean="0"/>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13371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5E26B6-CAD5-4DBA-9962-435418EF582D}" type="datetimeFigureOut">
              <a:rPr lang="en-US" smtClean="0"/>
              <a:pPr/>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96DBA8-B77D-4B8D-9A7F-3144543A2B89}" type="slidenum">
              <a:rPr lang="en-US" smtClean="0"/>
              <a:pPr/>
              <a:t>‹#›</a:t>
            </a:fld>
            <a:endParaRPr lang="en-US"/>
          </a:p>
        </p:txBody>
      </p:sp>
    </p:spTree>
    <p:extLst>
      <p:ext uri="{BB962C8B-B14F-4D97-AF65-F5344CB8AC3E}">
        <p14:creationId xmlns:p14="http://schemas.microsoft.com/office/powerpoint/2010/main" val="4489667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5E26B6-CAD5-4DBA-9962-435418EF582D}" type="datetimeFigureOut">
              <a:rPr lang="en-US" smtClean="0"/>
              <a:pPr/>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96DBA8-B77D-4B8D-9A7F-3144543A2B89}" type="slidenum">
              <a:rPr lang="en-US" smtClean="0"/>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8990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05E26B6-CAD5-4DBA-9962-435418EF582D}" type="datetimeFigureOut">
              <a:rPr lang="en-US" smtClean="0"/>
              <a:pPr/>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96DBA8-B77D-4B8D-9A7F-3144543A2B89}" type="slidenum">
              <a:rPr lang="en-US" smtClean="0"/>
              <a:pPr/>
              <a:t>‹#›</a:t>
            </a:fld>
            <a:endParaRPr lang="en-US"/>
          </a:p>
        </p:txBody>
      </p:sp>
    </p:spTree>
    <p:extLst>
      <p:ext uri="{BB962C8B-B14F-4D97-AF65-F5344CB8AC3E}">
        <p14:creationId xmlns:p14="http://schemas.microsoft.com/office/powerpoint/2010/main" val="19482764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05E26B6-CAD5-4DBA-9962-435418EF582D}" type="datetimeFigureOut">
              <a:rPr lang="en-US" smtClean="0"/>
              <a:pPr/>
              <a:t>9/29/2025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296DBA8-B77D-4B8D-9A7F-3144543A2B89}" type="slidenum">
              <a:rPr lang="en-US" smtClean="0"/>
              <a:pPr/>
              <a:t>‹#›</a:t>
            </a:fld>
            <a:endParaRPr lang="en-US"/>
          </a:p>
        </p:txBody>
      </p:sp>
    </p:spTree>
    <p:extLst>
      <p:ext uri="{BB962C8B-B14F-4D97-AF65-F5344CB8AC3E}">
        <p14:creationId xmlns:p14="http://schemas.microsoft.com/office/powerpoint/2010/main" val="35818559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05E26B6-CAD5-4DBA-9962-435418EF582D}" type="datetimeFigureOut">
              <a:rPr lang="en-US" smtClean="0"/>
              <a:pPr/>
              <a:t>9/29/2025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296DBA8-B77D-4B8D-9A7F-3144543A2B89}" type="slidenum">
              <a:rPr lang="en-US" smtClean="0"/>
              <a:pPr/>
              <a:t>‹#›</a:t>
            </a:fld>
            <a:endParaRPr lang="en-US"/>
          </a:p>
        </p:txBody>
      </p:sp>
    </p:spTree>
    <p:extLst>
      <p:ext uri="{BB962C8B-B14F-4D97-AF65-F5344CB8AC3E}">
        <p14:creationId xmlns:p14="http://schemas.microsoft.com/office/powerpoint/2010/main" val="37004142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05E26B6-CAD5-4DBA-9962-435418EF582D}" type="datetimeFigureOut">
              <a:rPr lang="en-US" smtClean="0"/>
              <a:pPr/>
              <a:t>9/29/2025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0296DBA8-B77D-4B8D-9A7F-3144543A2B89}" type="slidenum">
              <a:rPr lang="en-US" smtClean="0"/>
              <a:pPr/>
              <a:t>‹#›</a:t>
            </a:fld>
            <a:endParaRPr lang="en-US"/>
          </a:p>
        </p:txBody>
      </p:sp>
    </p:spTree>
    <p:extLst>
      <p:ext uri="{BB962C8B-B14F-4D97-AF65-F5344CB8AC3E}">
        <p14:creationId xmlns:p14="http://schemas.microsoft.com/office/powerpoint/2010/main" val="2449354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905E26B6-CAD5-4DBA-9962-435418EF582D}" type="datetimeFigureOut">
              <a:rPr lang="en-US" smtClean="0"/>
              <a:pPr/>
              <a:t>9/29/2025</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0296DBA8-B77D-4B8D-9A7F-3144543A2B89}" type="slidenum">
              <a:rPr lang="en-US" smtClean="0"/>
              <a:pPr/>
              <a:t>‹#›</a:t>
            </a:fld>
            <a:endParaRPr lang="en-US"/>
          </a:p>
        </p:txBody>
      </p:sp>
    </p:spTree>
    <p:extLst>
      <p:ext uri="{BB962C8B-B14F-4D97-AF65-F5344CB8AC3E}">
        <p14:creationId xmlns:p14="http://schemas.microsoft.com/office/powerpoint/2010/main" val="551803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05E26B6-CAD5-4DBA-9962-435418EF582D}" type="datetimeFigureOut">
              <a:rPr lang="en-US" smtClean="0"/>
              <a:pPr/>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96DBA8-B77D-4B8D-9A7F-3144543A2B89}" type="slidenum">
              <a:rPr lang="en-US" smtClean="0"/>
              <a:pPr/>
              <a:t>‹#›</a:t>
            </a:fld>
            <a:endParaRPr lang="en-US"/>
          </a:p>
        </p:txBody>
      </p:sp>
    </p:spTree>
    <p:extLst>
      <p:ext uri="{BB962C8B-B14F-4D97-AF65-F5344CB8AC3E}">
        <p14:creationId xmlns:p14="http://schemas.microsoft.com/office/powerpoint/2010/main" val="1020369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5E26B6-CAD5-4DBA-9962-435418EF582D}" type="datetimeFigureOut">
              <a:rPr lang="en-US" smtClean="0"/>
              <a:pPr/>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96DBA8-B77D-4B8D-9A7F-3144543A2B89}" type="slidenum">
              <a:rPr lang="en-US" smtClean="0"/>
              <a:pPr/>
              <a:t>‹#›</a:t>
            </a:fld>
            <a:endParaRPr lang="en-US"/>
          </a:p>
        </p:txBody>
      </p:sp>
    </p:spTree>
    <p:extLst>
      <p:ext uri="{BB962C8B-B14F-4D97-AF65-F5344CB8AC3E}">
        <p14:creationId xmlns:p14="http://schemas.microsoft.com/office/powerpoint/2010/main" val="4075344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5E26B6-CAD5-4DBA-9962-435418EF582D}" type="datetimeFigureOut">
              <a:rPr lang="en-US" smtClean="0"/>
              <a:pPr/>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96DBA8-B77D-4B8D-9A7F-3144543A2B89}" type="slidenum">
              <a:rPr lang="en-US" smtClean="0"/>
              <a:pPr/>
              <a:t>‹#›</a:t>
            </a:fld>
            <a:endParaRPr lang="en-US"/>
          </a:p>
        </p:txBody>
      </p:sp>
    </p:spTree>
    <p:extLst>
      <p:ext uri="{BB962C8B-B14F-4D97-AF65-F5344CB8AC3E}">
        <p14:creationId xmlns:p14="http://schemas.microsoft.com/office/powerpoint/2010/main" val="27830290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905E26B6-CAD5-4DBA-9962-435418EF582D}" type="datetimeFigureOut">
              <a:rPr lang="en-US" smtClean="0"/>
              <a:pPr/>
              <a:t>9/29/2025</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0296DBA8-B77D-4B8D-9A7F-3144543A2B89}" type="slidenum">
              <a:rPr lang="en-US" smtClean="0"/>
              <a:pPr/>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60362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100" y="2402379"/>
            <a:ext cx="7543800" cy="1873073"/>
          </a:xfrm>
        </p:spPr>
        <p:txBody>
          <a:bodyPr>
            <a:normAutofit/>
          </a:bodyPr>
          <a:lstStyle/>
          <a:p>
            <a:r>
              <a:rPr lang="en-US" sz="4800" b="1" dirty="0"/>
              <a:t>20H58665– Software Design and Architecture</a:t>
            </a:r>
          </a:p>
        </p:txBody>
      </p:sp>
      <p:sp>
        <p:nvSpPr>
          <p:cNvPr id="3" name="Subtitle 2"/>
          <p:cNvSpPr>
            <a:spLocks noGrp="1"/>
          </p:cNvSpPr>
          <p:nvPr>
            <p:ph type="subTitle" idx="1"/>
          </p:nvPr>
        </p:nvSpPr>
        <p:spPr/>
        <p:txBody>
          <a:bodyPr/>
          <a:lstStyle/>
          <a:p>
            <a:r>
              <a:rPr lang="en-US" b="1" dirty="0">
                <a:solidFill>
                  <a:schemeClr val="tx1"/>
                </a:solidFill>
              </a:rPr>
              <a:t>LECTURE 3/4</a:t>
            </a:r>
          </a:p>
        </p:txBody>
      </p:sp>
      <p:pic>
        <p:nvPicPr>
          <p:cNvPr id="4" name="Picture 3">
            <a:extLst>
              <a:ext uri="{FF2B5EF4-FFF2-40B4-BE49-F238E27FC236}">
                <a16:creationId xmlns:a16="http://schemas.microsoft.com/office/drawing/2014/main" id="{B36E6726-9F9D-143F-7945-A4289029B2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0437" y="398907"/>
            <a:ext cx="2143125" cy="21431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Previous Lecture</a:t>
            </a:r>
          </a:p>
        </p:txBody>
      </p:sp>
      <p:sp>
        <p:nvSpPr>
          <p:cNvPr id="3" name="Content Placeholder 2"/>
          <p:cNvSpPr>
            <a:spLocks noGrp="1"/>
          </p:cNvSpPr>
          <p:nvPr>
            <p:ph idx="1"/>
          </p:nvPr>
        </p:nvSpPr>
        <p:spPr/>
        <p:txBody>
          <a:bodyPr/>
          <a:lstStyle/>
          <a:p>
            <a:r>
              <a:rPr lang="en-US" dirty="0"/>
              <a:t>Good design</a:t>
            </a:r>
          </a:p>
          <a:p>
            <a:r>
              <a:rPr lang="en-US" dirty="0"/>
              <a:t>Quality attributes of software design</a:t>
            </a:r>
          </a:p>
          <a:p>
            <a:r>
              <a:rPr lang="en-US" dirty="0"/>
              <a:t>Software design principles</a:t>
            </a:r>
          </a:p>
          <a:p>
            <a:r>
              <a:rPr lang="en-US" dirty="0"/>
              <a:t>Concepts in design</a:t>
            </a:r>
          </a:p>
          <a:p>
            <a:pPr>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t>Software design methods</a:t>
            </a:r>
          </a:p>
          <a:p>
            <a:r>
              <a:rPr lang="en-US" dirty="0"/>
              <a:t>Design Paradigms</a:t>
            </a:r>
          </a:p>
          <a:p>
            <a:r>
              <a:rPr lang="en-US" dirty="0"/>
              <a:t>Typical Design Trade-offs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Software Design Methods</a:t>
            </a:r>
          </a:p>
        </p:txBody>
      </p:sp>
      <p:sp>
        <p:nvSpPr>
          <p:cNvPr id="6" name="Text Placeholder 5"/>
          <p:cNvSpPr>
            <a:spLocks noGrp="1"/>
          </p:cNvSpPr>
          <p:nvPr>
            <p:ph type="body" idx="1"/>
          </p:nvPr>
        </p:nvSpPr>
        <p:spPr/>
        <p:txBody>
          <a:bodyPr/>
          <a:lstStyle/>
          <a:p>
            <a:endParaRPr lang="en-US"/>
          </a:p>
        </p:txBody>
      </p:sp>
      <p:sp>
        <p:nvSpPr>
          <p:cNvPr id="3" name="Slide Number Placeholder 2"/>
          <p:cNvSpPr>
            <a:spLocks noGrp="1"/>
          </p:cNvSpPr>
          <p:nvPr>
            <p:ph type="sldNum" sz="quarter" idx="12"/>
          </p:nvPr>
        </p:nvSpPr>
        <p:spPr/>
        <p:txBody>
          <a:bodyPr/>
          <a:lstStyle/>
          <a:p>
            <a:fld id="{6954DADF-C1B8-4324-946D-E39590F244A5}"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idx="4294967295"/>
          </p:nvPr>
        </p:nvSpPr>
        <p:spPr>
          <a:xfrm>
            <a:off x="0" y="274638"/>
            <a:ext cx="8229600" cy="1143000"/>
          </a:xfrm>
        </p:spPr>
        <p:txBody>
          <a:bodyPr anchor="b"/>
          <a:lstStyle/>
          <a:p>
            <a:r>
              <a:rPr lang="en-GB" b="1" dirty="0"/>
              <a:t>Software Design Methods</a:t>
            </a:r>
          </a:p>
        </p:txBody>
      </p:sp>
      <p:sp>
        <p:nvSpPr>
          <p:cNvPr id="32771" name="Content Placeholder 2"/>
          <p:cNvSpPr>
            <a:spLocks noGrp="1"/>
          </p:cNvSpPr>
          <p:nvPr>
            <p:ph idx="4294967295"/>
          </p:nvPr>
        </p:nvSpPr>
        <p:spPr>
          <a:xfrm>
            <a:off x="0" y="1828800"/>
            <a:ext cx="8229600" cy="4297363"/>
          </a:xfrm>
        </p:spPr>
        <p:txBody>
          <a:bodyPr>
            <a:normAutofit/>
          </a:bodyPr>
          <a:lstStyle/>
          <a:p>
            <a:pPr algn="just"/>
            <a:r>
              <a:rPr lang="en-GB" sz="2800" dirty="0"/>
              <a:t>In a Software development process, the Software Design Methodology (SDM) refers to specific set of procedures used to manage and control the SDLC (Software Development Life Cycle).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Effect transition="in" filter="blinds(horizontal)">
                                      <p:cBhvr>
                                        <p:cTn id="7" dur="500"/>
                                        <p:tgtEl>
                                          <p:spTgt spid="3277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Software Design Methods</a:t>
            </a:r>
            <a:endParaRPr lang="en-US" b="1" dirty="0"/>
          </a:p>
        </p:txBody>
      </p:sp>
      <p:sp>
        <p:nvSpPr>
          <p:cNvPr id="3" name="Content Placeholder 2"/>
          <p:cNvSpPr>
            <a:spLocks noGrp="1"/>
          </p:cNvSpPr>
          <p:nvPr>
            <p:ph idx="1"/>
          </p:nvPr>
        </p:nvSpPr>
        <p:spPr>
          <a:xfrm>
            <a:off x="457200" y="1981200"/>
            <a:ext cx="8229600" cy="4144963"/>
          </a:xfrm>
        </p:spPr>
        <p:txBody>
          <a:bodyPr>
            <a:normAutofit lnSpcReduction="10000"/>
          </a:bodyPr>
          <a:lstStyle/>
          <a:p>
            <a:pPr algn="just"/>
            <a:r>
              <a:rPr lang="en-GB" sz="2800" dirty="0"/>
              <a:t>The choice of the SDM primarily depends upon several factors, namely, </a:t>
            </a:r>
          </a:p>
          <a:p>
            <a:pPr lvl="1" algn="just"/>
            <a:r>
              <a:rPr lang="en-GB" sz="2400" dirty="0"/>
              <a:t>the </a:t>
            </a:r>
            <a:r>
              <a:rPr lang="en-GB" sz="2400" i="1" u="sng" dirty="0"/>
              <a:t>type of the software</a:t>
            </a:r>
            <a:r>
              <a:rPr lang="en-GB" sz="2400" dirty="0"/>
              <a:t> (such as standalone or distributed and networked; Strategic or operational etc.)</a:t>
            </a:r>
          </a:p>
          <a:p>
            <a:pPr lvl="1" algn="just"/>
            <a:endParaRPr lang="en-GB" sz="2400" dirty="0"/>
          </a:p>
          <a:p>
            <a:pPr lvl="1" algn="just"/>
            <a:r>
              <a:rPr lang="en-GB" sz="2400" dirty="0"/>
              <a:t>the </a:t>
            </a:r>
            <a:r>
              <a:rPr lang="en-GB" sz="2400" i="1" u="sng" dirty="0"/>
              <a:t>scope of the development project</a:t>
            </a:r>
            <a:r>
              <a:rPr lang="en-GB" sz="2400" dirty="0"/>
              <a:t> (such as revamp of the existing system or new system, the number of modules involved, underlying complexity of the coding, system testing and implementation etc), </a:t>
            </a:r>
          </a:p>
          <a:p>
            <a:pPr lvl="1" algn="just"/>
            <a:endParaRPr lang="en-GB" sz="2400" dirty="0"/>
          </a:p>
          <a:p>
            <a:pPr lvl="1" algn="just"/>
            <a:r>
              <a:rPr lang="en-GB" sz="2400" dirty="0"/>
              <a:t>the </a:t>
            </a:r>
            <a:r>
              <a:rPr lang="en-GB" sz="2400" i="1" u="sng" dirty="0"/>
              <a:t>resources constraints</a:t>
            </a:r>
            <a:r>
              <a:rPr lang="en-GB" sz="2400" dirty="0"/>
              <a:t> (such as time, money, expertise)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idx="4294967295"/>
          </p:nvPr>
        </p:nvSpPr>
        <p:spPr>
          <a:xfrm>
            <a:off x="0" y="274638"/>
            <a:ext cx="8229600" cy="1143000"/>
          </a:xfrm>
        </p:spPr>
        <p:txBody>
          <a:bodyPr anchor="b"/>
          <a:lstStyle/>
          <a:p>
            <a:r>
              <a:rPr lang="en-GB" b="1" dirty="0"/>
              <a:t>Software Design Methods</a:t>
            </a:r>
          </a:p>
        </p:txBody>
      </p:sp>
      <p:sp>
        <p:nvSpPr>
          <p:cNvPr id="33795" name="Rectangle 3"/>
          <p:cNvSpPr>
            <a:spLocks noGrp="1" noChangeArrowheads="1"/>
          </p:cNvSpPr>
          <p:nvPr>
            <p:ph type="body" idx="4294967295"/>
          </p:nvPr>
        </p:nvSpPr>
        <p:spPr>
          <a:xfrm>
            <a:off x="0" y="1600200"/>
            <a:ext cx="8229600" cy="4525963"/>
          </a:xfrm>
        </p:spPr>
        <p:txBody>
          <a:bodyPr/>
          <a:lstStyle/>
          <a:p>
            <a:pPr algn="just"/>
            <a:r>
              <a:rPr lang="en-GB" sz="3000" dirty="0"/>
              <a:t>Systematic approaches to developing a software design.</a:t>
            </a:r>
          </a:p>
          <a:p>
            <a:pPr lvl="1" algn="just"/>
            <a:r>
              <a:rPr lang="en-US" sz="2600" dirty="0"/>
              <a:t>Structured (Function-Oriented)</a:t>
            </a:r>
          </a:p>
          <a:p>
            <a:pPr lvl="1" algn="just"/>
            <a:r>
              <a:rPr lang="en-US" sz="2600" dirty="0"/>
              <a:t>Object-Oriented</a:t>
            </a:r>
          </a:p>
          <a:p>
            <a:pPr lvl="1" algn="just"/>
            <a:r>
              <a:rPr lang="en-US" sz="2600" dirty="0"/>
              <a:t>Data-Oriented (Data-structure-centered)</a:t>
            </a:r>
          </a:p>
          <a:p>
            <a:pPr lvl="1" algn="just"/>
            <a:r>
              <a:rPr lang="en-US" sz="2600" dirty="0"/>
              <a:t>Component-based</a:t>
            </a:r>
          </a:p>
          <a:p>
            <a:pPr lvl="1" algn="just"/>
            <a:r>
              <a:rPr lang="en-US" sz="2600" dirty="0"/>
              <a:t>Formal Methods</a:t>
            </a:r>
          </a:p>
          <a:p>
            <a:pPr algn="just"/>
            <a:endParaRPr lang="en-GB" sz="3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idx="4294967295"/>
          </p:nvPr>
        </p:nvSpPr>
        <p:spPr>
          <a:xfrm>
            <a:off x="0" y="274638"/>
            <a:ext cx="8229600" cy="1143000"/>
          </a:xfrm>
        </p:spPr>
        <p:txBody>
          <a:bodyPr anchor="b"/>
          <a:lstStyle/>
          <a:p>
            <a:r>
              <a:rPr lang="en-US" b="1" dirty="0"/>
              <a:t>Software Design Methods</a:t>
            </a:r>
          </a:p>
        </p:txBody>
      </p:sp>
      <p:sp>
        <p:nvSpPr>
          <p:cNvPr id="34819" name="Rectangle 3"/>
          <p:cNvSpPr>
            <a:spLocks noGrp="1" noChangeArrowheads="1"/>
          </p:cNvSpPr>
          <p:nvPr>
            <p:ph type="body" idx="4294967295"/>
          </p:nvPr>
        </p:nvSpPr>
        <p:spPr>
          <a:xfrm>
            <a:off x="0" y="1371600"/>
            <a:ext cx="8001000" cy="4495800"/>
          </a:xfrm>
        </p:spPr>
        <p:txBody>
          <a:bodyPr>
            <a:normAutofit/>
          </a:bodyPr>
          <a:lstStyle/>
          <a:p>
            <a:pPr algn="just">
              <a:lnSpc>
                <a:spcPct val="90000"/>
              </a:lnSpc>
            </a:pPr>
            <a:r>
              <a:rPr lang="en-US" sz="2800" b="1" dirty="0"/>
              <a:t>Structured Methods</a:t>
            </a:r>
          </a:p>
          <a:p>
            <a:pPr lvl="1" algn="just">
              <a:lnSpc>
                <a:spcPct val="90000"/>
              </a:lnSpc>
            </a:pPr>
            <a:r>
              <a:rPr lang="en-US" dirty="0"/>
              <a:t>Process functions are identified</a:t>
            </a:r>
          </a:p>
          <a:p>
            <a:pPr lvl="1" algn="just">
              <a:lnSpc>
                <a:spcPct val="90000"/>
              </a:lnSpc>
            </a:pPr>
            <a:endParaRPr lang="en-US" dirty="0"/>
          </a:p>
          <a:p>
            <a:pPr algn="just">
              <a:lnSpc>
                <a:spcPct val="90000"/>
              </a:lnSpc>
            </a:pPr>
            <a:r>
              <a:rPr lang="en-US" sz="2800" b="1" dirty="0"/>
              <a:t>Object-Oriented</a:t>
            </a:r>
          </a:p>
          <a:p>
            <a:pPr lvl="1" algn="just">
              <a:lnSpc>
                <a:spcPct val="90000"/>
              </a:lnSpc>
            </a:pPr>
            <a:r>
              <a:rPr lang="en-US" dirty="0"/>
              <a:t>develop an object model of a system </a:t>
            </a:r>
          </a:p>
          <a:p>
            <a:pPr lvl="1" algn="just">
              <a:lnSpc>
                <a:spcPct val="90000"/>
              </a:lnSpc>
            </a:pPr>
            <a:endParaRPr lang="en-US" sz="2400" dirty="0"/>
          </a:p>
          <a:p>
            <a:pPr algn="just">
              <a:lnSpc>
                <a:spcPct val="90000"/>
              </a:lnSpc>
            </a:pPr>
            <a:r>
              <a:rPr lang="en-US" sz="2800" b="1" dirty="0"/>
              <a:t>Data-Oriented </a:t>
            </a:r>
          </a:p>
          <a:p>
            <a:pPr lvl="1" algn="just">
              <a:lnSpc>
                <a:spcPct val="90000"/>
              </a:lnSpc>
            </a:pPr>
            <a:r>
              <a:rPr lang="en-US" dirty="0"/>
              <a:t>Entities are determined for each sub-system, then entity inter-relationships are examined to develop the additional entities needed to support the relationships. </a:t>
            </a:r>
            <a:endParaRPr lang="en-US" sz="2400" dirty="0"/>
          </a:p>
          <a:p>
            <a:pPr algn="just">
              <a:lnSpc>
                <a:spcPct val="90000"/>
              </a:lnSpc>
            </a:pP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Effect transition="in" filter="blinds(horizontal)">
                                      <p:cBhvr>
                                        <p:cTn id="7" dur="500"/>
                                        <p:tgtEl>
                                          <p:spTgt spid="34819">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4819">
                                            <p:txEl>
                                              <p:pRg st="1" end="1"/>
                                            </p:txEl>
                                          </p:spTgt>
                                        </p:tgtEl>
                                        <p:attrNameLst>
                                          <p:attrName>style.visibility</p:attrName>
                                        </p:attrNameLst>
                                      </p:cBhvr>
                                      <p:to>
                                        <p:strVal val="visible"/>
                                      </p:to>
                                    </p:set>
                                    <p:animEffect transition="in" filter="blinds(horizontal)">
                                      <p:cBhvr>
                                        <p:cTn id="10" dur="500"/>
                                        <p:tgtEl>
                                          <p:spTgt spid="3481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4819">
                                            <p:txEl>
                                              <p:pRg st="3" end="3"/>
                                            </p:txEl>
                                          </p:spTgt>
                                        </p:tgtEl>
                                        <p:attrNameLst>
                                          <p:attrName>style.visibility</p:attrName>
                                        </p:attrNameLst>
                                      </p:cBhvr>
                                      <p:to>
                                        <p:strVal val="visible"/>
                                      </p:to>
                                    </p:set>
                                    <p:animEffect transition="in" filter="blinds(horizontal)">
                                      <p:cBhvr>
                                        <p:cTn id="15" dur="500"/>
                                        <p:tgtEl>
                                          <p:spTgt spid="34819">
                                            <p:txEl>
                                              <p:pRg st="3" end="3"/>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4819">
                                            <p:txEl>
                                              <p:pRg st="4" end="4"/>
                                            </p:txEl>
                                          </p:spTgt>
                                        </p:tgtEl>
                                        <p:attrNameLst>
                                          <p:attrName>style.visibility</p:attrName>
                                        </p:attrNameLst>
                                      </p:cBhvr>
                                      <p:to>
                                        <p:strVal val="visible"/>
                                      </p:to>
                                    </p:set>
                                    <p:animEffect transition="in" filter="blinds(horizontal)">
                                      <p:cBhvr>
                                        <p:cTn id="18" dur="500"/>
                                        <p:tgtEl>
                                          <p:spTgt spid="34819">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34819">
                                            <p:txEl>
                                              <p:pRg st="6" end="6"/>
                                            </p:txEl>
                                          </p:spTgt>
                                        </p:tgtEl>
                                        <p:attrNameLst>
                                          <p:attrName>style.visibility</p:attrName>
                                        </p:attrNameLst>
                                      </p:cBhvr>
                                      <p:to>
                                        <p:strVal val="visible"/>
                                      </p:to>
                                    </p:set>
                                    <p:animEffect transition="in" filter="blinds(horizontal)">
                                      <p:cBhvr>
                                        <p:cTn id="23" dur="500"/>
                                        <p:tgtEl>
                                          <p:spTgt spid="34819">
                                            <p:txEl>
                                              <p:pRg st="6" end="6"/>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34819">
                                            <p:txEl>
                                              <p:pRg st="7" end="7"/>
                                            </p:txEl>
                                          </p:spTgt>
                                        </p:tgtEl>
                                        <p:attrNameLst>
                                          <p:attrName>style.visibility</p:attrName>
                                        </p:attrNameLst>
                                      </p:cBhvr>
                                      <p:to>
                                        <p:strVal val="visible"/>
                                      </p:to>
                                    </p:set>
                                    <p:animEffect transition="in" filter="blinds(horizontal)">
                                      <p:cBhvr>
                                        <p:cTn id="26" dur="500"/>
                                        <p:tgtEl>
                                          <p:spTgt spid="3481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Software Design Methods</a:t>
            </a:r>
          </a:p>
        </p:txBody>
      </p:sp>
      <p:sp>
        <p:nvSpPr>
          <p:cNvPr id="3" name="Content Placeholder 2"/>
          <p:cNvSpPr>
            <a:spLocks noGrp="1"/>
          </p:cNvSpPr>
          <p:nvPr>
            <p:ph idx="1"/>
          </p:nvPr>
        </p:nvSpPr>
        <p:spPr/>
        <p:txBody>
          <a:bodyPr/>
          <a:lstStyle/>
          <a:p>
            <a:pPr>
              <a:lnSpc>
                <a:spcPct val="90000"/>
              </a:lnSpc>
            </a:pPr>
            <a:r>
              <a:rPr lang="en-US" sz="2800" b="1" dirty="0"/>
              <a:t>Component-based</a:t>
            </a:r>
          </a:p>
          <a:p>
            <a:pPr lvl="1">
              <a:lnSpc>
                <a:spcPct val="90000"/>
              </a:lnSpc>
            </a:pPr>
            <a:r>
              <a:rPr lang="en-US" dirty="0"/>
              <a:t>Divide the system into components</a:t>
            </a:r>
          </a:p>
          <a:p>
            <a:pPr lvl="1">
              <a:lnSpc>
                <a:spcPct val="90000"/>
              </a:lnSpc>
            </a:pPr>
            <a:endParaRPr lang="en-US" dirty="0"/>
          </a:p>
          <a:p>
            <a:pPr>
              <a:lnSpc>
                <a:spcPct val="90000"/>
              </a:lnSpc>
            </a:pPr>
            <a:r>
              <a:rPr lang="en-US" sz="2800" b="1" dirty="0"/>
              <a:t>Formal Methods</a:t>
            </a:r>
          </a:p>
          <a:p>
            <a:pPr lvl="1">
              <a:lnSpc>
                <a:spcPct val="90000"/>
              </a:lnSpc>
            </a:pPr>
            <a:r>
              <a:rPr lang="en-US" dirty="0"/>
              <a:t>Requirements and programs are translated into mathematical notation </a:t>
            </a:r>
            <a:endParaRPr lang="en-US" sz="2400" dirty="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idx="4294967295"/>
          </p:nvPr>
        </p:nvSpPr>
        <p:spPr>
          <a:xfrm>
            <a:off x="0" y="274638"/>
            <a:ext cx="8229600" cy="1143000"/>
          </a:xfrm>
        </p:spPr>
        <p:txBody>
          <a:bodyPr anchor="b"/>
          <a:lstStyle/>
          <a:p>
            <a:r>
              <a:rPr lang="en-US" b="1" dirty="0"/>
              <a:t>Which method to choose?</a:t>
            </a:r>
          </a:p>
        </p:txBody>
      </p:sp>
      <p:sp>
        <p:nvSpPr>
          <p:cNvPr id="35843" name="Rectangle 3"/>
          <p:cNvSpPr>
            <a:spLocks noGrp="1" noChangeArrowheads="1"/>
          </p:cNvSpPr>
          <p:nvPr>
            <p:ph type="body" idx="4294967295"/>
          </p:nvPr>
        </p:nvSpPr>
        <p:spPr>
          <a:xfrm>
            <a:off x="0" y="1524000"/>
            <a:ext cx="8534400" cy="4800600"/>
          </a:xfrm>
        </p:spPr>
        <p:txBody>
          <a:bodyPr>
            <a:normAutofit/>
          </a:bodyPr>
          <a:lstStyle/>
          <a:p>
            <a:pPr>
              <a:lnSpc>
                <a:spcPct val="80000"/>
              </a:lnSpc>
            </a:pPr>
            <a:r>
              <a:rPr lang="en-US" sz="2800" b="1" dirty="0"/>
              <a:t>Data oriented design</a:t>
            </a:r>
            <a:r>
              <a:rPr lang="en-US" sz="2800" dirty="0"/>
              <a:t> is useful for systems that process lots of data, e.g. database and banking applications </a:t>
            </a:r>
          </a:p>
          <a:p>
            <a:pPr>
              <a:lnSpc>
                <a:spcPct val="80000"/>
              </a:lnSpc>
            </a:pPr>
            <a:endParaRPr lang="en-US" sz="2800" b="1" dirty="0"/>
          </a:p>
          <a:p>
            <a:pPr>
              <a:lnSpc>
                <a:spcPct val="80000"/>
              </a:lnSpc>
            </a:pPr>
            <a:r>
              <a:rPr lang="en-US" sz="2800" b="1" dirty="0"/>
              <a:t>Structured design</a:t>
            </a:r>
            <a:r>
              <a:rPr lang="en-US" sz="2800" dirty="0"/>
              <a:t> is useful for process intensive systems that will be programmed using a procedural language such as C.</a:t>
            </a:r>
          </a:p>
          <a:p>
            <a:pPr>
              <a:lnSpc>
                <a:spcPct val="80000"/>
              </a:lnSpc>
            </a:pPr>
            <a:endParaRPr lang="en-US" sz="2800" b="1" dirty="0"/>
          </a:p>
          <a:p>
            <a:pPr>
              <a:lnSpc>
                <a:spcPct val="80000"/>
              </a:lnSpc>
            </a:pPr>
            <a:r>
              <a:rPr lang="en-US" sz="2800" b="1" dirty="0"/>
              <a:t>OO methods</a:t>
            </a:r>
            <a:r>
              <a:rPr lang="en-US" sz="2800" dirty="0"/>
              <a:t> are useful for any system that will be programmed using an object oriented language such as C++.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animEffect transition="in" filter="blinds(horizontal)">
                                      <p:cBhvr>
                                        <p:cTn id="7" dur="500"/>
                                        <p:tgtEl>
                                          <p:spTgt spid="358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5843">
                                            <p:txEl>
                                              <p:pRg st="2" end="2"/>
                                            </p:txEl>
                                          </p:spTgt>
                                        </p:tgtEl>
                                        <p:attrNameLst>
                                          <p:attrName>style.visibility</p:attrName>
                                        </p:attrNameLst>
                                      </p:cBhvr>
                                      <p:to>
                                        <p:strVal val="visible"/>
                                      </p:to>
                                    </p:set>
                                    <p:animEffect transition="in" filter="blinds(horizontal)">
                                      <p:cBhvr>
                                        <p:cTn id="12" dur="500"/>
                                        <p:tgtEl>
                                          <p:spTgt spid="3584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5843">
                                            <p:txEl>
                                              <p:pRg st="4" end="4"/>
                                            </p:txEl>
                                          </p:spTgt>
                                        </p:tgtEl>
                                        <p:attrNameLst>
                                          <p:attrName>style.visibility</p:attrName>
                                        </p:attrNameLst>
                                      </p:cBhvr>
                                      <p:to>
                                        <p:strVal val="visible"/>
                                      </p:to>
                                    </p:set>
                                    <p:animEffect transition="in" filter="blinds(horizontal)">
                                      <p:cBhvr>
                                        <p:cTn id="17" dur="500"/>
                                        <p:tgtEl>
                                          <p:spTgt spid="358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4" name="Content Placeholder 3"/>
          <p:cNvSpPr>
            <a:spLocks noGrp="1"/>
          </p:cNvSpPr>
          <p:nvPr>
            <p:ph idx="1"/>
          </p:nvPr>
        </p:nvSpPr>
        <p:spPr/>
        <p:txBody>
          <a:bodyPr>
            <a:normAutofit/>
          </a:bodyPr>
          <a:lstStyle/>
          <a:p>
            <a:pPr>
              <a:lnSpc>
                <a:spcPct val="80000"/>
              </a:lnSpc>
            </a:pPr>
            <a:r>
              <a:rPr lang="en-US" b="1" dirty="0"/>
              <a:t>Component-based Methods</a:t>
            </a:r>
            <a:r>
              <a:rPr lang="en-US" dirty="0"/>
              <a:t> are used for the large systems that can be modularized.</a:t>
            </a:r>
          </a:p>
          <a:p>
            <a:pPr>
              <a:lnSpc>
                <a:spcPct val="80000"/>
              </a:lnSpc>
            </a:pPr>
            <a:endParaRPr lang="en-US" dirty="0"/>
          </a:p>
          <a:p>
            <a:pPr>
              <a:lnSpc>
                <a:spcPct val="80000"/>
              </a:lnSpc>
            </a:pPr>
            <a:r>
              <a:rPr lang="en-US" b="1" dirty="0"/>
              <a:t>Formal methods</a:t>
            </a:r>
            <a:r>
              <a:rPr lang="en-US" dirty="0"/>
              <a:t> are considered to be an alternative to OO and classical design methods, </a:t>
            </a:r>
          </a:p>
          <a:p>
            <a:pPr lvl="1">
              <a:lnSpc>
                <a:spcPct val="80000"/>
              </a:lnSpc>
            </a:pPr>
            <a:r>
              <a:rPr lang="en-US" dirty="0"/>
              <a:t>but their use is expensive and claims of reduced errors remain unproven. </a:t>
            </a:r>
          </a:p>
          <a:p>
            <a:pPr lvl="1">
              <a:lnSpc>
                <a:spcPct val="80000"/>
              </a:lnSpc>
            </a:pPr>
            <a:r>
              <a:rPr lang="en-US" dirty="0"/>
              <a:t>However, the ability to formally validate the correctness of a software artifact is appealing and research on formal methods is ongoing. </a:t>
            </a:r>
          </a:p>
          <a:p>
            <a:endParaRPr lang="en-US" dirty="0"/>
          </a:p>
        </p:txBody>
      </p:sp>
      <p:sp>
        <p:nvSpPr>
          <p:cNvPr id="2" name="Slide Number Placeholder 1"/>
          <p:cNvSpPr>
            <a:spLocks noGrp="1"/>
          </p:cNvSpPr>
          <p:nvPr>
            <p:ph type="sldNum" sz="quarter" idx="12"/>
          </p:nvPr>
        </p:nvSpPr>
        <p:spPr/>
        <p:txBody>
          <a:bodyPr/>
          <a:lstStyle/>
          <a:p>
            <a:fld id="{6954DADF-C1B8-4324-946D-E39590F244A5}" type="slidenum">
              <a:rPr lang="en-US" smtClean="0"/>
              <a:pPr/>
              <a:t>11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blinds(horizontal)">
                                      <p:cBhvr>
                                        <p:cTn id="12" dur="500"/>
                                        <p:tgtEl>
                                          <p:spTgt spid="4">
                                            <p:txEl>
                                              <p:pRg st="2" end="2"/>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Effect transition="in" filter="blinds(horizontal)">
                                      <p:cBhvr>
                                        <p:cTn id="15" dur="500"/>
                                        <p:tgtEl>
                                          <p:spTgt spid="4">
                                            <p:txEl>
                                              <p:pRg st="3" end="3"/>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4">
                                            <p:txEl>
                                              <p:pRg st="4" end="4"/>
                                            </p:txEl>
                                          </p:spTgt>
                                        </p:tgtEl>
                                        <p:attrNameLst>
                                          <p:attrName>style.visibility</p:attrName>
                                        </p:attrNameLst>
                                      </p:cBhvr>
                                      <p:to>
                                        <p:strVal val="visible"/>
                                      </p:to>
                                    </p:set>
                                    <p:animEffect transition="in" filter="blinds(horizontal)">
                                      <p:cBhvr>
                                        <p:cTn id="18"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Design Paradigms</a:t>
            </a:r>
          </a:p>
        </p:txBody>
      </p:sp>
      <p:sp>
        <p:nvSpPr>
          <p:cNvPr id="5" name="Text Placeholder 4"/>
          <p:cNvSpPr>
            <a:spLocks noGrp="1"/>
          </p:cNvSpPr>
          <p:nvPr>
            <p:ph type="body" idx="1"/>
          </p:nvPr>
        </p:nvSpPr>
        <p:spPr/>
        <p:txBody>
          <a:bodyPr/>
          <a:lstStyle/>
          <a:p>
            <a:endParaRPr lang="en-US"/>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idx="4294967295"/>
          </p:nvPr>
        </p:nvSpPr>
        <p:spPr>
          <a:xfrm>
            <a:off x="0" y="274638"/>
            <a:ext cx="8229600" cy="1143000"/>
          </a:xfrm>
        </p:spPr>
        <p:txBody>
          <a:bodyPr anchor="b"/>
          <a:lstStyle/>
          <a:p>
            <a:r>
              <a:rPr lang="en-US" b="1" dirty="0"/>
              <a:t>Software Design Paradigms</a:t>
            </a:r>
          </a:p>
        </p:txBody>
      </p:sp>
      <p:sp>
        <p:nvSpPr>
          <p:cNvPr id="12291" name="Rectangle 3"/>
          <p:cNvSpPr>
            <a:spLocks noGrp="1" noChangeArrowheads="1"/>
          </p:cNvSpPr>
          <p:nvPr>
            <p:ph type="body" idx="4294967295"/>
          </p:nvPr>
        </p:nvSpPr>
        <p:spPr>
          <a:xfrm>
            <a:off x="0" y="1600200"/>
            <a:ext cx="8229600" cy="4525963"/>
          </a:xfrm>
        </p:spPr>
        <p:txBody>
          <a:bodyPr/>
          <a:lstStyle/>
          <a:p>
            <a:r>
              <a:rPr lang="en-US"/>
              <a:t>Structured Design/Function Oriented Design</a:t>
            </a:r>
          </a:p>
          <a:p>
            <a:r>
              <a:rPr lang="en-US"/>
              <a:t>Object-Oriented Design</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0" y="274638"/>
            <a:ext cx="8229600" cy="1143000"/>
          </a:xfrm>
        </p:spPr>
        <p:txBody>
          <a:bodyPr anchor="b"/>
          <a:lstStyle/>
          <a:p>
            <a:r>
              <a:rPr lang="en-US" b="1" dirty="0"/>
              <a:t>Structured/Procedural Paradigm</a:t>
            </a:r>
          </a:p>
        </p:txBody>
      </p:sp>
      <p:sp>
        <p:nvSpPr>
          <p:cNvPr id="13315" name="Rectangle 3"/>
          <p:cNvSpPr>
            <a:spLocks noGrp="1" noChangeArrowheads="1"/>
          </p:cNvSpPr>
          <p:nvPr>
            <p:ph type="body" idx="4294967295"/>
          </p:nvPr>
        </p:nvSpPr>
        <p:spPr>
          <a:xfrm>
            <a:off x="0" y="1600200"/>
            <a:ext cx="8229600" cy="4525963"/>
          </a:xfrm>
        </p:spPr>
        <p:txBody>
          <a:bodyPr/>
          <a:lstStyle/>
          <a:p>
            <a:r>
              <a:rPr lang="en-US" dirty="0"/>
              <a:t>Focus on procedures and functions.</a:t>
            </a:r>
          </a:p>
          <a:p>
            <a:r>
              <a:rPr lang="en-US" dirty="0"/>
              <a:t>Design the system by decomposing it based on the processes and functions.</a:t>
            </a:r>
          </a:p>
          <a:p>
            <a:r>
              <a:rPr lang="en-US" dirty="0"/>
              <a:t>Top-down algorithmic decomposition.</a:t>
            </a:r>
          </a:p>
          <a:p>
            <a:r>
              <a:rPr lang="en-US" dirty="0"/>
              <a:t>This approach separates data from procedures.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Effect transition="in" filter="blinds(horizontal)">
                                      <p:cBhvr>
                                        <p:cTn id="7" dur="500"/>
                                        <p:tgtEl>
                                          <p:spTgt spid="133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315">
                                            <p:txEl>
                                              <p:pRg st="1" end="1"/>
                                            </p:txEl>
                                          </p:spTgt>
                                        </p:tgtEl>
                                        <p:attrNameLst>
                                          <p:attrName>style.visibility</p:attrName>
                                        </p:attrNameLst>
                                      </p:cBhvr>
                                      <p:to>
                                        <p:strVal val="visible"/>
                                      </p:to>
                                    </p:set>
                                    <p:animEffect transition="in" filter="blinds(horizontal)">
                                      <p:cBhvr>
                                        <p:cTn id="12" dur="500"/>
                                        <p:tgtEl>
                                          <p:spTgt spid="133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315">
                                            <p:txEl>
                                              <p:pRg st="2" end="2"/>
                                            </p:txEl>
                                          </p:spTgt>
                                        </p:tgtEl>
                                        <p:attrNameLst>
                                          <p:attrName>style.visibility</p:attrName>
                                        </p:attrNameLst>
                                      </p:cBhvr>
                                      <p:to>
                                        <p:strVal val="visible"/>
                                      </p:to>
                                    </p:set>
                                    <p:animEffect transition="in" filter="blinds(horizontal)">
                                      <p:cBhvr>
                                        <p:cTn id="17" dur="500"/>
                                        <p:tgtEl>
                                          <p:spTgt spid="133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315">
                                            <p:txEl>
                                              <p:pRg st="3" end="3"/>
                                            </p:txEl>
                                          </p:spTgt>
                                        </p:tgtEl>
                                        <p:attrNameLst>
                                          <p:attrName>style.visibility</p:attrName>
                                        </p:attrNameLst>
                                      </p:cBhvr>
                                      <p:to>
                                        <p:strVal val="visible"/>
                                      </p:to>
                                    </p:set>
                                    <p:animEffect transition="in" filter="blinds(horizontal)">
                                      <p:cBhvr>
                                        <p:cTn id="22" dur="500"/>
                                        <p:tgtEl>
                                          <p:spTgt spid="133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TOP DOWN DESIGN"/>
          <p:cNvPicPr>
            <a:picLocks noChangeAspect="1" noChangeArrowheads="1"/>
          </p:cNvPicPr>
          <p:nvPr/>
        </p:nvPicPr>
        <p:blipFill>
          <a:blip r:embed="rId2"/>
          <a:srcRect/>
          <a:stretch>
            <a:fillRect/>
          </a:stretch>
        </p:blipFill>
        <p:spPr bwMode="auto">
          <a:xfrm>
            <a:off x="609599" y="1371600"/>
            <a:ext cx="8273697" cy="4476752"/>
          </a:xfrm>
          <a:prstGeom prst="rect">
            <a:avLst/>
          </a:prstGeom>
          <a:noFill/>
        </p:spPr>
      </p:pic>
      <p:sp>
        <p:nvSpPr>
          <p:cNvPr id="2" name="Rectangle 2">
            <a:extLst>
              <a:ext uri="{FF2B5EF4-FFF2-40B4-BE49-F238E27FC236}">
                <a16:creationId xmlns:a16="http://schemas.microsoft.com/office/drawing/2014/main" id="{6144A7FC-9723-A367-0571-BEE7E5DA2ECD}"/>
              </a:ext>
            </a:extLst>
          </p:cNvPr>
          <p:cNvSpPr txBox="1">
            <a:spLocks noChangeArrowheads="1"/>
          </p:cNvSpPr>
          <p:nvPr/>
        </p:nvSpPr>
        <p:spPr>
          <a:xfrm>
            <a:off x="0" y="274638"/>
            <a:ext cx="8229600" cy="1143000"/>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b="1"/>
              <a:t>Structured/Procedural Paradigm</a:t>
            </a:r>
            <a:endParaRPr lang="en-US" b="1" dirty="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2" descr="TOP DOWN ANALYSIS"/>
          <p:cNvPicPr>
            <a:picLocks noChangeAspect="1" noChangeArrowheads="1"/>
          </p:cNvPicPr>
          <p:nvPr/>
        </p:nvPicPr>
        <p:blipFill>
          <a:blip r:embed="rId2"/>
          <a:srcRect/>
          <a:stretch>
            <a:fillRect/>
          </a:stretch>
        </p:blipFill>
        <p:spPr bwMode="auto">
          <a:xfrm>
            <a:off x="1447800" y="2286000"/>
            <a:ext cx="6553200" cy="3302676"/>
          </a:xfrm>
          <a:prstGeom prst="rect">
            <a:avLst/>
          </a:prstGeom>
          <a:noFill/>
        </p:spPr>
      </p:pic>
      <p:sp>
        <p:nvSpPr>
          <p:cNvPr id="3" name="Title 2"/>
          <p:cNvSpPr>
            <a:spLocks noGrp="1"/>
          </p:cNvSpPr>
          <p:nvPr>
            <p:ph type="title"/>
          </p:nvPr>
        </p:nvSpPr>
        <p:spPr/>
        <p:txBody>
          <a:bodyPr/>
          <a:lstStyle/>
          <a:p>
            <a:r>
              <a:rPr lang="en-US" b="1" dirty="0"/>
              <a:t>Example:</a:t>
            </a:r>
          </a:p>
        </p:txBody>
      </p:sp>
      <p:sp>
        <p:nvSpPr>
          <p:cNvPr id="4" name="Content Placeholder 3"/>
          <p:cNvSpPr>
            <a:spLocks noGrp="1"/>
          </p:cNvSpPr>
          <p:nvPr>
            <p:ph idx="1"/>
          </p:nvPr>
        </p:nvSpPr>
        <p:spPr>
          <a:xfrm>
            <a:off x="822959" y="2133600"/>
            <a:ext cx="7543801" cy="3735494"/>
          </a:xfrm>
        </p:spPr>
        <p:txBody>
          <a:bodyPr/>
          <a:lstStyle/>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endParaRPr lang="en-US" dirty="0"/>
          </a:p>
        </p:txBody>
      </p:sp>
      <p:sp>
        <p:nvSpPr>
          <p:cNvPr id="3" name="Content Placeholder 2"/>
          <p:cNvSpPr>
            <a:spLocks noGrp="1"/>
          </p:cNvSpPr>
          <p:nvPr>
            <p:ph idx="1"/>
          </p:nvPr>
        </p:nvSpPr>
        <p:spPr/>
        <p:txBody>
          <a:bodyPr/>
          <a:lstStyle/>
          <a:p>
            <a:endParaRPr lang="en-US" dirty="0"/>
          </a:p>
        </p:txBody>
      </p:sp>
      <p:pic>
        <p:nvPicPr>
          <p:cNvPr id="62466" name="Picture 2" descr="TOP DOWN ANALYSIS"/>
          <p:cNvPicPr>
            <a:picLocks noChangeAspect="1" noChangeArrowheads="1"/>
          </p:cNvPicPr>
          <p:nvPr/>
        </p:nvPicPr>
        <p:blipFill>
          <a:blip r:embed="rId2"/>
          <a:srcRect/>
          <a:stretch>
            <a:fillRect/>
          </a:stretch>
        </p:blipFill>
        <p:spPr bwMode="auto">
          <a:xfrm>
            <a:off x="533400" y="1828800"/>
            <a:ext cx="7877908" cy="4267200"/>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a:xfrm>
            <a:off x="0" y="274638"/>
            <a:ext cx="8229600" cy="1143000"/>
          </a:xfrm>
        </p:spPr>
        <p:txBody>
          <a:bodyPr anchor="b"/>
          <a:lstStyle/>
          <a:p>
            <a:r>
              <a:rPr lang="en-US" b="1" dirty="0"/>
              <a:t>Drawbacks</a:t>
            </a:r>
          </a:p>
        </p:txBody>
      </p:sp>
      <p:sp>
        <p:nvSpPr>
          <p:cNvPr id="15363" name="Rectangle 3"/>
          <p:cNvSpPr>
            <a:spLocks noGrp="1" noChangeArrowheads="1"/>
          </p:cNvSpPr>
          <p:nvPr>
            <p:ph type="body" idx="4294967295"/>
          </p:nvPr>
        </p:nvSpPr>
        <p:spPr>
          <a:xfrm>
            <a:off x="0" y="1600200"/>
            <a:ext cx="8229600" cy="4525963"/>
          </a:xfrm>
        </p:spPr>
        <p:txBody>
          <a:bodyPr/>
          <a:lstStyle/>
          <a:p>
            <a:r>
              <a:rPr lang="en-US" dirty="0"/>
              <a:t>Interdependencies between various functions and processes.</a:t>
            </a:r>
          </a:p>
          <a:p>
            <a:r>
              <a:rPr lang="en-US" dirty="0"/>
              <a:t>Cannot be reused easily.</a:t>
            </a:r>
          </a:p>
          <a:p>
            <a:r>
              <a:rPr lang="en-US" dirty="0"/>
              <a:t>Data related to each function is not attached.</a:t>
            </a:r>
          </a:p>
          <a:p>
            <a:endParaRPr lang="en-US" dirty="0"/>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a:xfrm>
            <a:off x="0" y="274638"/>
            <a:ext cx="8229600" cy="1143000"/>
          </a:xfrm>
        </p:spPr>
        <p:txBody>
          <a:bodyPr anchor="b"/>
          <a:lstStyle/>
          <a:p>
            <a:r>
              <a:rPr lang="en-US" b="1" dirty="0"/>
              <a:t>Object-Oriented Paradigm</a:t>
            </a:r>
          </a:p>
        </p:txBody>
      </p:sp>
      <p:sp>
        <p:nvSpPr>
          <p:cNvPr id="16387" name="Rectangle 3"/>
          <p:cNvSpPr>
            <a:spLocks noGrp="1" noChangeArrowheads="1"/>
          </p:cNvSpPr>
          <p:nvPr>
            <p:ph type="body" idx="4294967295"/>
          </p:nvPr>
        </p:nvSpPr>
        <p:spPr>
          <a:xfrm>
            <a:off x="990600" y="1752600"/>
            <a:ext cx="8153400" cy="4267200"/>
          </a:xfrm>
        </p:spPr>
        <p:txBody>
          <a:bodyPr/>
          <a:lstStyle/>
          <a:p>
            <a:pPr>
              <a:lnSpc>
                <a:spcPct val="90000"/>
              </a:lnSpc>
            </a:pPr>
            <a:r>
              <a:rPr lang="en-US" dirty="0"/>
              <a:t>Describing the software solution in terms of collaborating objects, with responsibilities.</a:t>
            </a:r>
          </a:p>
          <a:p>
            <a:pPr lvl="1">
              <a:lnSpc>
                <a:spcPct val="90000"/>
              </a:lnSpc>
            </a:pPr>
            <a:r>
              <a:rPr lang="en-US" dirty="0"/>
              <a:t>Objects, </a:t>
            </a:r>
          </a:p>
          <a:p>
            <a:pPr lvl="1">
              <a:lnSpc>
                <a:spcPct val="90000"/>
              </a:lnSpc>
            </a:pPr>
            <a:r>
              <a:rPr lang="en-US" dirty="0"/>
              <a:t>classes, </a:t>
            </a:r>
          </a:p>
          <a:p>
            <a:pPr lvl="1">
              <a:lnSpc>
                <a:spcPct val="90000"/>
              </a:lnSpc>
            </a:pPr>
            <a:r>
              <a:rPr lang="en-US" dirty="0"/>
              <a:t>encapsulation, </a:t>
            </a:r>
          </a:p>
          <a:p>
            <a:pPr lvl="1">
              <a:lnSpc>
                <a:spcPct val="90000"/>
              </a:lnSpc>
            </a:pPr>
            <a:r>
              <a:rPr lang="en-US" dirty="0"/>
              <a:t>States,</a:t>
            </a:r>
          </a:p>
          <a:p>
            <a:pPr lvl="1">
              <a:lnSpc>
                <a:spcPct val="90000"/>
              </a:lnSpc>
            </a:pPr>
            <a:r>
              <a:rPr lang="en-US" dirty="0"/>
              <a:t>inheritance, </a:t>
            </a:r>
          </a:p>
          <a:p>
            <a:pPr lvl="1">
              <a:lnSpc>
                <a:spcPct val="90000"/>
              </a:lnSpc>
            </a:pPr>
            <a:r>
              <a:rPr lang="en-US" dirty="0"/>
              <a:t>composition, </a:t>
            </a:r>
          </a:p>
          <a:p>
            <a:pPr lvl="1">
              <a:lnSpc>
                <a:spcPct val="90000"/>
              </a:lnSpc>
            </a:pPr>
            <a:r>
              <a:rPr lang="en-US" dirty="0"/>
              <a:t>polymorphism </a:t>
            </a:r>
            <a:endParaRPr lang="en-US" sz="6600" dirty="0"/>
          </a:p>
          <a:p>
            <a:pPr>
              <a:lnSpc>
                <a:spcPct val="90000"/>
              </a:lnSpc>
            </a:pPr>
            <a:endParaRPr lang="en-US" dirty="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a:xfrm>
            <a:off x="0" y="274638"/>
            <a:ext cx="8229600" cy="1143000"/>
          </a:xfrm>
        </p:spPr>
        <p:txBody>
          <a:bodyPr anchor="b"/>
          <a:lstStyle/>
          <a:p>
            <a:r>
              <a:rPr lang="en-US" b="1" dirty="0"/>
              <a:t>Object-Oriented Design</a:t>
            </a:r>
          </a:p>
        </p:txBody>
      </p:sp>
      <p:sp>
        <p:nvSpPr>
          <p:cNvPr id="17411" name="Rectangle 3"/>
          <p:cNvSpPr>
            <a:spLocks noGrp="1" noChangeArrowheads="1"/>
          </p:cNvSpPr>
          <p:nvPr>
            <p:ph type="body" idx="4294967295"/>
          </p:nvPr>
        </p:nvSpPr>
        <p:spPr>
          <a:xfrm>
            <a:off x="0" y="1600200"/>
            <a:ext cx="8229600" cy="4525963"/>
          </a:xfrm>
        </p:spPr>
        <p:txBody>
          <a:bodyPr/>
          <a:lstStyle/>
          <a:p>
            <a:r>
              <a:rPr lang="en-US" dirty="0"/>
              <a:t>Bottom-up</a:t>
            </a:r>
          </a:p>
          <a:p>
            <a:pPr lvl="1"/>
            <a:r>
              <a:rPr lang="en-US" dirty="0"/>
              <a:t>Encapsulate data and procedures in objects and classes.</a:t>
            </a:r>
          </a:p>
          <a:p>
            <a:pPr lvl="1"/>
            <a:r>
              <a:rPr lang="en-US" dirty="0"/>
              <a:t>Refinement in classes lead to a composed larger system.</a:t>
            </a:r>
          </a:p>
          <a:p>
            <a:endParaRPr lang="en-US" dirty="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a:xfrm>
            <a:off x="0" y="274638"/>
            <a:ext cx="8229600" cy="1143000"/>
          </a:xfrm>
        </p:spPr>
        <p:txBody>
          <a:bodyPr anchor="b"/>
          <a:lstStyle/>
          <a:p>
            <a:r>
              <a:rPr lang="en-US" b="1" dirty="0"/>
              <a:t>Benefits</a:t>
            </a:r>
          </a:p>
        </p:txBody>
      </p:sp>
      <p:sp>
        <p:nvSpPr>
          <p:cNvPr id="18435" name="Rectangle 3"/>
          <p:cNvSpPr>
            <a:spLocks noGrp="1" noChangeArrowheads="1"/>
          </p:cNvSpPr>
          <p:nvPr>
            <p:ph type="body" idx="4294967295"/>
          </p:nvPr>
        </p:nvSpPr>
        <p:spPr>
          <a:xfrm>
            <a:off x="0" y="1600200"/>
            <a:ext cx="8229600" cy="4525963"/>
          </a:xfrm>
        </p:spPr>
        <p:txBody>
          <a:bodyPr/>
          <a:lstStyle/>
          <a:p>
            <a:pPr algn="just">
              <a:lnSpc>
                <a:spcPct val="80000"/>
              </a:lnSpc>
            </a:pPr>
            <a:r>
              <a:rPr lang="en-US" sz="2800" dirty="0"/>
              <a:t>Enjoys all the benefits of Modular approach</a:t>
            </a:r>
          </a:p>
          <a:p>
            <a:pPr algn="just">
              <a:lnSpc>
                <a:spcPct val="80000"/>
              </a:lnSpc>
            </a:pPr>
            <a:r>
              <a:rPr lang="en-US" sz="2800" dirty="0"/>
              <a:t>Dependencies can be handled by finding the commonalities through inheritance and polymorphism.</a:t>
            </a:r>
          </a:p>
          <a:p>
            <a:pPr algn="just">
              <a:lnSpc>
                <a:spcPct val="80000"/>
              </a:lnSpc>
            </a:pPr>
            <a:endParaRPr lang="en-US" sz="2800" dirty="0"/>
          </a:p>
          <a:p>
            <a:pPr algn="just">
              <a:lnSpc>
                <a:spcPct val="80000"/>
              </a:lnSpc>
            </a:pPr>
            <a:r>
              <a:rPr lang="en-US" sz="2800" dirty="0"/>
              <a:t>Naturalness</a:t>
            </a:r>
          </a:p>
          <a:p>
            <a:pPr lvl="1" algn="just">
              <a:lnSpc>
                <a:spcPct val="80000"/>
              </a:lnSpc>
            </a:pPr>
            <a:r>
              <a:rPr lang="en-US" sz="2400" dirty="0"/>
              <a:t>OO paradigm models the real world better because everything in real world is an object.</a:t>
            </a:r>
          </a:p>
          <a:p>
            <a:pPr algn="just">
              <a:lnSpc>
                <a:spcPct val="80000"/>
              </a:lnSpc>
            </a:pPr>
            <a:r>
              <a:rPr lang="en-US" sz="2800" dirty="0"/>
              <a:t>Reusability</a:t>
            </a:r>
          </a:p>
          <a:p>
            <a:pPr lvl="1" algn="just">
              <a:lnSpc>
                <a:spcPct val="80000"/>
              </a:lnSpc>
            </a:pPr>
            <a:r>
              <a:rPr lang="en-US" sz="2400" dirty="0"/>
              <a:t>Using the existing classes or components in future design, without much effort.</a:t>
            </a:r>
          </a:p>
          <a:p>
            <a:pPr lvl="1" algn="just">
              <a:lnSpc>
                <a:spcPct val="80000"/>
              </a:lnSpc>
            </a:pPr>
            <a:endParaRPr lang="en-US" sz="3000" b="1" dirty="0"/>
          </a:p>
          <a:p>
            <a:pPr algn="just">
              <a:lnSpc>
                <a:spcPct val="80000"/>
              </a:lnSpc>
            </a:pPr>
            <a:endParaRPr lang="en-US" sz="3400"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blinds(horizontal)">
                                      <p:cBhvr>
                                        <p:cTn id="7" dur="500"/>
                                        <p:tgtEl>
                                          <p:spTgt spid="184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435">
                                            <p:txEl>
                                              <p:pRg st="1" end="1"/>
                                            </p:txEl>
                                          </p:spTgt>
                                        </p:tgtEl>
                                        <p:attrNameLst>
                                          <p:attrName>style.visibility</p:attrName>
                                        </p:attrNameLst>
                                      </p:cBhvr>
                                      <p:to>
                                        <p:strVal val="visible"/>
                                      </p:to>
                                    </p:set>
                                    <p:animEffect transition="in" filter="blinds(horizontal)">
                                      <p:cBhvr>
                                        <p:cTn id="12" dur="500"/>
                                        <p:tgtEl>
                                          <p:spTgt spid="184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8435">
                                            <p:txEl>
                                              <p:pRg st="3" end="3"/>
                                            </p:txEl>
                                          </p:spTgt>
                                        </p:tgtEl>
                                        <p:attrNameLst>
                                          <p:attrName>style.visibility</p:attrName>
                                        </p:attrNameLst>
                                      </p:cBhvr>
                                      <p:to>
                                        <p:strVal val="visible"/>
                                      </p:to>
                                    </p:set>
                                    <p:animEffect transition="in" filter="blinds(horizontal)">
                                      <p:cBhvr>
                                        <p:cTn id="17" dur="500"/>
                                        <p:tgtEl>
                                          <p:spTgt spid="18435">
                                            <p:txEl>
                                              <p:pRg st="3" end="3"/>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18435">
                                            <p:txEl>
                                              <p:pRg st="4" end="4"/>
                                            </p:txEl>
                                          </p:spTgt>
                                        </p:tgtEl>
                                        <p:attrNameLst>
                                          <p:attrName>style.visibility</p:attrName>
                                        </p:attrNameLst>
                                      </p:cBhvr>
                                      <p:to>
                                        <p:strVal val="visible"/>
                                      </p:to>
                                    </p:set>
                                    <p:animEffect transition="in" filter="blinds(horizontal)">
                                      <p:cBhvr>
                                        <p:cTn id="20" dur="500"/>
                                        <p:tgtEl>
                                          <p:spTgt spid="18435">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8435">
                                            <p:txEl>
                                              <p:pRg st="5" end="5"/>
                                            </p:txEl>
                                          </p:spTgt>
                                        </p:tgtEl>
                                        <p:attrNameLst>
                                          <p:attrName>style.visibility</p:attrName>
                                        </p:attrNameLst>
                                      </p:cBhvr>
                                      <p:to>
                                        <p:strVal val="visible"/>
                                      </p:to>
                                    </p:set>
                                    <p:animEffect transition="in" filter="blinds(horizontal)">
                                      <p:cBhvr>
                                        <p:cTn id="25" dur="500"/>
                                        <p:tgtEl>
                                          <p:spTgt spid="18435">
                                            <p:txEl>
                                              <p:pRg st="5" end="5"/>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8435">
                                            <p:txEl>
                                              <p:pRg st="6" end="6"/>
                                            </p:txEl>
                                          </p:spTgt>
                                        </p:tgtEl>
                                        <p:attrNameLst>
                                          <p:attrName>style.visibility</p:attrName>
                                        </p:attrNameLst>
                                      </p:cBhvr>
                                      <p:to>
                                        <p:strVal val="visible"/>
                                      </p:to>
                                    </p:set>
                                    <p:animEffect transition="in" filter="blinds(horizontal)">
                                      <p:cBhvr>
                                        <p:cTn id="28" dur="500"/>
                                        <p:tgtEl>
                                          <p:spTgt spid="1843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4294967295"/>
          </p:nvPr>
        </p:nvSpPr>
        <p:spPr>
          <a:xfrm>
            <a:off x="0" y="2666999"/>
            <a:ext cx="8229600" cy="3413125"/>
          </a:xfrm>
        </p:spPr>
        <p:txBody>
          <a:bodyPr/>
          <a:lstStyle/>
          <a:p>
            <a:r>
              <a:rPr lang="en-US" b="1" i="1" dirty="0"/>
              <a:t>If OO design is incorrect, the implementation derived from the design in an OOP language would be very complex.</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idx="4294967295"/>
          </p:nvPr>
        </p:nvSpPr>
        <p:spPr>
          <a:xfrm>
            <a:off x="0" y="228600"/>
            <a:ext cx="8001000" cy="914400"/>
          </a:xfrm>
        </p:spPr>
        <p:txBody>
          <a:bodyPr anchor="b"/>
          <a:lstStyle/>
          <a:p>
            <a:pPr algn="just"/>
            <a:r>
              <a:rPr lang="en-GB" b="1" dirty="0"/>
              <a:t>Case Study : Fire Alarm</a:t>
            </a:r>
          </a:p>
        </p:txBody>
      </p:sp>
      <p:sp>
        <p:nvSpPr>
          <p:cNvPr id="20483" name="Content Placeholder 2"/>
          <p:cNvSpPr>
            <a:spLocks noGrp="1"/>
          </p:cNvSpPr>
          <p:nvPr>
            <p:ph idx="4294967295"/>
          </p:nvPr>
        </p:nvSpPr>
        <p:spPr>
          <a:xfrm>
            <a:off x="304800" y="1219200"/>
            <a:ext cx="7696200" cy="4267200"/>
          </a:xfrm>
        </p:spPr>
        <p:txBody>
          <a:bodyPr>
            <a:normAutofit/>
          </a:bodyPr>
          <a:lstStyle/>
          <a:p>
            <a:pPr algn="just">
              <a:buFont typeface="Arial" panose="020B0604020202020204" pitchFamily="34" charset="0"/>
              <a:buChar char="•"/>
            </a:pPr>
            <a:r>
              <a:rPr lang="en-GB" sz="2800" dirty="0"/>
              <a:t>The owner of a large multi-stored building wants to have a computerized fire alarm system for his building.</a:t>
            </a:r>
          </a:p>
          <a:p>
            <a:pPr algn="just">
              <a:buFont typeface="Arial" panose="020B0604020202020204" pitchFamily="34" charset="0"/>
              <a:buChar char="•"/>
            </a:pPr>
            <a:endParaRPr lang="en-GB" sz="2800" dirty="0"/>
          </a:p>
          <a:p>
            <a:pPr algn="just">
              <a:buFont typeface="Arial" panose="020B0604020202020204" pitchFamily="34" charset="0"/>
              <a:buChar char="•"/>
            </a:pPr>
            <a:r>
              <a:rPr lang="en-GB" sz="2800" dirty="0"/>
              <a:t>Smoke detectors and fire alarms would be placed in each room of the building. </a:t>
            </a:r>
          </a:p>
          <a:p>
            <a:pPr algn="just">
              <a:buFont typeface="Arial" panose="020B0604020202020204" pitchFamily="34" charset="0"/>
              <a:buChar char="•"/>
            </a:pPr>
            <a:endParaRPr lang="en-GB" sz="2800" dirty="0"/>
          </a:p>
          <a:p>
            <a:pPr algn="just">
              <a:buFont typeface="Arial" panose="020B0604020202020204" pitchFamily="34" charset="0"/>
              <a:buChar char="•"/>
            </a:pPr>
            <a:r>
              <a:rPr lang="en-GB" sz="2800" dirty="0"/>
              <a:t>The fire alarm system would monitor the status of these smoke detectors. </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GB" dirty="0"/>
              <a:t>Whenever a fire condition is reported by any of the smoke detectors, the fire alarm system should determine the location at which the fire condition is reported by any of the smoke detectors, the fire alarm system should determine the location at which the fire condition has occurred and then sound the alarms only in the neighbouring locations. </a:t>
            </a:r>
          </a:p>
          <a:p>
            <a:endParaRPr lang="en-US" dirty="0"/>
          </a:p>
        </p:txBody>
      </p:sp>
      <p:sp>
        <p:nvSpPr>
          <p:cNvPr id="5" name="TextBox 4">
            <a:extLst>
              <a:ext uri="{FF2B5EF4-FFF2-40B4-BE49-F238E27FC236}">
                <a16:creationId xmlns:a16="http://schemas.microsoft.com/office/drawing/2014/main" id="{6A329B38-47BD-5C03-7D04-976F561F96BB}"/>
              </a:ext>
            </a:extLst>
          </p:cNvPr>
          <p:cNvSpPr txBox="1"/>
          <p:nvPr/>
        </p:nvSpPr>
        <p:spPr>
          <a:xfrm>
            <a:off x="914400" y="1143000"/>
            <a:ext cx="4572000" cy="369332"/>
          </a:xfrm>
          <a:prstGeom prst="rect">
            <a:avLst/>
          </a:prstGeom>
          <a:noFill/>
        </p:spPr>
        <p:txBody>
          <a:bodyPr wrap="square">
            <a:spAutoFit/>
          </a:bodyPr>
          <a:lstStyle/>
          <a:p>
            <a:r>
              <a:rPr lang="en-GB" b="1" dirty="0"/>
              <a:t>Case Study : Fire Alarm</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GB" dirty="0"/>
              <a:t>The fire alarm system should also flash an alarm message on the computer console. Fire fighting personnel man the console round the clock.</a:t>
            </a:r>
          </a:p>
          <a:p>
            <a:endParaRPr lang="en-GB" dirty="0"/>
          </a:p>
          <a:p>
            <a:pPr algn="just"/>
            <a:r>
              <a:rPr lang="en-GB" dirty="0"/>
              <a:t> After a fire condition has been successfully handled, the fire alarm system should support resetting the alarms by the fire fighting personnel. </a:t>
            </a:r>
          </a:p>
          <a:p>
            <a:endParaRPr lang="en-US" dirty="0"/>
          </a:p>
        </p:txBody>
      </p:sp>
      <p:sp>
        <p:nvSpPr>
          <p:cNvPr id="4" name="TextBox 3">
            <a:extLst>
              <a:ext uri="{FF2B5EF4-FFF2-40B4-BE49-F238E27FC236}">
                <a16:creationId xmlns:a16="http://schemas.microsoft.com/office/drawing/2014/main" id="{D8A728D0-EDBE-F492-920D-C1BD6E541744}"/>
              </a:ext>
            </a:extLst>
          </p:cNvPr>
          <p:cNvSpPr txBox="1"/>
          <p:nvPr/>
        </p:nvSpPr>
        <p:spPr>
          <a:xfrm>
            <a:off x="914400" y="1143000"/>
            <a:ext cx="4572000" cy="369332"/>
          </a:xfrm>
          <a:prstGeom prst="rect">
            <a:avLst/>
          </a:prstGeom>
          <a:noFill/>
        </p:spPr>
        <p:txBody>
          <a:bodyPr wrap="square">
            <a:spAutoFit/>
          </a:bodyPr>
          <a:lstStyle/>
          <a:p>
            <a:r>
              <a:rPr lang="en-GB" b="1" dirty="0"/>
              <a:t>Case Study : Fire Alarm</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idx="4294967295"/>
          </p:nvPr>
        </p:nvSpPr>
        <p:spPr>
          <a:xfrm>
            <a:off x="0" y="762000"/>
            <a:ext cx="8229600" cy="487363"/>
          </a:xfrm>
        </p:spPr>
        <p:txBody>
          <a:bodyPr anchor="b">
            <a:normAutofit fontScale="90000"/>
          </a:bodyPr>
          <a:lstStyle/>
          <a:p>
            <a:r>
              <a:rPr lang="en-GB" sz="3900" b="1" dirty="0">
                <a:solidFill>
                  <a:schemeClr val="tx1"/>
                </a:solidFill>
              </a:rPr>
              <a:t>Function-Oriented Approach</a:t>
            </a:r>
            <a:endParaRPr lang="en-GB" sz="5700" b="1" dirty="0">
              <a:solidFill>
                <a:schemeClr val="tx1"/>
              </a:solidFill>
            </a:endParaRPr>
          </a:p>
        </p:txBody>
      </p:sp>
      <p:sp>
        <p:nvSpPr>
          <p:cNvPr id="21507" name="Content Placeholder 2"/>
          <p:cNvSpPr>
            <a:spLocks noGrp="1"/>
          </p:cNvSpPr>
          <p:nvPr>
            <p:ph idx="4294967295"/>
          </p:nvPr>
        </p:nvSpPr>
        <p:spPr>
          <a:xfrm>
            <a:off x="0" y="1600200"/>
            <a:ext cx="8229600" cy="4525963"/>
          </a:xfrm>
        </p:spPr>
        <p:txBody>
          <a:bodyPr>
            <a:normAutofit/>
          </a:bodyPr>
          <a:lstStyle/>
          <a:p>
            <a:r>
              <a:rPr lang="en-GB" sz="2500" b="1" dirty="0"/>
              <a:t>/* Global data (system state) accessible by various functions */ </a:t>
            </a:r>
          </a:p>
          <a:p>
            <a:r>
              <a:rPr lang="en-GB" sz="2500" dirty="0"/>
              <a:t>BOOL </a:t>
            </a:r>
            <a:r>
              <a:rPr lang="en-GB" sz="2500" dirty="0" err="1"/>
              <a:t>detector_status</a:t>
            </a:r>
            <a:r>
              <a:rPr lang="en-GB" sz="2500" dirty="0"/>
              <a:t>[MAX_ROOMS]; </a:t>
            </a:r>
          </a:p>
          <a:p>
            <a:r>
              <a:rPr lang="en-GB" sz="2500" dirty="0" err="1"/>
              <a:t>int</a:t>
            </a:r>
            <a:r>
              <a:rPr lang="en-GB" sz="2500" dirty="0"/>
              <a:t> </a:t>
            </a:r>
            <a:r>
              <a:rPr lang="en-GB" sz="2500" dirty="0" err="1"/>
              <a:t>detector_locs</a:t>
            </a:r>
            <a:r>
              <a:rPr lang="en-GB" sz="2500" dirty="0"/>
              <a:t>[MAX_ROOMS]; </a:t>
            </a:r>
          </a:p>
          <a:p>
            <a:r>
              <a:rPr lang="en-GB" sz="2500" dirty="0"/>
              <a:t>BOOL </a:t>
            </a:r>
            <a:r>
              <a:rPr lang="en-GB" sz="2500" dirty="0" err="1"/>
              <a:t>alarm_status</a:t>
            </a:r>
            <a:r>
              <a:rPr lang="en-GB" sz="2500" dirty="0"/>
              <a:t>[MAX_ROOMS]; </a:t>
            </a:r>
          </a:p>
          <a:p>
            <a:pPr lvl="1"/>
            <a:r>
              <a:rPr lang="en-GB" sz="2100" dirty="0"/>
              <a:t>/* alarm activated when status is set */ </a:t>
            </a:r>
          </a:p>
          <a:p>
            <a:r>
              <a:rPr lang="en-GB" sz="2500" dirty="0" err="1"/>
              <a:t>int</a:t>
            </a:r>
            <a:r>
              <a:rPr lang="en-GB" sz="2500" dirty="0"/>
              <a:t> </a:t>
            </a:r>
            <a:r>
              <a:rPr lang="en-GB" sz="2500" dirty="0" err="1"/>
              <a:t>alarm_locs</a:t>
            </a:r>
            <a:r>
              <a:rPr lang="en-GB" sz="2500" dirty="0"/>
              <a:t>[MAX_ROOMS]; </a:t>
            </a:r>
          </a:p>
          <a:p>
            <a:pPr lvl="1"/>
            <a:r>
              <a:rPr lang="en-GB" sz="2100" dirty="0"/>
              <a:t>/* room number where alarm is located */ </a:t>
            </a:r>
          </a:p>
          <a:p>
            <a:r>
              <a:rPr lang="en-GB" sz="2500" dirty="0" err="1"/>
              <a:t>int</a:t>
            </a:r>
            <a:r>
              <a:rPr lang="en-GB" sz="2500" dirty="0"/>
              <a:t> </a:t>
            </a:r>
            <a:r>
              <a:rPr lang="en-GB" sz="2500" dirty="0" err="1"/>
              <a:t>neighbor</a:t>
            </a:r>
            <a:r>
              <a:rPr lang="en-GB" sz="2500" dirty="0"/>
              <a:t>-alarm[MAX_ROOMS][10]; </a:t>
            </a:r>
          </a:p>
          <a:p>
            <a:pPr lvl="1"/>
            <a:r>
              <a:rPr lang="en-GB" sz="2100" dirty="0"/>
              <a:t>/* each detector has </a:t>
            </a:r>
            <a:r>
              <a:rPr lang="en-GB" sz="2100" dirty="0" err="1"/>
              <a:t>atmost</a:t>
            </a:r>
            <a:r>
              <a:rPr lang="en-GB" sz="2100" dirty="0"/>
              <a:t> 10 </a:t>
            </a:r>
            <a:r>
              <a:rPr lang="en-GB" sz="2100" dirty="0" err="1"/>
              <a:t>neighboring</a:t>
            </a:r>
            <a:r>
              <a:rPr lang="en-GB" sz="2100" dirty="0"/>
              <a:t> locations */ </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idx="4294967295"/>
          </p:nvPr>
        </p:nvSpPr>
        <p:spPr>
          <a:xfrm>
            <a:off x="0" y="274638"/>
            <a:ext cx="8229600" cy="1143000"/>
          </a:xfrm>
        </p:spPr>
        <p:txBody>
          <a:bodyPr anchor="b">
            <a:normAutofit/>
          </a:bodyPr>
          <a:lstStyle/>
          <a:p>
            <a:r>
              <a:rPr lang="en-GB" sz="3900" b="1">
                <a:solidFill>
                  <a:schemeClr val="tx1"/>
                </a:solidFill>
              </a:rPr>
              <a:t>Function-Oriented Approach</a:t>
            </a:r>
          </a:p>
        </p:txBody>
      </p:sp>
      <p:sp>
        <p:nvSpPr>
          <p:cNvPr id="22531" name="Content Placeholder 2"/>
          <p:cNvSpPr>
            <a:spLocks noGrp="1"/>
          </p:cNvSpPr>
          <p:nvPr>
            <p:ph idx="4294967295"/>
          </p:nvPr>
        </p:nvSpPr>
        <p:spPr>
          <a:xfrm>
            <a:off x="0" y="1600200"/>
            <a:ext cx="8229600" cy="4525963"/>
          </a:xfrm>
        </p:spPr>
        <p:txBody>
          <a:bodyPr/>
          <a:lstStyle/>
          <a:p>
            <a:pPr>
              <a:buFontTx/>
              <a:buNone/>
            </a:pPr>
            <a:r>
              <a:rPr lang="en-GB" sz="3400"/>
              <a:t>The functions which operate on the system state are: </a:t>
            </a:r>
          </a:p>
          <a:p>
            <a:pPr lvl="1"/>
            <a:r>
              <a:rPr lang="en-GB"/>
              <a:t>interrogate_detectors();</a:t>
            </a:r>
          </a:p>
          <a:p>
            <a:pPr lvl="1"/>
            <a:r>
              <a:rPr lang="en-GB"/>
              <a:t>get_detector_location();</a:t>
            </a:r>
          </a:p>
          <a:p>
            <a:pPr lvl="1"/>
            <a:r>
              <a:rPr lang="en-GB"/>
              <a:t>report_fire_location();</a:t>
            </a:r>
          </a:p>
          <a:p>
            <a:pPr lvl="1"/>
            <a:r>
              <a:rPr lang="en-GB"/>
              <a:t>determine_neighbor();</a:t>
            </a:r>
          </a:p>
          <a:p>
            <a:pPr lvl="1"/>
            <a:r>
              <a:rPr lang="en-GB"/>
              <a:t>ring_alarm(); </a:t>
            </a:r>
          </a:p>
          <a:p>
            <a:pPr lvl="1"/>
            <a:r>
              <a:rPr lang="en-GB"/>
              <a:t>reset_alarm();</a:t>
            </a:r>
          </a:p>
          <a:p>
            <a:endParaRPr lang="en-GB" sz="280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idx="4294967295"/>
          </p:nvPr>
        </p:nvSpPr>
        <p:spPr>
          <a:xfrm>
            <a:off x="0" y="685800"/>
            <a:ext cx="8229600" cy="427038"/>
          </a:xfrm>
        </p:spPr>
        <p:txBody>
          <a:bodyPr anchor="b">
            <a:normAutofit fontScale="90000"/>
          </a:bodyPr>
          <a:lstStyle/>
          <a:p>
            <a:r>
              <a:rPr lang="en-GB" sz="3900" b="1">
                <a:solidFill>
                  <a:schemeClr val="tx1"/>
                </a:solidFill>
              </a:rPr>
              <a:t>Object-Oriented Approach</a:t>
            </a:r>
            <a:endParaRPr lang="en-GB"/>
          </a:p>
        </p:txBody>
      </p:sp>
      <p:sp>
        <p:nvSpPr>
          <p:cNvPr id="3" name="Content Placeholder 2"/>
          <p:cNvSpPr>
            <a:spLocks noGrp="1"/>
          </p:cNvSpPr>
          <p:nvPr>
            <p:ph idx="4294967295"/>
          </p:nvPr>
        </p:nvSpPr>
        <p:spPr>
          <a:xfrm>
            <a:off x="566738" y="1295400"/>
            <a:ext cx="8577262" cy="5562600"/>
          </a:xfrm>
        </p:spPr>
        <p:txBody>
          <a:bodyPr/>
          <a:lstStyle/>
          <a:p>
            <a:r>
              <a:rPr lang="en-GB"/>
              <a:t>class detector </a:t>
            </a:r>
          </a:p>
          <a:p>
            <a:pPr lvl="1"/>
            <a:r>
              <a:rPr lang="en-GB"/>
              <a:t>attributes </a:t>
            </a:r>
          </a:p>
          <a:p>
            <a:pPr lvl="2"/>
            <a:r>
              <a:rPr lang="en-GB"/>
              <a:t>status, location, neighbors </a:t>
            </a:r>
          </a:p>
          <a:p>
            <a:pPr lvl="1"/>
            <a:r>
              <a:rPr lang="en-GB"/>
              <a:t>operations </a:t>
            </a:r>
          </a:p>
          <a:p>
            <a:pPr lvl="2"/>
            <a:r>
              <a:rPr lang="en-GB"/>
              <a:t>create, sense-status, get-location, find-neighbors </a:t>
            </a:r>
          </a:p>
          <a:p>
            <a:r>
              <a:rPr lang="en-GB"/>
              <a:t>class alarm </a:t>
            </a:r>
          </a:p>
          <a:p>
            <a:pPr lvl="1"/>
            <a:r>
              <a:rPr lang="en-GB"/>
              <a:t>attributes </a:t>
            </a:r>
          </a:p>
          <a:p>
            <a:pPr lvl="2"/>
            <a:r>
              <a:rPr lang="en-GB"/>
              <a:t>location, status </a:t>
            </a:r>
          </a:p>
          <a:p>
            <a:pPr lvl="1"/>
            <a:r>
              <a:rPr lang="en-GB" sz="3100"/>
              <a:t>operations</a:t>
            </a:r>
            <a:r>
              <a:rPr lang="en-GB"/>
              <a:t> </a:t>
            </a:r>
          </a:p>
          <a:p>
            <a:pPr lvl="2"/>
            <a:r>
              <a:rPr lang="en-GB"/>
              <a:t>create, ring-alarm, get_location, reset-alarm </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idx="4294967295"/>
          </p:nvPr>
        </p:nvSpPr>
        <p:spPr>
          <a:xfrm>
            <a:off x="0" y="274638"/>
            <a:ext cx="8229600" cy="1143000"/>
          </a:xfrm>
        </p:spPr>
        <p:txBody>
          <a:bodyPr anchor="b"/>
          <a:lstStyle/>
          <a:p>
            <a:r>
              <a:rPr lang="en-US" b="1" dirty="0"/>
              <a:t>Structured vs. OO Paradigm</a:t>
            </a:r>
          </a:p>
        </p:txBody>
      </p:sp>
      <p:sp>
        <p:nvSpPr>
          <p:cNvPr id="24579" name="Rectangle 3"/>
          <p:cNvSpPr>
            <a:spLocks noGrp="1" noChangeArrowheads="1"/>
          </p:cNvSpPr>
          <p:nvPr>
            <p:ph type="body" idx="4294967295"/>
          </p:nvPr>
        </p:nvSpPr>
        <p:spPr>
          <a:xfrm>
            <a:off x="228600" y="1600200"/>
            <a:ext cx="7772400" cy="4724400"/>
          </a:xfrm>
        </p:spPr>
        <p:txBody>
          <a:bodyPr>
            <a:normAutofit/>
          </a:bodyPr>
          <a:lstStyle/>
          <a:p>
            <a:pPr algn="just"/>
            <a:r>
              <a:rPr lang="en-US" sz="2600" dirty="0"/>
              <a:t>In </a:t>
            </a:r>
            <a:r>
              <a:rPr lang="en-US" sz="2600" b="1" dirty="0"/>
              <a:t>structured design</a:t>
            </a:r>
            <a:r>
              <a:rPr lang="en-US" sz="2600" dirty="0"/>
              <a:t>, data and functions are kept separately. </a:t>
            </a:r>
          </a:p>
          <a:p>
            <a:pPr algn="just"/>
            <a:r>
              <a:rPr lang="en-US" sz="2600" dirty="0"/>
              <a:t>Usually all of the data are placed before any of the functions are written. </a:t>
            </a:r>
          </a:p>
          <a:p>
            <a:pPr algn="just"/>
            <a:r>
              <a:rPr lang="en-US" sz="2600" dirty="0"/>
              <a:t>Sometimes, it is not intuitively known which data works with which function. </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Structured vs. OO Paradigm</a:t>
            </a:r>
          </a:p>
        </p:txBody>
      </p:sp>
      <p:sp>
        <p:nvSpPr>
          <p:cNvPr id="3" name="Content Placeholder 2"/>
          <p:cNvSpPr>
            <a:spLocks noGrp="1"/>
          </p:cNvSpPr>
          <p:nvPr>
            <p:ph idx="1"/>
          </p:nvPr>
        </p:nvSpPr>
        <p:spPr/>
        <p:txBody>
          <a:bodyPr/>
          <a:lstStyle/>
          <a:p>
            <a:r>
              <a:rPr lang="en-US" dirty="0"/>
              <a:t>In </a:t>
            </a:r>
            <a:r>
              <a:rPr lang="en-US" b="1" dirty="0"/>
              <a:t>OO design</a:t>
            </a:r>
            <a:r>
              <a:rPr lang="en-US" dirty="0"/>
              <a:t>, the related data and functions of an object are placed together within one unit. </a:t>
            </a:r>
          </a:p>
          <a:p>
            <a:r>
              <a:rPr lang="en-US" dirty="0"/>
              <a:t>In Structured approach abstraction exists in functions unlike OO approach where abstraction is in terms of objects</a:t>
            </a:r>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Design Goals and trade-offs</a:t>
            </a:r>
          </a:p>
        </p:txBody>
      </p:sp>
      <p:sp>
        <p:nvSpPr>
          <p:cNvPr id="5" name="Text Placeholder 4"/>
          <p:cNvSpPr>
            <a:spLocks noGrp="1"/>
          </p:cNvSpPr>
          <p:nvPr>
            <p:ph type="body" idx="1"/>
          </p:nvPr>
        </p:nvSpPr>
        <p:spPr/>
        <p:txBody>
          <a:bodyPr/>
          <a:lstStyle/>
          <a:p>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List of Design Goals</a:t>
            </a:r>
            <a:br>
              <a:rPr lang="en-US" b="1" dirty="0"/>
            </a:br>
            <a:endParaRPr lang="en-US" b="1" dirty="0"/>
          </a:p>
        </p:txBody>
      </p:sp>
      <p:sp>
        <p:nvSpPr>
          <p:cNvPr id="3" name="Content Placeholder 2"/>
          <p:cNvSpPr>
            <a:spLocks noGrp="1"/>
          </p:cNvSpPr>
          <p:nvPr>
            <p:ph sz="half" idx="1"/>
          </p:nvPr>
        </p:nvSpPr>
        <p:spPr>
          <a:xfrm>
            <a:off x="457200" y="1905001"/>
            <a:ext cx="4038600" cy="3733800"/>
          </a:xfrm>
        </p:spPr>
        <p:txBody>
          <a:bodyPr>
            <a:noAutofit/>
          </a:bodyPr>
          <a:lstStyle/>
          <a:p>
            <a:pPr>
              <a:buFont typeface="Arial" panose="020B0604020202020204" pitchFamily="34" charset="0"/>
              <a:buChar char="•"/>
            </a:pPr>
            <a:r>
              <a:rPr lang="en-US" sz="1400" dirty="0"/>
              <a:t>Reliability</a:t>
            </a:r>
          </a:p>
          <a:p>
            <a:pPr>
              <a:buFont typeface="Arial" panose="020B0604020202020204" pitchFamily="34" charset="0"/>
              <a:buChar char="•"/>
            </a:pPr>
            <a:r>
              <a:rPr lang="en-US" sz="1400" dirty="0"/>
              <a:t>Modifiability</a:t>
            </a:r>
          </a:p>
          <a:p>
            <a:pPr>
              <a:buFont typeface="Arial" panose="020B0604020202020204" pitchFamily="34" charset="0"/>
              <a:buChar char="•"/>
            </a:pPr>
            <a:r>
              <a:rPr lang="en-US" sz="1400" dirty="0"/>
              <a:t>Maintainability</a:t>
            </a:r>
          </a:p>
          <a:p>
            <a:pPr>
              <a:buFont typeface="Arial" panose="020B0604020202020204" pitchFamily="34" charset="0"/>
              <a:buChar char="•"/>
            </a:pPr>
            <a:r>
              <a:rPr lang="en-US" sz="1400" dirty="0"/>
              <a:t>Understandability</a:t>
            </a:r>
          </a:p>
          <a:p>
            <a:pPr>
              <a:buFont typeface="Arial" panose="020B0604020202020204" pitchFamily="34" charset="0"/>
              <a:buChar char="•"/>
            </a:pPr>
            <a:r>
              <a:rPr lang="en-US" sz="1400" dirty="0"/>
              <a:t>Adaptability</a:t>
            </a:r>
          </a:p>
          <a:p>
            <a:pPr>
              <a:buFont typeface="Arial" panose="020B0604020202020204" pitchFamily="34" charset="0"/>
              <a:buChar char="•"/>
            </a:pPr>
            <a:r>
              <a:rPr lang="en-US" sz="1400" dirty="0"/>
              <a:t>Reusability</a:t>
            </a:r>
          </a:p>
          <a:p>
            <a:pPr>
              <a:buFont typeface="Arial" panose="020B0604020202020204" pitchFamily="34" charset="0"/>
              <a:buChar char="•"/>
            </a:pPr>
            <a:r>
              <a:rPr lang="en-US" sz="1400" dirty="0"/>
              <a:t>Efficiency</a:t>
            </a:r>
          </a:p>
          <a:p>
            <a:pPr>
              <a:buFont typeface="Arial" panose="020B0604020202020204" pitchFamily="34" charset="0"/>
              <a:buChar char="•"/>
            </a:pPr>
            <a:r>
              <a:rPr lang="en-US" sz="1400" dirty="0"/>
              <a:t>Portability</a:t>
            </a:r>
          </a:p>
          <a:p>
            <a:pPr>
              <a:buFont typeface="Arial" panose="020B0604020202020204" pitchFamily="34" charset="0"/>
              <a:buChar char="•"/>
            </a:pPr>
            <a:r>
              <a:rPr lang="en-US" sz="1400" dirty="0"/>
              <a:t>Traceability of requirements</a:t>
            </a:r>
          </a:p>
          <a:p>
            <a:pPr>
              <a:buFont typeface="Arial" panose="020B0604020202020204" pitchFamily="34" charset="0"/>
              <a:buChar char="•"/>
            </a:pPr>
            <a:r>
              <a:rPr lang="en-US" sz="1400" dirty="0"/>
              <a:t>Fault tolerance</a:t>
            </a:r>
          </a:p>
          <a:p>
            <a:pPr>
              <a:buFont typeface="Arial" panose="020B0604020202020204" pitchFamily="34" charset="0"/>
              <a:buChar char="•"/>
            </a:pPr>
            <a:r>
              <a:rPr lang="en-US" sz="1400" dirty="0"/>
              <a:t>Backward-compatibility</a:t>
            </a:r>
          </a:p>
          <a:p>
            <a:pPr>
              <a:buFont typeface="Arial" panose="020B0604020202020204" pitchFamily="34" charset="0"/>
              <a:buChar char="•"/>
            </a:pPr>
            <a:r>
              <a:rPr lang="en-US" sz="1400" dirty="0"/>
              <a:t>Cost-effectiveness</a:t>
            </a:r>
          </a:p>
          <a:p>
            <a:pPr>
              <a:buFont typeface="Arial" panose="020B0604020202020204" pitchFamily="34" charset="0"/>
              <a:buChar char="•"/>
            </a:pPr>
            <a:r>
              <a:rPr lang="en-US" sz="1400" dirty="0"/>
              <a:t>Robustness</a:t>
            </a:r>
          </a:p>
        </p:txBody>
      </p:sp>
      <p:sp>
        <p:nvSpPr>
          <p:cNvPr id="4" name="Content Placeholder 3"/>
          <p:cNvSpPr>
            <a:spLocks noGrp="1"/>
          </p:cNvSpPr>
          <p:nvPr>
            <p:ph sz="half" idx="2"/>
          </p:nvPr>
        </p:nvSpPr>
        <p:spPr>
          <a:xfrm>
            <a:off x="4648200" y="1905000"/>
            <a:ext cx="4038600" cy="4648199"/>
          </a:xfrm>
        </p:spPr>
        <p:txBody>
          <a:bodyPr>
            <a:normAutofit fontScale="70000" lnSpcReduction="20000"/>
          </a:bodyPr>
          <a:lstStyle/>
          <a:p>
            <a:pPr>
              <a:buFont typeface="Arial" panose="020B0604020202020204" pitchFamily="34" charset="0"/>
              <a:buChar char="•"/>
            </a:pPr>
            <a:r>
              <a:rPr lang="en-US" dirty="0"/>
              <a:t>High-performance</a:t>
            </a:r>
          </a:p>
          <a:p>
            <a:pPr>
              <a:buFont typeface="Arial" panose="020B0604020202020204" pitchFamily="34" charset="0"/>
              <a:buChar char="•"/>
            </a:pPr>
            <a:r>
              <a:rPr lang="en-US" dirty="0"/>
              <a:t>Good documentation</a:t>
            </a:r>
          </a:p>
          <a:p>
            <a:pPr>
              <a:buFont typeface="Arial" panose="020B0604020202020204" pitchFamily="34" charset="0"/>
              <a:buChar char="•"/>
            </a:pPr>
            <a:r>
              <a:rPr lang="en-US" dirty="0"/>
              <a:t>Well-defined interfaces</a:t>
            </a:r>
          </a:p>
          <a:p>
            <a:pPr>
              <a:buFont typeface="Arial" panose="020B0604020202020204" pitchFamily="34" charset="0"/>
              <a:buChar char="•"/>
            </a:pPr>
            <a:r>
              <a:rPr lang="en-US" dirty="0"/>
              <a:t>User-friendliness</a:t>
            </a:r>
          </a:p>
          <a:p>
            <a:pPr>
              <a:buFont typeface="Arial" panose="020B0604020202020204" pitchFamily="34" charset="0"/>
              <a:buChar char="•"/>
            </a:pPr>
            <a:r>
              <a:rPr lang="en-US" dirty="0"/>
              <a:t>Reuse of components</a:t>
            </a:r>
          </a:p>
          <a:p>
            <a:pPr>
              <a:buFont typeface="Arial" panose="020B0604020202020204" pitchFamily="34" charset="0"/>
              <a:buChar char="•"/>
            </a:pPr>
            <a:r>
              <a:rPr lang="en-US" dirty="0"/>
              <a:t>Rapid development</a:t>
            </a:r>
          </a:p>
          <a:p>
            <a:pPr>
              <a:buFont typeface="Arial" panose="020B0604020202020204" pitchFamily="34" charset="0"/>
              <a:buChar char="•"/>
            </a:pPr>
            <a:r>
              <a:rPr lang="en-US" dirty="0"/>
              <a:t>Minimum # of errors</a:t>
            </a:r>
          </a:p>
          <a:p>
            <a:pPr>
              <a:buFont typeface="Arial" panose="020B0604020202020204" pitchFamily="34" charset="0"/>
              <a:buChar char="•"/>
            </a:pPr>
            <a:r>
              <a:rPr lang="en-US" dirty="0"/>
              <a:t>Readability</a:t>
            </a:r>
          </a:p>
          <a:p>
            <a:pPr>
              <a:buFont typeface="Arial" panose="020B0604020202020204" pitchFamily="34" charset="0"/>
              <a:buChar char="•"/>
            </a:pPr>
            <a:r>
              <a:rPr lang="en-US" dirty="0"/>
              <a:t>Ease of learning</a:t>
            </a:r>
          </a:p>
          <a:p>
            <a:pPr>
              <a:buFont typeface="Arial" panose="020B0604020202020204" pitchFamily="34" charset="0"/>
              <a:buChar char="•"/>
            </a:pPr>
            <a:r>
              <a:rPr lang="en-US" dirty="0"/>
              <a:t>Ease of remembering</a:t>
            </a:r>
          </a:p>
          <a:p>
            <a:pPr>
              <a:buFont typeface="Arial" panose="020B0604020202020204" pitchFamily="34" charset="0"/>
              <a:buChar char="•"/>
            </a:pPr>
            <a:r>
              <a:rPr lang="en-US" dirty="0"/>
              <a:t>Ease of use</a:t>
            </a:r>
          </a:p>
          <a:p>
            <a:pPr>
              <a:buFont typeface="Arial" panose="020B0604020202020204" pitchFamily="34" charset="0"/>
              <a:buChar char="•"/>
            </a:pPr>
            <a:r>
              <a:rPr lang="en-US" dirty="0"/>
              <a:t>Increased productivity</a:t>
            </a:r>
          </a:p>
          <a:p>
            <a:pPr>
              <a:buFont typeface="Arial" panose="020B0604020202020204" pitchFamily="34" charset="0"/>
              <a:buChar char="•"/>
            </a:pPr>
            <a:r>
              <a:rPr lang="en-US" dirty="0"/>
              <a:t>Low-cost</a:t>
            </a:r>
          </a:p>
          <a:p>
            <a:pPr>
              <a:buFont typeface="Arial" panose="020B0604020202020204" pitchFamily="34" charset="0"/>
              <a:buChar char="•"/>
            </a:pPr>
            <a:r>
              <a:rPr lang="en-US" dirty="0"/>
              <a:t>Flexibility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Relationship Between Design Goals</a:t>
            </a:r>
          </a:p>
        </p:txBody>
      </p:sp>
      <p:pic>
        <p:nvPicPr>
          <p:cNvPr id="1026" name="Picture 2"/>
          <p:cNvPicPr>
            <a:picLocks noChangeAspect="1" noChangeArrowheads="1"/>
          </p:cNvPicPr>
          <p:nvPr/>
        </p:nvPicPr>
        <p:blipFill>
          <a:blip r:embed="rId2"/>
          <a:srcRect l="21669" t="22917" r="23280" b="16667"/>
          <a:stretch>
            <a:fillRect/>
          </a:stretch>
        </p:blipFill>
        <p:spPr bwMode="auto">
          <a:xfrm>
            <a:off x="1104900" y="1845734"/>
            <a:ext cx="6934200" cy="4191000"/>
          </a:xfrm>
          <a:prstGeom prst="rect">
            <a:avLst/>
          </a:prstGeom>
          <a:noFill/>
          <a:ln w="9525">
            <a:noFill/>
            <a:miter lim="800000"/>
            <a:headEnd/>
            <a:tailEnd/>
          </a:ln>
          <a:effectLst/>
        </p:spPr>
      </p:pic>
      <p:sp>
        <p:nvSpPr>
          <p:cNvPr id="5" name="Rectangle 4"/>
          <p:cNvSpPr/>
          <p:nvPr/>
        </p:nvSpPr>
        <p:spPr>
          <a:xfrm>
            <a:off x="7848600" y="5791200"/>
            <a:ext cx="381000" cy="381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Typical Design Trade-offs</a:t>
            </a:r>
            <a:br>
              <a:rPr lang="en-US" b="1" dirty="0"/>
            </a:br>
            <a:endParaRPr lang="en-US" b="1" dirty="0"/>
          </a:p>
        </p:txBody>
      </p:sp>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a:t>Functionality vs. Usability</a:t>
            </a:r>
          </a:p>
          <a:p>
            <a:pPr>
              <a:buFont typeface="Arial" panose="020B0604020202020204" pitchFamily="34" charset="0"/>
              <a:buChar char="•"/>
            </a:pPr>
            <a:r>
              <a:rPr lang="en-US" dirty="0"/>
              <a:t>Cost vs. Robustness</a:t>
            </a:r>
          </a:p>
          <a:p>
            <a:pPr>
              <a:buFont typeface="Arial" panose="020B0604020202020204" pitchFamily="34" charset="0"/>
              <a:buChar char="•"/>
            </a:pPr>
            <a:r>
              <a:rPr lang="en-US" dirty="0"/>
              <a:t>Efficiency vs. Portability</a:t>
            </a:r>
          </a:p>
          <a:p>
            <a:pPr>
              <a:buFont typeface="Arial" panose="020B0604020202020204" pitchFamily="34" charset="0"/>
              <a:buChar char="•"/>
            </a:pPr>
            <a:r>
              <a:rPr lang="en-US" dirty="0"/>
              <a:t>Rapid development vs. Functionality</a:t>
            </a:r>
          </a:p>
          <a:p>
            <a:pPr>
              <a:buFont typeface="Arial" panose="020B0604020202020204" pitchFamily="34" charset="0"/>
              <a:buChar char="•"/>
            </a:pPr>
            <a:r>
              <a:rPr lang="en-US" dirty="0"/>
              <a:t>Cost vs. Reusability</a:t>
            </a:r>
          </a:p>
          <a:p>
            <a:pPr>
              <a:buFont typeface="Arial" panose="020B0604020202020204" pitchFamily="34" charset="0"/>
              <a:buChar char="•"/>
            </a:pPr>
            <a:r>
              <a:rPr lang="en-US" dirty="0"/>
              <a:t>Backward Compatibility vs. Readability</a:t>
            </a:r>
          </a:p>
          <a:p>
            <a:pPr>
              <a:buFont typeface="Arial" panose="020B0604020202020204" pitchFamily="34" charset="0"/>
              <a:buChar char="•"/>
            </a:pP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Summary</a:t>
            </a:r>
          </a:p>
        </p:txBody>
      </p:sp>
      <p:sp>
        <p:nvSpPr>
          <p:cNvPr id="3" name="Content Placeholder 2"/>
          <p:cNvSpPr>
            <a:spLocks noGrp="1"/>
          </p:cNvSpPr>
          <p:nvPr>
            <p:ph idx="1"/>
          </p:nvPr>
        </p:nvSpPr>
        <p:spPr/>
        <p:txBody>
          <a:bodyPr/>
          <a:lstStyle/>
          <a:p>
            <a:r>
              <a:rPr lang="en-US" dirty="0"/>
              <a:t>Software design methods</a:t>
            </a:r>
          </a:p>
          <a:p>
            <a:r>
              <a:rPr lang="en-US" dirty="0"/>
              <a:t>Design Paradigms</a:t>
            </a:r>
          </a:p>
          <a:p>
            <a:r>
              <a:rPr lang="en-US" dirty="0"/>
              <a:t>Typical Design Trade-offs</a:t>
            </a:r>
          </a:p>
          <a:p>
            <a:endParaRPr lang="en-US" dirty="0"/>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545</TotalTime>
  <Words>1083</Words>
  <Application>Microsoft Office PowerPoint</Application>
  <PresentationFormat>全屏显示(4:3)</PresentationFormat>
  <Paragraphs>183</Paragraphs>
  <Slides>35</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35</vt:i4>
      </vt:variant>
    </vt:vector>
  </HeadingPairs>
  <TitlesOfParts>
    <vt:vector size="39" baseType="lpstr">
      <vt:lpstr>Arial</vt:lpstr>
      <vt:lpstr>Calibri</vt:lpstr>
      <vt:lpstr>Calibri Light</vt:lpstr>
      <vt:lpstr>Retrospect</vt:lpstr>
      <vt:lpstr>20H58665– Software Design and Architecture</vt:lpstr>
      <vt:lpstr>Previous Lecture</vt:lpstr>
      <vt:lpstr>Outline</vt:lpstr>
      <vt:lpstr>Software Design Methods</vt:lpstr>
      <vt:lpstr>Software Design Methods</vt:lpstr>
      <vt:lpstr>Software Design Methods</vt:lpstr>
      <vt:lpstr>Software Design Methods</vt:lpstr>
      <vt:lpstr>Software Design Methods</vt:lpstr>
      <vt:lpstr>Software Design Methods</vt:lpstr>
      <vt:lpstr>Which method to choose?</vt:lpstr>
      <vt:lpstr>PowerPoint 演示文稿</vt:lpstr>
      <vt:lpstr>Design Paradigms</vt:lpstr>
      <vt:lpstr>Software Design Paradigms</vt:lpstr>
      <vt:lpstr>Structured/Procedural Paradigm</vt:lpstr>
      <vt:lpstr>PowerPoint 演示文稿</vt:lpstr>
      <vt:lpstr>Example:</vt:lpstr>
      <vt:lpstr>Example:</vt:lpstr>
      <vt:lpstr>Drawbacks</vt:lpstr>
      <vt:lpstr>Object-Oriented Paradigm</vt:lpstr>
      <vt:lpstr>Object-Oriented Design</vt:lpstr>
      <vt:lpstr>Benefits</vt:lpstr>
      <vt:lpstr>PowerPoint 演示文稿</vt:lpstr>
      <vt:lpstr>Case Study : Fire Alarm</vt:lpstr>
      <vt:lpstr>PowerPoint 演示文稿</vt:lpstr>
      <vt:lpstr>PowerPoint 演示文稿</vt:lpstr>
      <vt:lpstr>Function-Oriented Approach</vt:lpstr>
      <vt:lpstr>Function-Oriented Approach</vt:lpstr>
      <vt:lpstr>Object-Oriented Approach</vt:lpstr>
      <vt:lpstr>Structured vs. OO Paradigm</vt:lpstr>
      <vt:lpstr>Structured vs. OO Paradigm</vt:lpstr>
      <vt:lpstr>Design Goals and trade-offs</vt:lpstr>
      <vt:lpstr>List of Design Goals </vt:lpstr>
      <vt:lpstr>Relationship Between Design Goals</vt:lpstr>
      <vt:lpstr>Typical Design Trade-offs </vt:lpstr>
      <vt:lpstr>Summary</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Shehla</dc:creator>
  <cp:lastModifiedBy>LI, HAOLONG (UG)</cp:lastModifiedBy>
  <cp:revision>26</cp:revision>
  <dcterms:created xsi:type="dcterms:W3CDTF">2015-07-30T14:42:01Z</dcterms:created>
  <dcterms:modified xsi:type="dcterms:W3CDTF">2025-09-29T07:30:51Z</dcterms:modified>
</cp:coreProperties>
</file>