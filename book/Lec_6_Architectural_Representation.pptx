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91" r:id="rId2"/>
    <p:sldId id="290" r:id="rId3"/>
    <p:sldId id="292" r:id="rId4"/>
    <p:sldId id="257" r:id="rId5"/>
    <p:sldId id="293" r:id="rId6"/>
    <p:sldId id="303" r:id="rId7"/>
    <p:sldId id="258" r:id="rId8"/>
    <p:sldId id="294" r:id="rId9"/>
    <p:sldId id="295" r:id="rId10"/>
    <p:sldId id="260" r:id="rId11"/>
    <p:sldId id="261" r:id="rId12"/>
    <p:sldId id="296" r:id="rId13"/>
    <p:sldId id="262" r:id="rId14"/>
    <p:sldId id="268" r:id="rId15"/>
    <p:sldId id="304" r:id="rId16"/>
    <p:sldId id="269" r:id="rId17"/>
    <p:sldId id="270" r:id="rId18"/>
    <p:sldId id="297" r:id="rId19"/>
    <p:sldId id="271" r:id="rId20"/>
    <p:sldId id="298" r:id="rId21"/>
    <p:sldId id="299" r:id="rId22"/>
    <p:sldId id="272" r:id="rId23"/>
    <p:sldId id="273" r:id="rId24"/>
    <p:sldId id="274" r:id="rId25"/>
    <p:sldId id="275" r:id="rId26"/>
    <p:sldId id="276" r:id="rId27"/>
    <p:sldId id="277" r:id="rId28"/>
    <p:sldId id="265" r:id="rId29"/>
    <p:sldId id="305" r:id="rId30"/>
    <p:sldId id="278" r:id="rId31"/>
    <p:sldId id="301" r:id="rId32"/>
    <p:sldId id="283" r:id="rId33"/>
    <p:sldId id="280" r:id="rId34"/>
    <p:sldId id="281" r:id="rId35"/>
    <p:sldId id="282" r:id="rId36"/>
    <p:sldId id="287" r:id="rId37"/>
    <p:sldId id="288" r:id="rId38"/>
    <p:sldId id="284" r:id="rId39"/>
    <p:sldId id="285" r:id="rId40"/>
    <p:sldId id="286" r:id="rId41"/>
    <p:sldId id="302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297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1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95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4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1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21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0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9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0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2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76CF1C1-07DF-49DC-A1C9-900E74ED238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7346F88-771B-43D5-AA65-5266BDBC24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77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371600"/>
            <a:ext cx="8092440" cy="2953512"/>
          </a:xfrm>
        </p:spPr>
        <p:txBody>
          <a:bodyPr>
            <a:normAutofit/>
          </a:bodyPr>
          <a:lstStyle/>
          <a:p>
            <a:r>
              <a:rPr lang="en-US" sz="6000" b="1" dirty="0"/>
              <a:t>20H58665– Architectural Representation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 Faizan Khan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BBA27-824D-089E-17E1-6A457B1D8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297" y="375023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software architecture</a:t>
            </a:r>
          </a:p>
          <a:p>
            <a:r>
              <a:rPr lang="en-US" dirty="0"/>
              <a:t>Architecture </a:t>
            </a:r>
            <a:r>
              <a:rPr lang="en-US" dirty="0" err="1"/>
              <a:t>vs</a:t>
            </a:r>
            <a:r>
              <a:rPr lang="en-US" dirty="0"/>
              <a:t> Design</a:t>
            </a:r>
          </a:p>
          <a:p>
            <a:r>
              <a:rPr lang="en-US" dirty="0"/>
              <a:t>Architect’s responsibilities</a:t>
            </a:r>
          </a:p>
          <a:p>
            <a:r>
              <a:rPr lang="en-US" dirty="0"/>
              <a:t>Architecture Business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Architectural Representation</a:t>
            </a:r>
          </a:p>
          <a:p>
            <a:pPr lvl="1"/>
            <a:r>
              <a:rPr lang="en-US" dirty="0"/>
              <a:t>Using UML</a:t>
            </a:r>
          </a:p>
          <a:p>
            <a:pPr lvl="1"/>
            <a:r>
              <a:rPr lang="en-US" dirty="0"/>
              <a:t>Using ADL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Architectural</a:t>
            </a:r>
            <a:r>
              <a:rPr lang="en-US" dirty="0"/>
              <a:t> </a:t>
            </a:r>
            <a:r>
              <a:rPr lang="en-US" b="1" dirty="0"/>
              <a:t>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architecture specifies a high level of software system abstraction by employing decomposition, composition, architecture styles, and quality attributes.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Architectural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software architecture must describe its collection of components and the connections and interactions among these components. </a:t>
            </a:r>
          </a:p>
          <a:p>
            <a:endParaRPr lang="en-US" dirty="0"/>
          </a:p>
          <a:p>
            <a:r>
              <a:rPr lang="en-US" dirty="0"/>
              <a:t>It must also specify the deployment configuration of all components and connections.</a:t>
            </a:r>
          </a:p>
          <a:p>
            <a:endParaRPr lang="en-US" dirty="0"/>
          </a:p>
          <a:p>
            <a:r>
              <a:rPr lang="en-US" dirty="0"/>
              <a:t>Additionally, a software architecture design must conform to the project's functional and nonfunctional requirements.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Architectural Representations – Box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1C4A6E-BD5D-33EB-FF01-90B5355F63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345" y="2133600"/>
            <a:ext cx="6479309" cy="3505200"/>
          </a:xfrm>
        </p:spPr>
      </p:pic>
    </p:spTree>
    <p:extLst>
      <p:ext uri="{BB962C8B-B14F-4D97-AF65-F5344CB8AC3E}">
        <p14:creationId xmlns:p14="http://schemas.microsoft.com/office/powerpoint/2010/main" val="329110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Architectural Representations – Box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Box-and-line diagrams are often used to describe the business concepts and processes during the analysis phase of the software development lifecycle. 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063184"/>
            <a:ext cx="5619750" cy="28804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Box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These diagrams come with descriptions of components and connectors, as well as other descriptions that provide common intuitive interpretations.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971800"/>
            <a:ext cx="5314950" cy="2724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Unified Modeling Language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UML for Software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Unified Modeling Language (UML) is a graphical language for </a:t>
            </a:r>
          </a:p>
          <a:p>
            <a:pPr lvl="1"/>
            <a:r>
              <a:rPr lang="en-US" dirty="0"/>
              <a:t>visualizing, </a:t>
            </a:r>
          </a:p>
          <a:p>
            <a:pPr lvl="1"/>
            <a:r>
              <a:rPr lang="en-US" dirty="0"/>
              <a:t>specifying, </a:t>
            </a:r>
          </a:p>
          <a:p>
            <a:pPr lvl="1"/>
            <a:r>
              <a:rPr lang="en-US" dirty="0"/>
              <a:t>constructing, and </a:t>
            </a:r>
          </a:p>
          <a:p>
            <a:pPr lvl="1"/>
            <a:r>
              <a:rPr lang="en-US" dirty="0"/>
              <a:t>documenting </a:t>
            </a:r>
          </a:p>
          <a:p>
            <a:pPr>
              <a:buNone/>
            </a:pPr>
            <a:r>
              <a:rPr lang="en-US" dirty="0"/>
              <a:t>the artifacts of a software-intensive system. </a:t>
            </a:r>
          </a:p>
          <a:p>
            <a:endParaRPr lang="en-US" dirty="0"/>
          </a:p>
          <a:p>
            <a:r>
              <a:rPr lang="en-US" dirty="0"/>
              <a:t>UML offers a standard way to draw a system's blueprints.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 View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a model is a complete, simplified description of a system from a particular perspective or viewpoint. </a:t>
            </a:r>
          </a:p>
          <a:p>
            <a:endParaRPr lang="en-US" dirty="0"/>
          </a:p>
          <a:p>
            <a:r>
              <a:rPr lang="en-US" dirty="0"/>
              <a:t>There is no single view that can present all aspects of complex software to stakeholders!!!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View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View models provide partial representations of the software architecture to specific stakeholders such as </a:t>
            </a:r>
          </a:p>
          <a:p>
            <a:pPr lvl="1"/>
            <a:r>
              <a:rPr lang="en-US" dirty="0"/>
              <a:t>the system users, </a:t>
            </a:r>
          </a:p>
          <a:p>
            <a:pPr lvl="1"/>
            <a:r>
              <a:rPr lang="en-US" dirty="0"/>
              <a:t>the analyst/designer, </a:t>
            </a:r>
          </a:p>
          <a:p>
            <a:pPr lvl="1"/>
            <a:r>
              <a:rPr lang="en-US" dirty="0"/>
              <a:t>the developer/programmer, </a:t>
            </a:r>
          </a:p>
          <a:p>
            <a:pPr lvl="1"/>
            <a:r>
              <a:rPr lang="en-US" dirty="0"/>
              <a:t>the system integrator, and </a:t>
            </a:r>
          </a:p>
          <a:p>
            <a:pPr lvl="1"/>
            <a:r>
              <a:rPr lang="en-US" dirty="0"/>
              <a:t>the system engineer.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View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209800"/>
            <a:ext cx="7543801" cy="365929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4000" b="1" dirty="0"/>
              <a:t>Software designers can organize the description of their architectural decisions in different views.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4 +1 View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4+1 view model was originally introduced by Philippe </a:t>
            </a:r>
            <a:r>
              <a:rPr lang="en-US" dirty="0" err="1"/>
              <a:t>Kruchten</a:t>
            </a:r>
            <a:r>
              <a:rPr lang="en-US" dirty="0"/>
              <a:t> (</a:t>
            </a:r>
            <a:r>
              <a:rPr lang="en-US" dirty="0" err="1"/>
              <a:t>Kruchten</a:t>
            </a:r>
            <a:r>
              <a:rPr lang="en-US" dirty="0"/>
              <a:t>, 1995). </a:t>
            </a:r>
          </a:p>
          <a:p>
            <a:endParaRPr lang="en-US" dirty="0"/>
          </a:p>
          <a:p>
            <a:r>
              <a:rPr lang="en-US" dirty="0"/>
              <a:t>The model provides four essential views: </a:t>
            </a:r>
          </a:p>
          <a:p>
            <a:pPr lvl="1"/>
            <a:r>
              <a:rPr lang="en-US" dirty="0"/>
              <a:t>the logical view, </a:t>
            </a:r>
          </a:p>
          <a:p>
            <a:pPr lvl="1"/>
            <a:r>
              <a:rPr lang="en-US" dirty="0"/>
              <a:t>the process view, </a:t>
            </a:r>
          </a:p>
          <a:p>
            <a:pPr lvl="1"/>
            <a:r>
              <a:rPr lang="en-US" dirty="0"/>
              <a:t>the physical view, and </a:t>
            </a:r>
          </a:p>
          <a:p>
            <a:pPr lvl="1"/>
            <a:r>
              <a:rPr lang="en-US" dirty="0"/>
              <a:t>the development view</a:t>
            </a:r>
          </a:p>
          <a:p>
            <a:r>
              <a:rPr lang="en-US" dirty="0"/>
              <a:t> and fifth is the scenario view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4 +1 View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A24648-5FF5-4CFF-8EFA-6D96AE75B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981200"/>
            <a:ext cx="6168851" cy="4038600"/>
          </a:xfrm>
        </p:spPr>
      </p:pic>
    </p:spTree>
    <p:extLst>
      <p:ext uri="{BB962C8B-B14F-4D97-AF65-F5344CB8AC3E}">
        <p14:creationId xmlns:p14="http://schemas.microsoft.com/office/powerpoint/2010/main" val="1330273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4+1 view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Multiple-view model that addresses different aspects and concerns of the system. </a:t>
            </a:r>
          </a:p>
          <a:p>
            <a:r>
              <a:rPr lang="en-US" sz="2400" dirty="0"/>
              <a:t>Standardizes the software design documents and makes the design easy to understand by all stakeholders.</a:t>
            </a:r>
          </a:p>
          <a:p>
            <a:endParaRPr lang="en-US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 l="34187" t="33333" r="34773" b="23958"/>
          <a:stretch>
            <a:fillRect/>
          </a:stretch>
        </p:blipFill>
        <p:spPr bwMode="auto">
          <a:xfrm>
            <a:off x="2634914" y="3454021"/>
            <a:ext cx="3919890" cy="2428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Scenario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scenario view describes the functionality of the system, i.e., how the user employs the system and how the system provides services to the users.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helps designers to discover architecture elements during the design process and to validate the architecture design afterward.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UML use case diagram and other verbal documents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USE-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ttps://encrypted-tbn0.gstatic.com/images?q=tbn:ANd9GcSgNzovM05Dj-wrZ_5C9SdBtJwcCV7emXetpW4u257ePcGzlHE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057400"/>
            <a:ext cx="5313188" cy="4086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Logical or Conceptual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logical view is based on application domain entities necessary to implement the functional requirements. </a:t>
            </a:r>
          </a:p>
          <a:p>
            <a:endParaRPr lang="en-US" sz="2400" dirty="0"/>
          </a:p>
          <a:p>
            <a:r>
              <a:rPr lang="en-US" sz="2400" dirty="0"/>
              <a:t>The logical view specifies system decomposition into conceptual entities (such as objects) and connections between them (such as  associations).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logical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logical view is typically supported by </a:t>
            </a:r>
          </a:p>
          <a:p>
            <a:pPr lvl="1"/>
            <a:r>
              <a:rPr lang="en-US" dirty="0"/>
              <a:t>UML static diagrams including class/object diagrams and </a:t>
            </a:r>
          </a:p>
          <a:p>
            <a:pPr lvl="1"/>
            <a:r>
              <a:rPr lang="en-US" dirty="0"/>
              <a:t>UML dynamic diagrams such as the interaction overall diagram, sequence diagram, communication diagram, state diagram, and activity diagram.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02" name="Picture 2" descr="http://s3.amazonaws.com/answer-board-image/2cadd290-c07f-4d4d-be73-b6daac430edf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093928"/>
            <a:ext cx="5486400" cy="37751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Development or Module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development view derives from the logical view and describes the static organization of the system modules. </a:t>
            </a:r>
          </a:p>
          <a:p>
            <a:endParaRPr lang="en-US" dirty="0"/>
          </a:p>
          <a:p>
            <a:r>
              <a:rPr lang="en-US" dirty="0"/>
              <a:t>Modules such as namespaces, class library, subsystem, or packages are building blocks that group classes for further development and implementation.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UML diagrams such as package diagrams and component diagrams are often used to support this view.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Package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/>
          <a:srcRect l="11933" t="14583" r="51757" b="25000"/>
          <a:stretch>
            <a:fillRect/>
          </a:stretch>
        </p:blipFill>
        <p:spPr bwMode="auto">
          <a:xfrm>
            <a:off x="2895600" y="2019765"/>
            <a:ext cx="4114800" cy="3849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Process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process view focuses on the dynamic aspects of the system, i.e., its execution time behavior. </a:t>
            </a:r>
          </a:p>
          <a:p>
            <a:endParaRPr lang="en-US" dirty="0"/>
          </a:p>
          <a:p>
            <a:r>
              <a:rPr lang="en-US" dirty="0"/>
              <a:t>This view maps functions, activities, and interactions onto runtime implementation.</a:t>
            </a:r>
          </a:p>
          <a:p>
            <a:endParaRPr lang="en-US" dirty="0"/>
          </a:p>
          <a:p>
            <a:r>
              <a:rPr lang="en-US" dirty="0"/>
              <a:t>The process view takes care of the concurrency and synchronization issues between subsystems.</a:t>
            </a:r>
          </a:p>
          <a:p>
            <a:endParaRPr lang="en-US" dirty="0"/>
          </a:p>
          <a:p>
            <a:r>
              <a:rPr lang="en-US" dirty="0"/>
              <a:t>The UML activity diagram and interaction overview diagram support this view.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Activity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 l="12884" t="12500" r="53148" b="3125"/>
          <a:stretch>
            <a:fillRect/>
          </a:stretch>
        </p:blipFill>
        <p:spPr bwMode="auto">
          <a:xfrm>
            <a:off x="2286000" y="1845734"/>
            <a:ext cx="4267200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Physical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physical view describes installation, configuration, and deployment of the software application.</a:t>
            </a:r>
          </a:p>
          <a:p>
            <a:endParaRPr lang="en-US" dirty="0"/>
          </a:p>
          <a:p>
            <a:r>
              <a:rPr lang="en-US" dirty="0"/>
              <a:t> It concerns itself with how to deliver the deploy-able system. </a:t>
            </a:r>
          </a:p>
          <a:p>
            <a:endParaRPr lang="en-US" dirty="0"/>
          </a:p>
          <a:p>
            <a:r>
              <a:rPr lang="en-US" dirty="0"/>
              <a:t>The physical view shows the mapping of software onto hardware.  </a:t>
            </a:r>
          </a:p>
          <a:p>
            <a:pPr lvl="1"/>
            <a:r>
              <a:rPr lang="en-US" dirty="0"/>
              <a:t>It is particularly of interest in distributed or parallel systems. </a:t>
            </a:r>
          </a:p>
          <a:p>
            <a:endParaRPr lang="en-US" dirty="0"/>
          </a:p>
          <a:p>
            <a:r>
              <a:rPr lang="en-US" dirty="0"/>
              <a:t>The UML deployment diagrams and other documentation are often used to support this view.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 l="11713" t="43750" r="39092" b="16667"/>
          <a:stretch>
            <a:fillRect/>
          </a:stretch>
        </p:blipFill>
        <p:spPr bwMode="auto">
          <a:xfrm>
            <a:off x="955308" y="2133600"/>
            <a:ext cx="7411452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User Interface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User Interface (UI) view is an extended view that provides a clear user-computer interface view and hides implementation details.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view may be provided as a series of screen snapshots or a dynamic, interactive prototype demo.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Any modification on this view will have direct impact on the scenarios view.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4 +1 View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4+1 view model was originally introduced by Philippe </a:t>
            </a:r>
            <a:r>
              <a:rPr lang="en-US" dirty="0" err="1"/>
              <a:t>Kruchten</a:t>
            </a:r>
            <a:r>
              <a:rPr lang="en-US" dirty="0"/>
              <a:t> (</a:t>
            </a:r>
            <a:r>
              <a:rPr lang="en-US" dirty="0" err="1"/>
              <a:t>Kruchten</a:t>
            </a:r>
            <a:r>
              <a:rPr lang="en-US" dirty="0"/>
              <a:t>, 1995). </a:t>
            </a:r>
          </a:p>
          <a:p>
            <a:endParaRPr lang="en-US" dirty="0"/>
          </a:p>
          <a:p>
            <a:r>
              <a:rPr lang="en-US" dirty="0"/>
              <a:t>The model provides four essential views: </a:t>
            </a:r>
          </a:p>
          <a:p>
            <a:pPr lvl="1"/>
            <a:r>
              <a:rPr lang="en-US" dirty="0"/>
              <a:t>the logical view, </a:t>
            </a:r>
          </a:p>
          <a:p>
            <a:pPr lvl="1"/>
            <a:r>
              <a:rPr lang="en-US" dirty="0"/>
              <a:t>the process view, </a:t>
            </a:r>
          </a:p>
          <a:p>
            <a:pPr lvl="1"/>
            <a:r>
              <a:rPr lang="en-US" dirty="0"/>
              <a:t>the physical view, and </a:t>
            </a:r>
          </a:p>
          <a:p>
            <a:pPr lvl="1"/>
            <a:r>
              <a:rPr lang="en-US" dirty="0"/>
              <a:t>the development view</a:t>
            </a:r>
          </a:p>
          <a:p>
            <a:r>
              <a:rPr lang="en-US" dirty="0"/>
              <a:t> and fifth is the scenario view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61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4+1 view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3600" b="1" dirty="0"/>
              <a:t>The 4+1 view is an architecture verification technique for studying and documenting software architecture design.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 Description language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an Architecture Description Language?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 modelling notation to support architecture-based development</a:t>
            </a:r>
          </a:p>
          <a:p>
            <a:pPr lvl="1"/>
            <a:r>
              <a:rPr lang="en-US" dirty="0"/>
              <a:t>used to define and model system architecture prior to detailed design and implementation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62000"/>
            <a:ext cx="7543800" cy="97536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Many ADLs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Architecture Description Languages (ADLs) can be used to specify an architecture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UML (OMG) - general-purpose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SADL (SRI)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Aesop (Carnegie Mellon University)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Acme (CMU) – and interchange format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Rapide</a:t>
            </a:r>
            <a:r>
              <a:rPr lang="en-US" dirty="0"/>
              <a:t> (Stanford University)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Wright (CMU)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Darwin (Imperial College London)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14400"/>
            <a:ext cx="7543800" cy="82296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Parts of an ADL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Architecture Style = </a:t>
            </a:r>
          </a:p>
          <a:p>
            <a:pPr lvl="1"/>
            <a:r>
              <a:rPr lang="en-US" dirty="0"/>
              <a:t>{Component/Connector Vocabulary, </a:t>
            </a:r>
            <a:r>
              <a:rPr lang="en-US" dirty="0" err="1"/>
              <a:t>Topology,Semantic</a:t>
            </a:r>
            <a:r>
              <a:rPr lang="en-US" dirty="0"/>
              <a:t> Constraints}</a:t>
            </a:r>
          </a:p>
          <a:p>
            <a:r>
              <a:rPr lang="en-US" dirty="0"/>
              <a:t>Components (locus of computation), </a:t>
            </a:r>
          </a:p>
          <a:p>
            <a:pPr lvl="1"/>
            <a:r>
              <a:rPr lang="en-US" dirty="0"/>
              <a:t>filter, data store, object, process, server</a:t>
            </a:r>
          </a:p>
          <a:p>
            <a:endParaRPr lang="en-US" dirty="0"/>
          </a:p>
          <a:p>
            <a:r>
              <a:rPr lang="en-US" dirty="0"/>
              <a:t>Connectors (interactions between components),  </a:t>
            </a:r>
          </a:p>
          <a:p>
            <a:pPr lvl="1"/>
            <a:r>
              <a:rPr lang="en-US" dirty="0"/>
              <a:t>procedure call, RPC, pipe, TCP/IP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issue - tool support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88906"/>
            <a:ext cx="7543800" cy="7484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Acme: a generic ADL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 Developed by David </a:t>
            </a:r>
            <a:r>
              <a:rPr lang="en-US" dirty="0" err="1"/>
              <a:t>Garlan</a:t>
            </a:r>
            <a:r>
              <a:rPr lang="en-US" dirty="0"/>
              <a:t> and others (CMU) and David Wile (USC)</a:t>
            </a:r>
          </a:p>
          <a:p>
            <a:pPr lvl="1"/>
            <a:r>
              <a:rPr lang="en-US" dirty="0"/>
              <a:t>Simple, generic language for describing software architectures and families of architectures</a:t>
            </a:r>
          </a:p>
          <a:p>
            <a:pPr lvl="1"/>
            <a:r>
              <a:rPr lang="en-US" dirty="0"/>
              <a:t>Intended to be standard representation for tools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– ACME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ACME Studio - a viewer and editor for ACME descriptions. </a:t>
            </a:r>
          </a:p>
          <a:p>
            <a:r>
              <a:rPr lang="en-US" dirty="0"/>
              <a:t>Text and graphical views supported.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http://www.cs.cmu.edu/%7E./acme/images/screensho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17311"/>
            <a:ext cx="5638800" cy="5630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52525"/>
          </a:xfrm>
        </p:spPr>
        <p:txBody>
          <a:bodyPr/>
          <a:lstStyle/>
          <a:p>
            <a:r>
              <a:rPr lang="en-US" sz="3200" b="1" dirty="0"/>
              <a:t>Elements of Components and Connectors view	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29736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600" i="1" dirty="0"/>
              <a:t>Components</a:t>
            </a:r>
            <a:r>
              <a:rPr lang="en-US" sz="2600" dirty="0"/>
              <a:t> model principal run-time elements that have a set of ports</a:t>
            </a:r>
          </a:p>
          <a:p>
            <a:pPr>
              <a:lnSpc>
                <a:spcPct val="80000"/>
              </a:lnSpc>
            </a:pPr>
            <a:r>
              <a:rPr lang="en-US" sz="2600" i="1" dirty="0"/>
              <a:t>Ports</a:t>
            </a:r>
            <a:r>
              <a:rPr lang="en-US" sz="2600" dirty="0"/>
              <a:t> model component’s interfaces through which component interacts with other components via connectors</a:t>
            </a:r>
          </a:p>
          <a:p>
            <a:pPr>
              <a:lnSpc>
                <a:spcPct val="80000"/>
              </a:lnSpc>
            </a:pPr>
            <a:r>
              <a:rPr lang="en-US" sz="2600" i="1" dirty="0"/>
              <a:t>Connectors </a:t>
            </a:r>
            <a:r>
              <a:rPr lang="en-US" sz="2600" dirty="0"/>
              <a:t>model the pathways of communication between components and have a set of roles</a:t>
            </a:r>
          </a:p>
          <a:p>
            <a:pPr>
              <a:lnSpc>
                <a:spcPct val="80000"/>
              </a:lnSpc>
            </a:pPr>
            <a:r>
              <a:rPr lang="en-US" sz="2600" i="1" dirty="0"/>
              <a:t>Roles</a:t>
            </a:r>
            <a:r>
              <a:rPr lang="en-US" sz="2600" dirty="0"/>
              <a:t> model the specifications of behavior requires of the components that use a given connector</a:t>
            </a:r>
            <a:endParaRPr lang="en-US" sz="2600" i="1" dirty="0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4606783"/>
            <a:ext cx="4424363" cy="215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Example of Component and Connector (C&amp;C) Model in Acme ADL</a:t>
            </a:r>
          </a:p>
        </p:txBody>
      </p:sp>
      <p:pic>
        <p:nvPicPr>
          <p:cNvPr id="13324" name="Picture 1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22325" y="2481766"/>
            <a:ext cx="3703638" cy="2751719"/>
          </a:xfrm>
          <a:noFill/>
          <a:ln/>
        </p:spPr>
      </p:pic>
      <p:sp>
        <p:nvSpPr>
          <p:cNvPr id="13319" name="Rectangle 7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sz="2200"/>
          </a:p>
          <a:p>
            <a:r>
              <a:rPr lang="en-US" sz="2200"/>
              <a:t>Simple-cs system consist of a single client and a single server, interacting through rpc based connector</a:t>
            </a:r>
          </a:p>
          <a:p>
            <a:endParaRPr lang="en-US" sz="2200"/>
          </a:p>
          <a:p>
            <a:r>
              <a:rPr lang="en-US" sz="2200"/>
              <a:t>In this representation we can analyze our C&amp;C model to see if there are any unattached roles or ports, name collisions and etc.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Modeling Architectural Properties in Acme ADL</a:t>
            </a:r>
          </a:p>
        </p:txBody>
      </p:sp>
      <p:pic>
        <p:nvPicPr>
          <p:cNvPr id="108550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" y="1981200"/>
            <a:ext cx="3802063" cy="3733800"/>
          </a:xfrm>
          <a:noFill/>
          <a:ln/>
        </p:spPr>
      </p:pic>
      <p:sp>
        <p:nvSpPr>
          <p:cNvPr id="108549" name="Rectangle 5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/>
              <a:t>Properties are name-value pairs that can be associated with any architectural element: component, port, connector</a:t>
            </a:r>
          </a:p>
          <a:p>
            <a:r>
              <a:rPr lang="en-US" sz="1800"/>
              <a:t>Sync-request port property indicates if rpc-request port is synchronous or asynchronous, max-transactions-per-second and max-clients-supported component properties indicate maximum properties of server component and protocol property of rpc connector indicates the name of the communication protocol </a:t>
            </a:r>
          </a:p>
          <a:p>
            <a:pPr>
              <a:buFont typeface="Wingdings" pitchFamily="2" charset="2"/>
              <a:buNone/>
            </a:pPr>
            <a:endParaRPr lang="en-US"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Architectural Representation</a:t>
            </a:r>
          </a:p>
          <a:p>
            <a:pPr lvl="1"/>
            <a:r>
              <a:rPr lang="en-US" dirty="0"/>
              <a:t>Using UML</a:t>
            </a:r>
          </a:p>
          <a:p>
            <a:pPr lvl="1"/>
            <a:r>
              <a:rPr lang="en-US" dirty="0"/>
              <a:t>Using ADL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642</TotalTime>
  <Words>1255</Words>
  <Application>Microsoft Office PowerPoint</Application>
  <PresentationFormat>On-screen Show (4:3)</PresentationFormat>
  <Paragraphs>169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Calibri</vt:lpstr>
      <vt:lpstr>Calibri Light</vt:lpstr>
      <vt:lpstr>Wingdings</vt:lpstr>
      <vt:lpstr>Retrospect</vt:lpstr>
      <vt:lpstr>20H58665– Architectural Representation</vt:lpstr>
      <vt:lpstr>Review</vt:lpstr>
      <vt:lpstr>Outline</vt:lpstr>
      <vt:lpstr>Architectural Representations</vt:lpstr>
      <vt:lpstr>Architectural Representations</vt:lpstr>
      <vt:lpstr>Architectural Representations – Box Diagram</vt:lpstr>
      <vt:lpstr>Architectural Representations – Box Diagrams</vt:lpstr>
      <vt:lpstr>Box diagrams</vt:lpstr>
      <vt:lpstr>Unified Modeling Language</vt:lpstr>
      <vt:lpstr>UML for Software Architecture</vt:lpstr>
      <vt:lpstr>Architecture View Models</vt:lpstr>
      <vt:lpstr>View Model</vt:lpstr>
      <vt:lpstr>View Model</vt:lpstr>
      <vt:lpstr>The 4 +1 View Model</vt:lpstr>
      <vt:lpstr>The 4 +1 View Model</vt:lpstr>
      <vt:lpstr>The 4+1 view model</vt:lpstr>
      <vt:lpstr>The Scenario View</vt:lpstr>
      <vt:lpstr>USE- CASE Diagram</vt:lpstr>
      <vt:lpstr>The Logical or Conceptual View</vt:lpstr>
      <vt:lpstr>The logical view</vt:lpstr>
      <vt:lpstr>Class Diagram</vt:lpstr>
      <vt:lpstr>The Development or Module View</vt:lpstr>
      <vt:lpstr>Package Diagram</vt:lpstr>
      <vt:lpstr>The Process View</vt:lpstr>
      <vt:lpstr>Activity Diagram</vt:lpstr>
      <vt:lpstr>The Physical View</vt:lpstr>
      <vt:lpstr>Deployment Diagram</vt:lpstr>
      <vt:lpstr>The User Interface View</vt:lpstr>
      <vt:lpstr>The 4 +1 View Model</vt:lpstr>
      <vt:lpstr>4+1 view model</vt:lpstr>
      <vt:lpstr>Architecture Description language</vt:lpstr>
      <vt:lpstr>What is an Architecture Description Language?</vt:lpstr>
      <vt:lpstr>Many ADLs </vt:lpstr>
      <vt:lpstr>Parts of an ADL </vt:lpstr>
      <vt:lpstr>Acme: a generic ADL </vt:lpstr>
      <vt:lpstr>Tools – ACME Studio</vt:lpstr>
      <vt:lpstr>PowerPoint Presentation</vt:lpstr>
      <vt:lpstr>Elements of Components and Connectors view </vt:lpstr>
      <vt:lpstr>Example of Component and Connector (C&amp;C) Model in Acme ADL</vt:lpstr>
      <vt:lpstr>Modeling Architectural Properties in Acme ADL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Faizan Niazi</cp:lastModifiedBy>
  <cp:revision>37</cp:revision>
  <dcterms:created xsi:type="dcterms:W3CDTF">2015-07-31T17:24:22Z</dcterms:created>
  <dcterms:modified xsi:type="dcterms:W3CDTF">2024-09-22T08:25:16Z</dcterms:modified>
</cp:coreProperties>
</file>