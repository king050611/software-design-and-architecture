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9"/>
  </p:notesMasterIdLst>
  <p:sldIdLst>
    <p:sldId id="288" r:id="rId2"/>
    <p:sldId id="289" r:id="rId3"/>
    <p:sldId id="290" r:id="rId4"/>
    <p:sldId id="276" r:id="rId5"/>
    <p:sldId id="279" r:id="rId6"/>
    <p:sldId id="280" r:id="rId7"/>
    <p:sldId id="281" r:id="rId8"/>
    <p:sldId id="297" r:id="rId9"/>
    <p:sldId id="287" r:id="rId10"/>
    <p:sldId id="291" r:id="rId11"/>
    <p:sldId id="292" r:id="rId12"/>
    <p:sldId id="293" r:id="rId13"/>
    <p:sldId id="294" r:id="rId14"/>
    <p:sldId id="295" r:id="rId15"/>
    <p:sldId id="283" r:id="rId16"/>
    <p:sldId id="284" r:id="rId17"/>
    <p:sldId id="286" r:id="rId18"/>
    <p:sldId id="282" r:id="rId19"/>
    <p:sldId id="259" r:id="rId20"/>
    <p:sldId id="267" r:id="rId21"/>
    <p:sldId id="299" r:id="rId22"/>
    <p:sldId id="300" r:id="rId23"/>
    <p:sldId id="301" r:id="rId24"/>
    <p:sldId id="298" r:id="rId25"/>
    <p:sldId id="268" r:id="rId26"/>
    <p:sldId id="269" r:id="rId27"/>
    <p:sldId id="270" r:id="rId28"/>
    <p:sldId id="263" r:id="rId29"/>
    <p:sldId id="264" r:id="rId30"/>
    <p:sldId id="265" r:id="rId31"/>
    <p:sldId id="271" r:id="rId32"/>
    <p:sldId id="272" r:id="rId33"/>
    <p:sldId id="302" r:id="rId34"/>
    <p:sldId id="273" r:id="rId35"/>
    <p:sldId id="274" r:id="rId36"/>
    <p:sldId id="296" r:id="rId37"/>
    <p:sldId id="266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CF962-6A51-4CFA-9F9B-83736FA2D3F4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5DD2F6-611E-4791-A4D0-8BFC7564F3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DE09AC-69BF-48BD-9321-8D4E41E088E6}" type="slidenum">
              <a:rPr lang="en-US"/>
              <a:pPr/>
              <a:t>5</a:t>
            </a:fld>
            <a:endParaRPr lang="en-US"/>
          </a:p>
        </p:txBody>
      </p:sp>
      <p:sp>
        <p:nvSpPr>
          <p:cNvPr id="176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D99D48-9FB7-4FDB-9903-1136EC560E76}" type="slidenum">
              <a:rPr lang="en-US"/>
              <a:pPr/>
              <a:t>6</a:t>
            </a:fld>
            <a:endParaRPr lang="en-US"/>
          </a:p>
        </p:txBody>
      </p:sp>
      <p:sp>
        <p:nvSpPr>
          <p:cNvPr id="177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5709B9-ACE6-4815-980F-2BCA7FFC7C45}" type="slidenum">
              <a:rPr lang="en-US"/>
              <a:pPr/>
              <a:t>7</a:t>
            </a:fld>
            <a:endParaRPr lang="en-US"/>
          </a:p>
        </p:txBody>
      </p:sp>
      <p:sp>
        <p:nvSpPr>
          <p:cNvPr id="178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3B25FE-C7B7-4DB4-9DA9-D193D48B222C}" type="slidenum">
              <a:rPr lang="en-US"/>
              <a:pPr/>
              <a:t>16</a:t>
            </a:fld>
            <a:endParaRPr lang="en-US"/>
          </a:p>
        </p:txBody>
      </p:sp>
      <p:sp>
        <p:nvSpPr>
          <p:cNvPr id="179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0771A-DA19-42CC-B9B3-3A2FC957420A}" type="slidenum">
              <a:rPr lang="en-US"/>
              <a:pPr/>
              <a:t>17</a:t>
            </a:fld>
            <a:endParaRPr lang="en-US"/>
          </a:p>
        </p:txBody>
      </p:sp>
      <p:sp>
        <p:nvSpPr>
          <p:cNvPr id="18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74A94-D121-4CC6-BE45-500F6E679710}" type="slidenum">
              <a:rPr lang="en-US"/>
              <a:pPr/>
              <a:t>20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74A94-D121-4CC6-BE45-500F6E679710}" type="slidenum">
              <a:rPr lang="en-US"/>
              <a:pPr/>
              <a:t>21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1068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74A94-D121-4CC6-BE45-500F6E679710}" type="slidenum">
              <a:rPr lang="en-US"/>
              <a:pPr/>
              <a:t>22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480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74A94-D121-4CC6-BE45-500F6E679710}" type="slidenum">
              <a:rPr lang="en-US"/>
              <a:pPr/>
              <a:t>23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421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E74A94-D121-4CC6-BE45-500F6E679710}" type="slidenum">
              <a:rPr lang="en-US"/>
              <a:pPr/>
              <a:t>24</a:t>
            </a:fld>
            <a:endParaRPr lang="en-US"/>
          </a:p>
        </p:txBody>
      </p:sp>
      <p:sp>
        <p:nvSpPr>
          <p:cNvPr id="18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19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31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10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49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14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63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14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32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6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3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7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01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25ACA82-CC01-4860-BE64-3DD47A943D88}" type="datetimeFigureOut">
              <a:rPr lang="en-US" smtClean="0"/>
              <a:pPr/>
              <a:t>9/22/2024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ABA51C3-65BC-45FB-8895-9BDAB4571A1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18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20H58665– Software Architecture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Instructor: 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3C01F5-FAA4-C938-BB6B-3DD810E43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297" y="375023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design methods</a:t>
            </a:r>
          </a:p>
          <a:p>
            <a:r>
              <a:rPr lang="en-US" dirty="0"/>
              <a:t>Design Paradigms</a:t>
            </a:r>
          </a:p>
          <a:p>
            <a:r>
              <a:rPr lang="en-US" dirty="0"/>
              <a:t>Typical Design Trade-offs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software architecture</a:t>
            </a:r>
          </a:p>
          <a:p>
            <a:r>
              <a:rPr lang="en-US" dirty="0"/>
              <a:t>Architecture </a:t>
            </a:r>
            <a:r>
              <a:rPr lang="en-US" dirty="0" err="1"/>
              <a:t>vs</a:t>
            </a:r>
            <a:r>
              <a:rPr lang="en-US" dirty="0"/>
              <a:t> Design</a:t>
            </a:r>
          </a:p>
          <a:p>
            <a:r>
              <a:rPr lang="en-US" dirty="0"/>
              <a:t>Architect’s responsibilities</a:t>
            </a:r>
          </a:p>
          <a:p>
            <a:r>
              <a:rPr lang="en-US" dirty="0"/>
              <a:t>Architecture Business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</a:t>
            </a:r>
            <a:r>
              <a:rPr lang="en-US" b="1" dirty="0"/>
              <a:t>Architecture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</a:t>
            </a:r>
            <a:r>
              <a:rPr lang="en-US" dirty="0"/>
              <a:t> </a:t>
            </a:r>
            <a:r>
              <a:rPr lang="en-US" b="1" dirty="0"/>
              <a:t>Architecture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905000"/>
            <a:ext cx="8229600" cy="4114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is the description of elements from which system is built, interactions among those elements, patterns that guide their composition, and constraints on the patterns.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Considers system as a collection of components and their interactions.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Components &amp; their Interactions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1910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Components</a:t>
            </a:r>
            <a:r>
              <a:rPr lang="en-US" dirty="0"/>
              <a:t> are such things as clients and servers, databases, layers, etc.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Interactions</a:t>
            </a:r>
            <a:r>
              <a:rPr lang="en-US" dirty="0"/>
              <a:t> among components can be procedure calls, shared variable access, etc.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At the architectural level, we also consider system-level issues such as capacity, consistency, performance, etc.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Architecture</a:t>
            </a:r>
            <a:endParaRPr lang="en-US" b="1" dirty="0"/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133600"/>
            <a:ext cx="8382000" cy="41910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GB" altLang="zh-CN" sz="3600" dirty="0">
                <a:latin typeface="Calibri" pitchFamily="34" charset="0"/>
                <a:ea typeface="宋体" charset="-122"/>
              </a:rPr>
              <a:t>The fundamental organization of a system embodied in its components, their relationships to each other, and to the environment, and the principles guiding its design and evolution </a:t>
            </a:r>
            <a:r>
              <a:rPr lang="en-GB" altLang="zh-CN" sz="2000" dirty="0">
                <a:latin typeface="Calibri" pitchFamily="34" charset="0"/>
                <a:ea typeface="宋体" charset="-122"/>
              </a:rPr>
              <a:t>[</a:t>
            </a:r>
            <a:r>
              <a:rPr lang="en-GB" altLang="zh-CN" sz="2000" dirty="0">
                <a:ea typeface="宋体" charset="-122"/>
              </a:rPr>
              <a:t>IEEE standard 1471–2000</a:t>
            </a:r>
            <a:r>
              <a:rPr lang="en-US" altLang="zh-CN" sz="2000" dirty="0">
                <a:ea typeface="宋体" charset="-122"/>
              </a:rPr>
              <a:t> ].</a:t>
            </a:r>
            <a:endParaRPr lang="en-US" altLang="zh-CN" sz="2000" dirty="0">
              <a:latin typeface="Calibri" pitchFamily="34" charset="0"/>
              <a:ea typeface="宋体" charset="-122"/>
            </a:endParaRP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endParaRPr lang="en-GB" altLang="zh-CN" sz="3600" dirty="0">
              <a:latin typeface="Calibri" pitchFamily="34" charset="0"/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E3C8B-AE58-0258-496E-B55FE376A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Architecture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0E6F-EAC6-D269-D10E-FBD168E7F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0" i="0" dirty="0">
                <a:solidFill>
                  <a:srgbClr val="000000"/>
                </a:solidFill>
                <a:effectLst/>
              </a:rPr>
              <a:t>Architecture serves as a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blueprint for a system</a:t>
            </a:r>
            <a:r>
              <a:rPr lang="en-US" b="0" i="0" dirty="0">
                <a:solidFill>
                  <a:srgbClr val="000000"/>
                </a:solidFill>
                <a:effectLst/>
              </a:rPr>
              <a:t>. It provides an abstraction to manage the system complexity and establish a communication and coordination mechanism among components.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It defines a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structured solution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to meet all the technical and operational requirements, while optimizing the common quality attributes like performance and security.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Further, it involves a set of significant decisions about the organization related to software development and each of these decisions can have a considerable impact on quality, maintainability, performance, and the overall success of the final product. These decisions comprise of −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Selection of structural elements and their interfaces by which the system is composed.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Behavior as specified in collaborations among those elements.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Composition of these structural and behavioral elements into large subsystem.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Architectural decisions align with business objectives.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Architectural styles guide the organization.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5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Software Architecture</a:t>
            </a:r>
            <a:endParaRPr lang="en-US" b="1" dirty="0"/>
          </a:p>
        </p:txBody>
      </p:sp>
      <p:sp>
        <p:nvSpPr>
          <p:cNvPr id="222211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4648200"/>
            <a:ext cx="6172200" cy="178752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GB" sz="2600" i="1">
                <a:latin typeface="Garamond" pitchFamily="18" charset="0"/>
              </a:rPr>
              <a:t>What is the nature of the elements?</a:t>
            </a:r>
          </a:p>
          <a:p>
            <a:pPr>
              <a:lnSpc>
                <a:spcPct val="90000"/>
              </a:lnSpc>
            </a:pPr>
            <a:r>
              <a:rPr lang="en-GB" sz="2600" i="1">
                <a:latin typeface="Garamond" pitchFamily="18" charset="0"/>
              </a:rPr>
              <a:t>What are the responsibilities of the elements?</a:t>
            </a:r>
          </a:p>
          <a:p>
            <a:pPr>
              <a:lnSpc>
                <a:spcPct val="90000"/>
              </a:lnSpc>
            </a:pPr>
            <a:r>
              <a:rPr lang="en-GB" sz="2600" i="1">
                <a:latin typeface="Garamond" pitchFamily="18" charset="0"/>
              </a:rPr>
              <a:t>What is the significance of the connections?</a:t>
            </a:r>
          </a:p>
          <a:p>
            <a:pPr>
              <a:lnSpc>
                <a:spcPct val="90000"/>
              </a:lnSpc>
            </a:pPr>
            <a:r>
              <a:rPr lang="en-GB" sz="2600" i="1">
                <a:latin typeface="Garamond" pitchFamily="18" charset="0"/>
              </a:rPr>
              <a:t>What is the significance of the layout?</a:t>
            </a:r>
            <a:endParaRPr lang="en-US" sz="2600" i="1">
              <a:latin typeface="Garamond" pitchFamily="18" charset="0"/>
            </a:endParaRPr>
          </a:p>
        </p:txBody>
      </p:sp>
      <p:sp>
        <p:nvSpPr>
          <p:cNvPr id="222213" name="AutoShape 5" descr="graphics/02fig01.gif"/>
          <p:cNvSpPr>
            <a:spLocks noChangeAspect="1" noChangeArrowheads="1"/>
          </p:cNvSpPr>
          <p:nvPr/>
        </p:nvSpPr>
        <p:spPr bwMode="auto">
          <a:xfrm>
            <a:off x="2190750" y="2181225"/>
            <a:ext cx="4762500" cy="2495550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7725" y="2057400"/>
            <a:ext cx="707707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Where does architecture design come from?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architecture design representation is derived from the system requirement specification and the analysis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Who is responsible for developing the architecture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Software architects and designers are involved in this process by translating (mapping) the software system requirements into architecture design.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is software architecture design so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poor design may result in a deficient product that </a:t>
            </a:r>
          </a:p>
          <a:p>
            <a:pPr lvl="1"/>
            <a:r>
              <a:rPr lang="en-US" dirty="0"/>
              <a:t>does not meet system requirements, </a:t>
            </a:r>
          </a:p>
          <a:p>
            <a:pPr lvl="1"/>
            <a:r>
              <a:rPr lang="en-US" dirty="0"/>
              <a:t>is not adaptive to future requirement changes, </a:t>
            </a:r>
          </a:p>
          <a:p>
            <a:pPr lvl="1"/>
            <a:r>
              <a:rPr lang="en-US" dirty="0"/>
              <a:t>is not reusable, </a:t>
            </a:r>
          </a:p>
          <a:p>
            <a:pPr lvl="1"/>
            <a:r>
              <a:rPr lang="en-US" dirty="0"/>
              <a:t>exhibits unpredictable behavior, or</a:t>
            </a:r>
          </a:p>
          <a:p>
            <a:pPr lvl="1"/>
            <a:r>
              <a:rPr lang="en-US" dirty="0"/>
              <a:t>performs badly. 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When is software design conducted?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design is an early phase of the Software Development Life Cycle (SDLC).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910114"/>
            <a:ext cx="6477000" cy="3338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the outcome of the software architecture design?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Simply put, it is an overall representation of the software to be built. 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 complete software architecture specification must describe not only </a:t>
            </a:r>
          </a:p>
          <a:p>
            <a:pPr lvl="1"/>
            <a:r>
              <a:rPr lang="en-US" dirty="0"/>
              <a:t>the elements and connectors between elements, but also the</a:t>
            </a:r>
          </a:p>
          <a:p>
            <a:pPr lvl="1"/>
            <a:r>
              <a:rPr lang="en-US" dirty="0"/>
              <a:t>constraints and runtime behaviors </a:t>
            </a:r>
          </a:p>
          <a:p>
            <a:pPr>
              <a:buNone/>
            </a:pPr>
            <a:r>
              <a:rPr lang="en-US" dirty="0"/>
              <a:t>so that developers know what and how the design should be implemented.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and Design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vs. Design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/>
              <a:t>“All architecture is design, not all design is architecture”.</a:t>
            </a:r>
          </a:p>
          <a:p>
            <a:endParaRPr lang="en-US" sz="2600"/>
          </a:p>
          <a:p>
            <a:r>
              <a:rPr lang="en-US" sz="2600"/>
              <a:t>Architectural design is outward looking</a:t>
            </a:r>
          </a:p>
          <a:p>
            <a:pPr lvl="2"/>
            <a:r>
              <a:rPr lang="en-US"/>
              <a:t>Focus on stakeholders, not technology</a:t>
            </a:r>
          </a:p>
          <a:p>
            <a:endParaRPr lang="en-US" sz="2600"/>
          </a:p>
          <a:p>
            <a:r>
              <a:rPr lang="en-US" sz="2600"/>
              <a:t>Architecture doesn't describe the complete characteristics of components – Design does. </a:t>
            </a:r>
          </a:p>
          <a:p>
            <a:endParaRPr lang="en-US" sz="26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249488" y="2133600"/>
            <a:ext cx="4989512" cy="3776663"/>
            <a:chOff x="432" y="1632"/>
            <a:chExt cx="3143" cy="2379"/>
          </a:xfrm>
        </p:grpSpPr>
        <p:sp>
          <p:nvSpPr>
            <p:cNvPr id="166916" name="Oval 4"/>
            <p:cNvSpPr>
              <a:spLocks noChangeArrowheads="1"/>
            </p:cNvSpPr>
            <p:nvPr/>
          </p:nvSpPr>
          <p:spPr bwMode="auto">
            <a:xfrm>
              <a:off x="912" y="2139"/>
              <a:ext cx="1488" cy="144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107950" tIns="53975" rIns="107950" bIns="53975" anchor="ctr"/>
            <a:lstStyle/>
            <a:p>
              <a:endParaRPr lang="en-US"/>
            </a:p>
          </p:txBody>
        </p:sp>
        <p:sp>
          <p:nvSpPr>
            <p:cNvPr id="166917" name="Oval 5"/>
            <p:cNvSpPr>
              <a:spLocks noChangeArrowheads="1"/>
            </p:cNvSpPr>
            <p:nvPr/>
          </p:nvSpPr>
          <p:spPr bwMode="auto">
            <a:xfrm>
              <a:off x="1296" y="2523"/>
              <a:ext cx="720" cy="6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107950" tIns="53975" rIns="107950" bIns="53975" anchor="ctr"/>
            <a:lstStyle/>
            <a:p>
              <a:pPr algn="ctr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1" i="1">
                  <a:solidFill>
                    <a:schemeClr val="tx2"/>
                  </a:solidFill>
                  <a:latin typeface="ZapfHumnst BT" pitchFamily="34" charset="0"/>
                  <a:ea typeface="ＭＳ Ｐゴシック" pitchFamily="-18" charset="-128"/>
                </a:rPr>
                <a:t>CODE</a:t>
              </a:r>
            </a:p>
          </p:txBody>
        </p:sp>
        <p:sp>
          <p:nvSpPr>
            <p:cNvPr id="166918" name="Oval 6"/>
            <p:cNvSpPr>
              <a:spLocks noChangeArrowheads="1"/>
            </p:cNvSpPr>
            <p:nvPr/>
          </p:nvSpPr>
          <p:spPr bwMode="auto">
            <a:xfrm>
              <a:off x="432" y="1659"/>
              <a:ext cx="2496" cy="235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107950" tIns="53975" rIns="107950" bIns="53975" anchor="ctr"/>
            <a:lstStyle/>
            <a:p>
              <a:endParaRPr lang="en-US"/>
            </a:p>
          </p:txBody>
        </p:sp>
        <p:sp>
          <p:nvSpPr>
            <p:cNvPr id="166919" name="Line 7"/>
            <p:cNvSpPr>
              <a:spLocks noChangeShapeType="1"/>
            </p:cNvSpPr>
            <p:nvPr/>
          </p:nvSpPr>
          <p:spPr bwMode="auto">
            <a:xfrm flipH="1">
              <a:off x="1889" y="2349"/>
              <a:ext cx="289" cy="28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107950" tIns="53975" rIns="107950" bIns="53975" anchor="ctr"/>
            <a:lstStyle/>
            <a:p>
              <a:endParaRPr lang="en-US"/>
            </a:p>
          </p:txBody>
        </p:sp>
        <p:sp>
          <p:nvSpPr>
            <p:cNvPr id="166920" name="Text Box 8"/>
            <p:cNvSpPr txBox="1">
              <a:spLocks noChangeArrowheads="1"/>
            </p:cNvSpPr>
            <p:nvPr/>
          </p:nvSpPr>
          <p:spPr bwMode="auto">
            <a:xfrm>
              <a:off x="1991" y="2433"/>
              <a:ext cx="1200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07950" tIns="53975" rIns="107950" bIns="53975">
              <a:spAutoFit/>
            </a:bodyPr>
            <a:lstStyle/>
            <a:p>
              <a:pPr algn="l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1">
                  <a:solidFill>
                    <a:schemeClr val="tx2"/>
                  </a:solidFill>
                  <a:latin typeface="Arial" charset="0"/>
                  <a:ea typeface="ＭＳ Ｐゴシック" pitchFamily="-18" charset="-128"/>
                </a:rPr>
                <a:t>implementation</a:t>
              </a:r>
            </a:p>
          </p:txBody>
        </p:sp>
        <p:sp>
          <p:nvSpPr>
            <p:cNvPr id="166921" name="Text Box 9"/>
            <p:cNvSpPr txBox="1">
              <a:spLocks noChangeArrowheads="1"/>
            </p:cNvSpPr>
            <p:nvPr/>
          </p:nvSpPr>
          <p:spPr bwMode="auto">
            <a:xfrm>
              <a:off x="2301" y="2094"/>
              <a:ext cx="640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07950" tIns="53975" rIns="107950" bIns="53975">
              <a:spAutoFit/>
            </a:bodyPr>
            <a:lstStyle/>
            <a:p>
              <a:pPr algn="l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1">
                  <a:solidFill>
                    <a:schemeClr val="tx2"/>
                  </a:solidFill>
                  <a:latin typeface="Arial" charset="0"/>
                  <a:ea typeface="ＭＳ Ｐゴシック" pitchFamily="-18" charset="-128"/>
                </a:rPr>
                <a:t> design</a:t>
              </a:r>
            </a:p>
          </p:txBody>
        </p:sp>
        <p:sp>
          <p:nvSpPr>
            <p:cNvPr id="166922" name="Text Box 10"/>
            <p:cNvSpPr txBox="1">
              <a:spLocks noChangeArrowheads="1"/>
            </p:cNvSpPr>
            <p:nvPr/>
          </p:nvSpPr>
          <p:spPr bwMode="auto">
            <a:xfrm>
              <a:off x="2615" y="1796"/>
              <a:ext cx="960" cy="2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107950" tIns="53975" rIns="107950" bIns="53975">
              <a:spAutoFit/>
            </a:bodyPr>
            <a:lstStyle/>
            <a:p>
              <a:pPr algn="l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800" b="1">
                  <a:solidFill>
                    <a:schemeClr val="tx2"/>
                  </a:solidFill>
                  <a:latin typeface="Arial" charset="0"/>
                  <a:ea typeface="ＭＳ Ｐゴシック" pitchFamily="-18" charset="-128"/>
                </a:rPr>
                <a:t>architecture</a:t>
              </a:r>
            </a:p>
          </p:txBody>
        </p:sp>
        <p:sp>
          <p:nvSpPr>
            <p:cNvPr id="166923" name="Line 11"/>
            <p:cNvSpPr>
              <a:spLocks noChangeShapeType="1"/>
            </p:cNvSpPr>
            <p:nvPr/>
          </p:nvSpPr>
          <p:spPr bwMode="auto">
            <a:xfrm flipH="1">
              <a:off x="2182" y="1994"/>
              <a:ext cx="350" cy="35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107950" tIns="53975" rIns="107950" bIns="53975" anchor="ctr"/>
            <a:lstStyle/>
            <a:p>
              <a:endParaRPr lang="en-US"/>
            </a:p>
          </p:txBody>
        </p:sp>
        <p:sp>
          <p:nvSpPr>
            <p:cNvPr id="166924" name="Line 12"/>
            <p:cNvSpPr>
              <a:spLocks noChangeShapeType="1"/>
            </p:cNvSpPr>
            <p:nvPr/>
          </p:nvSpPr>
          <p:spPr bwMode="auto">
            <a:xfrm flipH="1">
              <a:off x="2554" y="1632"/>
              <a:ext cx="350" cy="35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lIns="107950" tIns="53975" rIns="107950" bIns="53975" anchor="ctr"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A248884-9419-654A-9044-78DBAFAAB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960" y="286604"/>
            <a:ext cx="7543800" cy="1280259"/>
          </a:xfrm>
        </p:spPr>
        <p:txBody>
          <a:bodyPr/>
          <a:lstStyle/>
          <a:p>
            <a:r>
              <a:rPr lang="en-US" b="1" dirty="0"/>
              <a:t>Architecture vs. Design</a:t>
            </a: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Architecture in Context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80895"/>
            <a:ext cx="8229600" cy="4013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Architect’s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Software Architect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A Software Architect provides a solution that the technical team can create and design for the entire application. A software architect should have expertise in the following areas</a:t>
            </a:r>
          </a:p>
          <a:p>
            <a:pPr algn="l"/>
            <a:r>
              <a:rPr lang="en-US" b="0" i="0" u="sng" dirty="0">
                <a:effectLst/>
                <a:cs typeface="Heebo" panose="020B0604020202020204" pitchFamily="2" charset="-79"/>
              </a:rPr>
              <a:t>Design Expertise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Expert in software design, including diverse methods and approaches such as object-oriented design, event-driven design,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Lead the development team and coordinate the development efforts for the integrity of the design.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Should be able to review design proposals and tradeoff among themselves.</a:t>
            </a:r>
          </a:p>
          <a:p>
            <a:pPr marL="201168" lvl="1" indent="0" algn="just">
              <a:buNone/>
            </a:pPr>
            <a:endParaRPr lang="en-US" dirty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Software Architect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 u="sng" dirty="0">
                <a:effectLst/>
                <a:cs typeface="Heebo" pitchFamily="2" charset="-79"/>
              </a:rPr>
              <a:t>Domain Expertise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Expert on the system being developed and plan for software evolution.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Assist in the requirement investigation process, assuring completeness and consistency.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Coordinate the definition of domain model for the system being developed.</a:t>
            </a:r>
          </a:p>
          <a:p>
            <a:pPr algn="l"/>
            <a:r>
              <a:rPr lang="en-US" b="0" i="0" u="sng" dirty="0">
                <a:effectLst/>
                <a:cs typeface="Heebo" pitchFamily="2" charset="-79"/>
              </a:rPr>
              <a:t>Technology Expertise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Expert on available technologies that helps in the implementation of the system.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Coordinate the selection of programming language, framework, platforms, databases, etc.</a:t>
            </a:r>
          </a:p>
          <a:p>
            <a:pPr marL="201168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45572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Software Architect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0" i="0" u="sng" dirty="0">
                <a:effectLst/>
                <a:cs typeface="Heebo" pitchFamily="2" charset="-79"/>
              </a:rPr>
              <a:t>Methodological Expertise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Expert on software development methodologies that may be adopted during SDLC (Software Development Life Cycle).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Choose the appropriate approaches for development that helps the entire team.</a:t>
            </a:r>
          </a:p>
          <a:p>
            <a:pPr algn="l"/>
            <a:r>
              <a:rPr lang="en-US" b="0" i="0" u="sng" dirty="0">
                <a:effectLst/>
                <a:cs typeface="Heebo" pitchFamily="2" charset="-79"/>
              </a:rPr>
              <a:t>Hidden Role of Software Architect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Facilitates the technical work among team members and reinforcing the trust relationship in the team.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Information specialist who shares knowledge and has vast experience.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Protect the team members from external forces that would distract them and bring less value to the project.</a:t>
            </a:r>
          </a:p>
          <a:p>
            <a:pPr marL="201168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08593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Role of Software Architect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b="0" i="0" u="sng" dirty="0">
                <a:effectLst/>
                <a:cs typeface="Heebo" pitchFamily="2" charset="-79"/>
              </a:rPr>
              <a:t>Deliverables of the Architect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 clear, complete, consistent, and achievable set of functional goals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 functional description of the system, with at least two layers of decomposition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 concept for the system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 design in the form of the system, with at least two layers of decomposition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 notion of the timing, operator attributes, and the implementation and operation plans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A document or process which ensures functional decomposition is followed, and the form of interfaces is controlled</a:t>
            </a:r>
          </a:p>
          <a:p>
            <a:pPr marL="201168" lvl="1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37000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influences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Influences	</a:t>
            </a:r>
          </a:p>
          <a:p>
            <a:pPr lvl="1"/>
            <a:r>
              <a:rPr lang="en-US" dirty="0"/>
              <a:t>System Stakeholders</a:t>
            </a:r>
          </a:p>
          <a:p>
            <a:pPr lvl="1"/>
            <a:r>
              <a:rPr lang="en-US" dirty="0"/>
              <a:t>Developing organization</a:t>
            </a:r>
          </a:p>
          <a:p>
            <a:pPr lvl="1"/>
            <a:r>
              <a:rPr lang="en-US" dirty="0"/>
              <a:t>Architects’ background and experience</a:t>
            </a:r>
          </a:p>
          <a:p>
            <a:pPr lvl="1"/>
            <a:r>
              <a:rPr lang="en-US" dirty="0"/>
              <a:t>Technical environment</a:t>
            </a:r>
          </a:p>
          <a:p>
            <a:pPr lvl="1"/>
            <a:endParaRPr lang="en-US" dirty="0"/>
          </a:p>
          <a:p>
            <a:r>
              <a:rPr lang="en-US" dirty="0"/>
              <a:t>Precautionary measures</a:t>
            </a:r>
          </a:p>
          <a:p>
            <a:pPr lvl="1"/>
            <a:r>
              <a:rPr lang="en-US" dirty="0"/>
              <a:t>Know your constraints</a:t>
            </a:r>
          </a:p>
          <a:p>
            <a:pPr lvl="1"/>
            <a:r>
              <a:rPr lang="en-US" dirty="0"/>
              <a:t>Early engagement  of stakeholders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428423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380" name="Picture 4" descr="fig1_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04800"/>
            <a:ext cx="6934200" cy="5791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452" name="Picture 4" descr="fig1_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533400"/>
            <a:ext cx="7162800" cy="4343400"/>
          </a:xfrm>
          <a:prstGeom prst="rect">
            <a:avLst/>
          </a:prstGeom>
          <a:noFill/>
        </p:spPr>
      </p:pic>
      <p:sp>
        <p:nvSpPr>
          <p:cNvPr id="232453" name="Text Box 5"/>
          <p:cNvSpPr txBox="1">
            <a:spLocks noChangeArrowheads="1"/>
          </p:cNvSpPr>
          <p:nvPr/>
        </p:nvSpPr>
        <p:spPr bwMode="auto">
          <a:xfrm>
            <a:off x="2209800" y="5105400"/>
            <a:ext cx="4316413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/>
              <a:t>Influences on the architecture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476" name="Picture 4" descr="fig1_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57200"/>
            <a:ext cx="6553200" cy="4468813"/>
          </a:xfrm>
          <a:prstGeom prst="rect">
            <a:avLst/>
          </a:prstGeom>
          <a:noFill/>
        </p:spPr>
      </p:pic>
      <p:sp>
        <p:nvSpPr>
          <p:cNvPr id="233477" name="Text Box 5"/>
          <p:cNvSpPr txBox="1">
            <a:spLocks noChangeArrowheads="1"/>
          </p:cNvSpPr>
          <p:nvPr/>
        </p:nvSpPr>
        <p:spPr bwMode="auto">
          <a:xfrm>
            <a:off x="1447800" y="5062538"/>
            <a:ext cx="5715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GB"/>
              <a:t>The Architecture Business Cycle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ARCHITECT’S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 static partition and decomposition of a system into subsystems and communications among subsystems. </a:t>
            </a:r>
          </a:p>
          <a:p>
            <a:endParaRPr lang="en-US" dirty="0"/>
          </a:p>
          <a:p>
            <a:pPr lvl="1" algn="just"/>
            <a:r>
              <a:rPr lang="en-US" dirty="0"/>
              <a:t>A software element can be configured, delivered, developed, and deployed, and is replaceable in the future. </a:t>
            </a:r>
          </a:p>
          <a:p>
            <a:pPr lvl="1"/>
            <a:r>
              <a:rPr lang="en-US" dirty="0"/>
              <a:t>Each element's interface encapsulates details and provides loose coupling with other elements or subsystems.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ARCHITECT’S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Establish dynamic control relationships among different subsystems in terms of data flow, control flow orchestration, or message dispatching.</a:t>
            </a:r>
          </a:p>
          <a:p>
            <a:endParaRPr lang="en-US" dirty="0"/>
          </a:p>
          <a:p>
            <a:r>
              <a:rPr lang="en-US" dirty="0"/>
              <a:t>Consider and evaluate alternative architecture styles that suit the problem domain at hand.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 ARCHITECT’S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Perform tradeoff analysis on quality attributes and other nonfunctional requirements during the selection of architecture styles. </a:t>
            </a:r>
          </a:p>
          <a:p>
            <a:endParaRPr lang="en-US" dirty="0"/>
          </a:p>
          <a:p>
            <a:pPr lvl="1"/>
            <a:r>
              <a:rPr lang="en-US" dirty="0"/>
              <a:t>For example, in order to increase a distributed system's extensibility, portability, or maintainability, software components and Web services may be the best choice of element types, and a loose connection among these elements may be most appropriate.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 Business Cycle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Architecture Business Cycle (ABC)</a:t>
            </a:r>
            <a:endParaRPr lang="en-US" b="1" dirty="0"/>
          </a:p>
        </p:txBody>
      </p:sp>
      <p:sp>
        <p:nvSpPr>
          <p:cNvPr id="2191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2672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GB" dirty="0"/>
              <a:t>Software architecture is a result of technical, business and social influences.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dirty="0"/>
              <a:t>These are in turn affected by the software architecture itself.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dirty="0"/>
              <a:t>This cycle of influences from the environment to the architecture and back to the environment is called the </a:t>
            </a:r>
            <a:r>
              <a:rPr lang="en-GB" i="1" dirty="0"/>
              <a:t>Architecture Business Cycle (ABC)</a:t>
            </a:r>
            <a:r>
              <a:rPr lang="en-GB" dirty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9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9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9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50D241-6C31-BAEC-EBE2-E49653A3A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77" y="685800"/>
            <a:ext cx="7491046" cy="5410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46C835-EADB-EF47-768F-3C65D35469C0}"/>
              </a:ext>
            </a:extLst>
          </p:cNvPr>
          <p:cNvSpPr txBox="1"/>
          <p:nvPr/>
        </p:nvSpPr>
        <p:spPr>
          <a:xfrm>
            <a:off x="3276600" y="3926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Architecture Business Cycle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122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ABC Activities</a:t>
            </a: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305800" cy="40386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GB" b="1" dirty="0"/>
              <a:t>Creating the business case for the system</a:t>
            </a:r>
          </a:p>
          <a:p>
            <a:pPr lvl="1"/>
            <a:r>
              <a:rPr lang="en-GB" dirty="0"/>
              <a:t>Why we need a new system, what will be its cost? Time to market, integration with existing systems?</a:t>
            </a:r>
          </a:p>
          <a:p>
            <a:pPr lvl="1"/>
            <a:endParaRPr lang="en-GB" dirty="0"/>
          </a:p>
          <a:p>
            <a:pPr>
              <a:buFont typeface="Wingdings" pitchFamily="2" charset="2"/>
              <a:buNone/>
            </a:pPr>
            <a:r>
              <a:rPr lang="en-GB" b="1" dirty="0"/>
              <a:t>Understanding the Requirements</a:t>
            </a:r>
          </a:p>
          <a:p>
            <a:pPr lvl="1"/>
            <a:r>
              <a:rPr lang="en-GB" dirty="0"/>
              <a:t>Various approaches for requirements elicitation i.e., object-oriented approach, prototyping etc.</a:t>
            </a:r>
          </a:p>
          <a:p>
            <a:pPr lvl="1"/>
            <a:r>
              <a:rPr lang="en-GB" dirty="0"/>
              <a:t>The desired qualities of a system shape the architectural decisions – architecture defines the tradeoffs among requirements</a:t>
            </a:r>
          </a:p>
          <a:p>
            <a:pPr lvl="1"/>
            <a:endParaRPr lang="en-GB" dirty="0"/>
          </a:p>
          <a:p>
            <a:pPr>
              <a:buFont typeface="Wingdings" pitchFamily="2" charset="2"/>
              <a:buNone/>
            </a:pPr>
            <a:r>
              <a:rPr lang="en-GB" b="1" dirty="0"/>
              <a:t>Creating/selecting the architecture</a:t>
            </a:r>
          </a:p>
          <a:p>
            <a:pPr lvl="1"/>
            <a:endParaRPr lang="en-GB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0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0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0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0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ABC Activities  …</a:t>
            </a:r>
            <a:endParaRPr lang="en-US" b="1" dirty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b="1" dirty="0"/>
              <a:t>Communicating the architecture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Inform all stakeholders (i.e., developers, testers, managers, etc.)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Architecture’s documentation should be unambiguous</a:t>
            </a:r>
          </a:p>
          <a:p>
            <a:pPr lvl="1"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b="1" dirty="0"/>
              <a:t>Analysing or evaluating the architecture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Evaluate candidate designs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Architecture maps the stakeholders’ requirements/needs</a:t>
            </a:r>
          </a:p>
          <a:p>
            <a:pPr lvl="1">
              <a:lnSpc>
                <a:spcPct val="90000"/>
              </a:lnSpc>
            </a:pPr>
            <a:endParaRPr lang="en-GB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b="1" dirty="0"/>
              <a:t>Implementation based on architecture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GB" b="1" dirty="0"/>
              <a:t>Ensuring conformance to an architecture</a:t>
            </a:r>
          </a:p>
          <a:p>
            <a:pPr>
              <a:lnSpc>
                <a:spcPct val="90000"/>
              </a:lnSpc>
            </a:pPr>
            <a:endParaRPr lang="en-GB" b="1" dirty="0"/>
          </a:p>
          <a:p>
            <a:pPr lvl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1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1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11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software architecture</a:t>
            </a:r>
          </a:p>
          <a:p>
            <a:r>
              <a:rPr lang="en-US" dirty="0"/>
              <a:t>Architecture </a:t>
            </a:r>
            <a:r>
              <a:rPr lang="en-US" dirty="0" err="1"/>
              <a:t>vs</a:t>
            </a:r>
            <a:r>
              <a:rPr lang="en-US" dirty="0"/>
              <a:t> Design</a:t>
            </a:r>
          </a:p>
          <a:p>
            <a:r>
              <a:rPr lang="en-US" dirty="0"/>
              <a:t>Architect’s responsibilities</a:t>
            </a:r>
          </a:p>
          <a:p>
            <a:r>
              <a:rPr lang="en-US" dirty="0"/>
              <a:t>Architecture Business Cycle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675</TotalTime>
  <Words>1306</Words>
  <Application>Microsoft Office PowerPoint</Application>
  <PresentationFormat>On-screen Show (4:3)</PresentationFormat>
  <Paragraphs>173</Paragraphs>
  <Slides>37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宋体</vt:lpstr>
      <vt:lpstr>ZapfHumnst BT</vt:lpstr>
      <vt:lpstr>Arial</vt:lpstr>
      <vt:lpstr>Calibri</vt:lpstr>
      <vt:lpstr>Calibri Light</vt:lpstr>
      <vt:lpstr>Garamond</vt:lpstr>
      <vt:lpstr>Heebo</vt:lpstr>
      <vt:lpstr>Wingdings</vt:lpstr>
      <vt:lpstr>Retrospect</vt:lpstr>
      <vt:lpstr>20H58665– Software Architecture</vt:lpstr>
      <vt:lpstr>Review</vt:lpstr>
      <vt:lpstr>Outline</vt:lpstr>
      <vt:lpstr>Software Architecture</vt:lpstr>
      <vt:lpstr>Software Architecture</vt:lpstr>
      <vt:lpstr>Components &amp; their Interactions</vt:lpstr>
      <vt:lpstr>Software Architecture</vt:lpstr>
      <vt:lpstr>Software Architecture</vt:lpstr>
      <vt:lpstr>Software Architecture</vt:lpstr>
      <vt:lpstr>Where does architecture design come from? </vt:lpstr>
      <vt:lpstr>Who is responsible for developing the architecture design?</vt:lpstr>
      <vt:lpstr>Why is software architecture design so important?</vt:lpstr>
      <vt:lpstr>When is software design conducted?</vt:lpstr>
      <vt:lpstr>What is the outcome of the software architecture design?</vt:lpstr>
      <vt:lpstr>Architecture and Design</vt:lpstr>
      <vt:lpstr>Architecture vs. Design</vt:lpstr>
      <vt:lpstr>Architecture vs. Design</vt:lpstr>
      <vt:lpstr>Software Architecture in Context</vt:lpstr>
      <vt:lpstr>Architect’s tasks</vt:lpstr>
      <vt:lpstr>Role of Software Architect</vt:lpstr>
      <vt:lpstr>Role of Software Architect</vt:lpstr>
      <vt:lpstr>Role of Software Architect</vt:lpstr>
      <vt:lpstr>Role of Software Architect</vt:lpstr>
      <vt:lpstr>Architectural influences</vt:lpstr>
      <vt:lpstr>PowerPoint Presentation</vt:lpstr>
      <vt:lpstr>PowerPoint Presentation</vt:lpstr>
      <vt:lpstr>PowerPoint Presentation</vt:lpstr>
      <vt:lpstr>AN ARCHITECT’S TASKS</vt:lpstr>
      <vt:lpstr>AN ARCHITECT’S TASKS</vt:lpstr>
      <vt:lpstr>AN ARCHITECT’S TASKS</vt:lpstr>
      <vt:lpstr>Architecture Business Cycle</vt:lpstr>
      <vt:lpstr>Architecture Business Cycle (ABC)</vt:lpstr>
      <vt:lpstr>PowerPoint Presentation</vt:lpstr>
      <vt:lpstr>ABC Activities</vt:lpstr>
      <vt:lpstr>ABC Activities  …</vt:lpstr>
      <vt:lpstr>Summary 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30</cp:revision>
  <dcterms:created xsi:type="dcterms:W3CDTF">2015-07-31T15:32:14Z</dcterms:created>
  <dcterms:modified xsi:type="dcterms:W3CDTF">2024-09-22T08:14:46Z</dcterms:modified>
</cp:coreProperties>
</file>