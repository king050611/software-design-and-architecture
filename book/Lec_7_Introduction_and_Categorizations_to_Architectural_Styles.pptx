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20" r:id="rId2"/>
    <p:sldId id="321" r:id="rId3"/>
    <p:sldId id="322" r:id="rId4"/>
    <p:sldId id="305" r:id="rId5"/>
    <p:sldId id="306" r:id="rId6"/>
    <p:sldId id="258" r:id="rId7"/>
    <p:sldId id="259" r:id="rId8"/>
    <p:sldId id="307" r:id="rId9"/>
    <p:sldId id="309" r:id="rId10"/>
    <p:sldId id="308" r:id="rId11"/>
    <p:sldId id="323" r:id="rId12"/>
    <p:sldId id="324" r:id="rId13"/>
    <p:sldId id="260" r:id="rId14"/>
    <p:sldId id="316" r:id="rId15"/>
    <p:sldId id="311" r:id="rId16"/>
    <p:sldId id="263" r:id="rId17"/>
    <p:sldId id="317" r:id="rId18"/>
    <p:sldId id="318" r:id="rId19"/>
    <p:sldId id="319" r:id="rId20"/>
    <p:sldId id="325" r:id="rId21"/>
    <p:sldId id="312" r:id="rId22"/>
    <p:sldId id="313" r:id="rId23"/>
    <p:sldId id="326" r:id="rId24"/>
    <p:sldId id="327" r:id="rId25"/>
    <p:sldId id="314" r:id="rId26"/>
    <p:sldId id="315" r:id="rId27"/>
    <p:sldId id="32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0"/>
  </p:normalViewPr>
  <p:slideViewPr>
    <p:cSldViewPr>
      <p:cViewPr varScale="1">
        <p:scale>
          <a:sx n="81" d="100"/>
          <a:sy n="81" d="100"/>
        </p:scale>
        <p:origin x="146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553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0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18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7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2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1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5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1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4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74ED9-745F-4B40-A9C6-03AEE5B8ECEC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39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8244840" cy="3566160"/>
          </a:xfrm>
        </p:spPr>
        <p:txBody>
          <a:bodyPr>
            <a:normAutofit/>
          </a:bodyPr>
          <a:lstStyle/>
          <a:p>
            <a:r>
              <a:rPr lang="en-US" sz="4800" b="1" dirty="0"/>
              <a:t>Introduction and Categorizations to Architectural Styles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8C32A-F4A1-0674-6029-1F95000F0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37" y="398907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Architectural Representation</a:t>
            </a:r>
          </a:p>
          <a:p>
            <a:pPr lvl="1"/>
            <a:r>
              <a:rPr lang="en-US" dirty="0"/>
              <a:t>Using UML</a:t>
            </a:r>
          </a:p>
          <a:p>
            <a:pPr lvl="1"/>
            <a:r>
              <a:rPr lang="en-US" dirty="0"/>
              <a:t>Using ADL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architectural styles</a:t>
            </a:r>
          </a:p>
          <a:p>
            <a:r>
              <a:rPr lang="en-US" dirty="0"/>
              <a:t>Categorizations of architectural styles</a:t>
            </a:r>
          </a:p>
          <a:p>
            <a:r>
              <a:rPr lang="en-US" dirty="0"/>
              <a:t>Hierarchical architectures</a:t>
            </a:r>
          </a:p>
          <a:p>
            <a:pPr lvl="1"/>
            <a:r>
              <a:rPr lang="en-US" dirty="0"/>
              <a:t>Layered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architecture style (also known as an “architecture pattern”) abstracts the common properties of a family of similar designs.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a family of systems in terms of a pattern of its structural organization.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68362"/>
          </a:xfrm>
        </p:spPr>
        <p:txBody>
          <a:bodyPr/>
          <a:lstStyle/>
          <a:p>
            <a:r>
              <a:rPr lang="en-US" b="1" dirty="0"/>
              <a:t>Components of a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82000" cy="441960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key components of an architecture style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Elements/components</a:t>
            </a:r>
          </a:p>
          <a:p>
            <a:pPr lvl="1"/>
            <a:r>
              <a:rPr lang="en-US" sz="2400" dirty="0"/>
              <a:t>that perform functions required by a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Connectors </a:t>
            </a:r>
          </a:p>
          <a:p>
            <a:pPr lvl="1"/>
            <a:r>
              <a:rPr lang="en-US" sz="2400" dirty="0"/>
              <a:t>that enable communication, coordination, and cooperation among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Constraints </a:t>
            </a:r>
          </a:p>
          <a:p>
            <a:pPr lvl="1"/>
            <a:r>
              <a:rPr lang="en-US" sz="2400" dirty="0"/>
              <a:t>that define how elements can be integrated to form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Attributes </a:t>
            </a:r>
          </a:p>
          <a:p>
            <a:pPr lvl="1"/>
            <a:r>
              <a:rPr lang="en-US" sz="2400" dirty="0"/>
              <a:t>that describe the advantages and disadvantages of the chosen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Categories of Architectural Styles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Hierarchal Software Architecture</a:t>
            </a:r>
          </a:p>
          <a:p>
            <a:pPr lvl="1"/>
            <a:r>
              <a:rPr lang="en-US" dirty="0"/>
              <a:t>Layered</a:t>
            </a:r>
          </a:p>
          <a:p>
            <a:r>
              <a:rPr lang="en-US" dirty="0"/>
              <a:t>Distributed Software Architecture</a:t>
            </a:r>
          </a:p>
          <a:p>
            <a:pPr lvl="1"/>
            <a:r>
              <a:rPr lang="en-US" dirty="0"/>
              <a:t>Client Server</a:t>
            </a:r>
          </a:p>
          <a:p>
            <a:pPr lvl="1"/>
            <a:r>
              <a:rPr lang="en-US" dirty="0"/>
              <a:t>SOA</a:t>
            </a:r>
          </a:p>
          <a:p>
            <a:r>
              <a:rPr lang="en-US" dirty="0"/>
              <a:t>Data Flow Software Architecture</a:t>
            </a:r>
          </a:p>
          <a:p>
            <a:pPr lvl="1"/>
            <a:r>
              <a:rPr lang="en-US" dirty="0"/>
              <a:t>Pipe n Filter</a:t>
            </a:r>
          </a:p>
          <a:p>
            <a:pPr lvl="1"/>
            <a:r>
              <a:rPr lang="en-US" dirty="0"/>
              <a:t>Batch Sequential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 Based Software Architecture</a:t>
            </a:r>
          </a:p>
          <a:p>
            <a:r>
              <a:rPr lang="en-US" dirty="0"/>
              <a:t>Data Centered Software Architecture</a:t>
            </a:r>
          </a:p>
          <a:p>
            <a:pPr lvl="1"/>
            <a:r>
              <a:rPr lang="en-US"/>
              <a:t>Black board</a:t>
            </a:r>
            <a:endParaRPr lang="en-US" dirty="0"/>
          </a:p>
          <a:p>
            <a:pPr lvl="1"/>
            <a:r>
              <a:rPr lang="en-US" dirty="0"/>
              <a:t>Shared Repository</a:t>
            </a:r>
          </a:p>
          <a:p>
            <a:r>
              <a:rPr lang="en-US" dirty="0"/>
              <a:t>Interaction-Oriented Software Architectures</a:t>
            </a:r>
          </a:p>
          <a:p>
            <a:pPr lvl="1"/>
            <a:r>
              <a:rPr lang="en-US" dirty="0"/>
              <a:t>Model View Controller</a:t>
            </a:r>
          </a:p>
          <a:p>
            <a:r>
              <a:rPr lang="en-US" dirty="0"/>
              <a:t>Component-Based Software Architecture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Hierarchal Software Architecture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Hierarchal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hierarchical software architecture is characterized by viewing the entire system as a hierarchy structure.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software system is decomposed into logical modules (subsystems) at different levels in the hierarchy.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Hierarchal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at different levels are connected by explicit or implicit method invocations. </a:t>
            </a:r>
          </a:p>
          <a:p>
            <a:pPr lvl="1"/>
            <a:r>
              <a:rPr lang="en-US" dirty="0"/>
              <a:t>a lower-level module provides services to its adjacent upper-level modules, which invokes the methods or procedures in the lower level.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2554" y="3475901"/>
            <a:ext cx="4598891" cy="2162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Hierarchal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1"/>
            <a:ext cx="8229600" cy="4388802"/>
          </a:xfrm>
        </p:spPr>
        <p:txBody>
          <a:bodyPr>
            <a:normAutofit/>
          </a:bodyPr>
          <a:lstStyle/>
          <a:p>
            <a:r>
              <a:rPr lang="en-US" dirty="0"/>
              <a:t>System software is typically designed using the hierarchical architecture style; </a:t>
            </a:r>
          </a:p>
          <a:p>
            <a:pPr lvl="1"/>
            <a:r>
              <a:rPr lang="en-US" dirty="0"/>
              <a:t>examples include Microsoft .NET, Unix operating system, TCP/IP, etc. </a:t>
            </a:r>
          </a:p>
          <a:p>
            <a:pPr lvl="1"/>
            <a:endParaRPr lang="en-US" dirty="0"/>
          </a:p>
        </p:txBody>
      </p:sp>
      <p:pic>
        <p:nvPicPr>
          <p:cNvPr id="4" name="Picture 3" descr="figure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4C"/>
              </a:clrFrom>
              <a:clrTo>
                <a:srgbClr val="FFFF4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85060" y="2514600"/>
            <a:ext cx="4419600" cy="34206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Hierarchal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906963"/>
          </a:xfrm>
        </p:spPr>
        <p:txBody>
          <a:bodyPr>
            <a:normAutofit/>
          </a:bodyPr>
          <a:lstStyle/>
          <a:p>
            <a:r>
              <a:rPr lang="en-US" dirty="0"/>
              <a:t>Lower levels provide more specific functionality down to fundamental utility services </a:t>
            </a:r>
          </a:p>
          <a:p>
            <a:pPr lvl="1"/>
            <a:r>
              <a:rPr lang="en-US" dirty="0"/>
              <a:t>such as I/O services, transaction, scheduling, and security services, etc. </a:t>
            </a:r>
          </a:p>
          <a:p>
            <a:pPr lvl="1"/>
            <a:endParaRPr lang="en-US" dirty="0"/>
          </a:p>
          <a:p>
            <a:r>
              <a:rPr lang="en-US" dirty="0"/>
              <a:t>Middle layers, in an application setting, provide more domain- dependent functions </a:t>
            </a:r>
          </a:p>
          <a:p>
            <a:pPr lvl="1"/>
            <a:r>
              <a:rPr lang="en-US" dirty="0"/>
              <a:t>such as business logic or core processing services. </a:t>
            </a:r>
          </a:p>
          <a:p>
            <a:pPr lvl="1"/>
            <a:endParaRPr lang="en-US" dirty="0"/>
          </a:p>
          <a:p>
            <a:r>
              <a:rPr lang="en-US" dirty="0"/>
              <a:t>Upper layers provide more abstract functionality in the form of user interfaces </a:t>
            </a:r>
          </a:p>
          <a:p>
            <a:pPr lvl="1"/>
            <a:r>
              <a:rPr lang="en-US" dirty="0"/>
              <a:t>such as command line interpreters, GUIs, Shell programming facilities, etc.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Layered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Layered Style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Organized hierarchically into layers.</a:t>
            </a:r>
          </a:p>
          <a:p>
            <a:endParaRPr lang="en-US" dirty="0"/>
          </a:p>
          <a:p>
            <a:r>
              <a:rPr lang="en-US" dirty="0"/>
              <a:t>Each layer provides service to the layer above it and serves as a client to the layer below. </a:t>
            </a:r>
          </a:p>
          <a:p>
            <a:endParaRPr lang="en-US" dirty="0"/>
          </a:p>
          <a:p>
            <a:r>
              <a:rPr lang="en-US" dirty="0"/>
              <a:t>The connectors are defined by the protocols that determine how the layers will interact.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generic Layered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l="42167" t="20538" r="3367" b="5807"/>
          <a:stretch>
            <a:fillRect/>
          </a:stretch>
        </p:blipFill>
        <p:spPr bwMode="auto">
          <a:xfrm>
            <a:off x="838200" y="2133600"/>
            <a:ext cx="7086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partial layered architecture example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 l="30674" t="11458" r="29502" b="14584"/>
          <a:stretch>
            <a:fillRect/>
          </a:stretch>
        </p:blipFill>
        <p:spPr bwMode="auto">
          <a:xfrm>
            <a:off x="2362200" y="1828800"/>
            <a:ext cx="4038600" cy="4040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Specializations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Often exceptions are made to </a:t>
            </a:r>
            <a:r>
              <a:rPr lang="en-US" b="1"/>
              <a:t>permit non-adjacent layers to communicate directly</a:t>
            </a:r>
            <a:r>
              <a:rPr lang="en-US"/>
              <a:t>.  </a:t>
            </a:r>
          </a:p>
          <a:p>
            <a:pPr lvl="1"/>
            <a:r>
              <a:rPr lang="en-US"/>
              <a:t>This is usually done for efficiency reasons.</a:t>
            </a:r>
          </a:p>
          <a:p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 system</a:t>
            </a:r>
          </a:p>
          <a:p>
            <a:r>
              <a:rPr lang="en-US" dirty="0"/>
              <a:t>Allows controlled electronic access to copyright material from a group of university libraries.</a:t>
            </a:r>
          </a:p>
          <a:p>
            <a:r>
              <a:rPr lang="en-US" dirty="0"/>
              <a:t>Bottom layer being the individual database in each library.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Components?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Components:</a:t>
            </a:r>
          </a:p>
          <a:p>
            <a:pPr lvl="1"/>
            <a:r>
              <a:rPr lang="en-US" dirty="0"/>
              <a:t>UI</a:t>
            </a:r>
          </a:p>
          <a:p>
            <a:pPr lvl="1"/>
            <a:r>
              <a:rPr lang="en-US" dirty="0"/>
              <a:t>Authentication and forms</a:t>
            </a:r>
          </a:p>
          <a:p>
            <a:pPr lvl="1"/>
            <a:r>
              <a:rPr lang="en-US" dirty="0"/>
              <a:t>Search engine</a:t>
            </a:r>
          </a:p>
          <a:p>
            <a:pPr lvl="1"/>
            <a:r>
              <a:rPr lang="en-US" dirty="0"/>
              <a:t>Document retrieval</a:t>
            </a:r>
          </a:p>
          <a:p>
            <a:pPr lvl="1"/>
            <a:r>
              <a:rPr lang="en-US" dirty="0"/>
              <a:t>Rights manager</a:t>
            </a:r>
          </a:p>
          <a:p>
            <a:pPr lvl="1"/>
            <a:r>
              <a:rPr lang="en-US" dirty="0"/>
              <a:t>Accounts management</a:t>
            </a:r>
          </a:p>
          <a:p>
            <a:pPr lvl="1"/>
            <a:r>
              <a:rPr lang="en-US" dirty="0"/>
              <a:t>databases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Library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500" dirty="0"/>
              <a:t>Ref: Software Engineering - </a:t>
            </a:r>
            <a:r>
              <a:rPr lang="en-US" sz="1500" dirty="0" err="1"/>
              <a:t>Sommerville</a:t>
            </a:r>
            <a:endParaRPr lang="en-US" sz="15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 l="39239" t="25071" r="22694" b="12606"/>
          <a:stretch>
            <a:fillRect/>
          </a:stretch>
        </p:blipFill>
        <p:spPr bwMode="auto">
          <a:xfrm>
            <a:off x="1752600" y="1845734"/>
            <a:ext cx="4953000" cy="3564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Applicable domains of layered architecture: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system that can be divided between the application-specific portions and platform-specific portions which provide generic services to the application of the system.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Applicable domains of layered architecture: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that have clean divisions between core services, critical services, user interface services, etc.</a:t>
            </a:r>
          </a:p>
          <a:p>
            <a:endParaRPr lang="en-US" dirty="0"/>
          </a:p>
          <a:p>
            <a:r>
              <a:rPr lang="en-US" dirty="0"/>
              <a:t>Applications that have a number of classes that are closely related to each other so that they can be grouped together into a package to provide the services to others.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Incremental software development based on increasing levels of abstraction.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Enhanced independence of upper layer to lower layer since there is no impact from the changes of lower layer services as long as their interfaces remain unchanged.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Enhanced flexibility: interchangeability and reusability are enhanced due to the separation of the standard interface and its implementation.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Component-based technology is a suitable technology to implement layered architecture; this makes it much easier for the system to allow for plug-and-play of new components.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Promotion of portability: each layer can be an abstract machine deployed independently.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Limitations: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runtime performance since a client's request or a response to a client must go through potentially several layers.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are also performance concerns of overhead on the data processing and buffering by each layer.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applications cannot fit this architecture design.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Breach of interlayer communication may cause deadlocks, and “bridging” may cause tight coupling.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Exceptions and error handling are issues in the layered architecture, since faults in one layer must propagate upward to all calling layers.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architectural styles</a:t>
            </a:r>
          </a:p>
          <a:p>
            <a:r>
              <a:rPr lang="en-US" dirty="0"/>
              <a:t>Categorizations of architectural styles</a:t>
            </a:r>
          </a:p>
          <a:p>
            <a:r>
              <a:rPr lang="en-US" dirty="0"/>
              <a:t>Hierarchical architectures</a:t>
            </a:r>
          </a:p>
          <a:p>
            <a:pPr lvl="1"/>
            <a:r>
              <a:rPr lang="en-US" dirty="0"/>
              <a:t>Layered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907</TotalTime>
  <Words>776</Words>
  <Application>Microsoft Office PowerPoint</Application>
  <PresentationFormat>On-screen Show (4:3)</PresentationFormat>
  <Paragraphs>135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Retrospect</vt:lpstr>
      <vt:lpstr>Introduction and Categorizations to Architectural Styles</vt:lpstr>
      <vt:lpstr>Review</vt:lpstr>
      <vt:lpstr>Outline</vt:lpstr>
      <vt:lpstr>Architectural Styles</vt:lpstr>
      <vt:lpstr>Components of a style</vt:lpstr>
      <vt:lpstr>Categories of Architectural Styles</vt:lpstr>
      <vt:lpstr>Hierarchal Software Architecture </vt:lpstr>
      <vt:lpstr>Hierarchal Style</vt:lpstr>
      <vt:lpstr>Hierarchal Style</vt:lpstr>
      <vt:lpstr>Hierarchal Style</vt:lpstr>
      <vt:lpstr>Hierarchal Style</vt:lpstr>
      <vt:lpstr>Layered Architecture</vt:lpstr>
      <vt:lpstr>Layered Style</vt:lpstr>
      <vt:lpstr>A generic Layered Architecture</vt:lpstr>
      <vt:lpstr>A partial layered architecture example</vt:lpstr>
      <vt:lpstr>Specializations</vt:lpstr>
      <vt:lpstr>Example: </vt:lpstr>
      <vt:lpstr>PowerPoint Presentation</vt:lpstr>
      <vt:lpstr>Example: Library System</vt:lpstr>
      <vt:lpstr>Applicable domains of layered architecture:</vt:lpstr>
      <vt:lpstr>Applicable domains of layered architecture:</vt:lpstr>
      <vt:lpstr>Benefits:</vt:lpstr>
      <vt:lpstr>Benefits:</vt:lpstr>
      <vt:lpstr>Benefits:</vt:lpstr>
      <vt:lpstr>Limitations:</vt:lpstr>
      <vt:lpstr>Limitations: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55</cp:revision>
  <dcterms:created xsi:type="dcterms:W3CDTF">2015-07-31T14:09:29Z</dcterms:created>
  <dcterms:modified xsi:type="dcterms:W3CDTF">2024-10-10T03:12:56Z</dcterms:modified>
</cp:coreProperties>
</file>