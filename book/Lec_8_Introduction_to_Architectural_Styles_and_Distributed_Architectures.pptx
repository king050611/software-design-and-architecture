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8"/>
  </p:notesMasterIdLst>
  <p:sldIdLst>
    <p:sldId id="320" r:id="rId2"/>
    <p:sldId id="321" r:id="rId3"/>
    <p:sldId id="322" r:id="rId4"/>
    <p:sldId id="305" r:id="rId5"/>
    <p:sldId id="306" r:id="rId6"/>
    <p:sldId id="258" r:id="rId7"/>
    <p:sldId id="259" r:id="rId8"/>
    <p:sldId id="366" r:id="rId9"/>
    <p:sldId id="329" r:id="rId10"/>
    <p:sldId id="330" r:id="rId11"/>
    <p:sldId id="331" r:id="rId12"/>
    <p:sldId id="332" r:id="rId13"/>
    <p:sldId id="335" r:id="rId14"/>
    <p:sldId id="336" r:id="rId15"/>
    <p:sldId id="361" r:id="rId16"/>
    <p:sldId id="362" r:id="rId17"/>
    <p:sldId id="363" r:id="rId18"/>
    <p:sldId id="338" r:id="rId19"/>
    <p:sldId id="337" r:id="rId20"/>
    <p:sldId id="359" r:id="rId21"/>
    <p:sldId id="339" r:id="rId22"/>
    <p:sldId id="340" r:id="rId23"/>
    <p:sldId id="360" r:id="rId24"/>
    <p:sldId id="341" r:id="rId25"/>
    <p:sldId id="342" r:id="rId26"/>
    <p:sldId id="343" r:id="rId27"/>
    <p:sldId id="347" r:id="rId28"/>
    <p:sldId id="348" r:id="rId29"/>
    <p:sldId id="364" r:id="rId30"/>
    <p:sldId id="350" r:id="rId31"/>
    <p:sldId id="351" r:id="rId32"/>
    <p:sldId id="365" r:id="rId33"/>
    <p:sldId id="352" r:id="rId34"/>
    <p:sldId id="353" r:id="rId35"/>
    <p:sldId id="354" r:id="rId36"/>
    <p:sldId id="328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E503A-0C1D-4CF3-93A8-45BBE6A5F91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063EB-06A5-4133-B768-087CE29A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6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83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6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4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5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10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3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3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9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2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67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SOFTWARE DESIGN AND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 Faizan khan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BD528-F4ED-2EA6-4EDB-7AAEA1F33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37" y="398907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Introduction to architectural styles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Categorizations of architectural styles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Hierarchical architectures</a:t>
            </a:r>
          </a:p>
          <a:p>
            <a:pPr lvl="1"/>
            <a:r>
              <a:rPr lang="en-US" dirty="0"/>
              <a:t>Layered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architectural styles</a:t>
            </a:r>
          </a:p>
          <a:p>
            <a:r>
              <a:rPr lang="en-US" dirty="0"/>
              <a:t>Distributed architectures</a:t>
            </a:r>
          </a:p>
          <a:p>
            <a:pPr lvl="1"/>
            <a:r>
              <a:rPr lang="en-US" dirty="0"/>
              <a:t>Client Server Architecture</a:t>
            </a:r>
          </a:p>
          <a:p>
            <a:pPr lvl="1"/>
            <a:r>
              <a:rPr lang="en-US" dirty="0"/>
              <a:t>Multi-tier Architecture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Architectural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architecture style (also known as an “architecture pattern”) abstracts the common properties of a family of similar designs.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a family of systems in terms of a pattern of its structural organization.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68362"/>
          </a:xfrm>
        </p:spPr>
        <p:txBody>
          <a:bodyPr/>
          <a:lstStyle/>
          <a:p>
            <a:r>
              <a:rPr lang="en-US" b="1" dirty="0"/>
              <a:t>Components of a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/>
              <a:t>The key components of an architecture style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Elements/components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that perform functions required by a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Connectors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that enable communication, coordination, and cooperation among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Constraints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that define how elements can be integrated to form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Attributes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that describe the advantages and disadvantages of the chosen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Categories of Architectural Styles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Hierarchal Software Architecture</a:t>
            </a:r>
          </a:p>
          <a:p>
            <a:pPr lvl="1"/>
            <a:r>
              <a:rPr lang="en-US" dirty="0"/>
              <a:t>Layered</a:t>
            </a:r>
          </a:p>
          <a:p>
            <a:r>
              <a:rPr lang="en-US" dirty="0"/>
              <a:t>Distributed Software Architecture</a:t>
            </a:r>
          </a:p>
          <a:p>
            <a:pPr lvl="1"/>
            <a:r>
              <a:rPr lang="en-US" dirty="0"/>
              <a:t>Client Server</a:t>
            </a:r>
          </a:p>
          <a:p>
            <a:pPr lvl="1"/>
            <a:r>
              <a:rPr lang="en-US" dirty="0"/>
              <a:t>SOA</a:t>
            </a:r>
          </a:p>
          <a:p>
            <a:r>
              <a:rPr lang="en-US" dirty="0"/>
              <a:t>Data Flow Software Architecture</a:t>
            </a:r>
          </a:p>
          <a:p>
            <a:pPr lvl="1"/>
            <a:r>
              <a:rPr lang="en-US" dirty="0"/>
              <a:t>Pipe n Filter</a:t>
            </a:r>
          </a:p>
          <a:p>
            <a:pPr lvl="1"/>
            <a:r>
              <a:rPr lang="en-US" dirty="0"/>
              <a:t>Batch Sequential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 Based Software Architecture</a:t>
            </a:r>
          </a:p>
          <a:p>
            <a:r>
              <a:rPr lang="en-US" dirty="0"/>
              <a:t>Data Centered Software Architecture</a:t>
            </a:r>
          </a:p>
          <a:p>
            <a:pPr lvl="1"/>
            <a:r>
              <a:rPr lang="en-US" dirty="0"/>
              <a:t>Black box</a:t>
            </a:r>
          </a:p>
          <a:p>
            <a:pPr lvl="1"/>
            <a:r>
              <a:rPr lang="en-US" dirty="0"/>
              <a:t>Shared Repository</a:t>
            </a:r>
          </a:p>
          <a:p>
            <a:r>
              <a:rPr lang="en-US" dirty="0"/>
              <a:t>Interaction-Oriented Software Architectures</a:t>
            </a:r>
          </a:p>
          <a:p>
            <a:pPr lvl="1"/>
            <a:r>
              <a:rPr lang="en-US" dirty="0"/>
              <a:t>Model View Controller</a:t>
            </a:r>
          </a:p>
          <a:p>
            <a:r>
              <a:rPr lang="en-US" dirty="0"/>
              <a:t>Component-Based Software Architecture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Distributed Software Architecture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Distributed Software Architecture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distributed system is a collection of computational and storage devices connected through a communications network. </a:t>
            </a:r>
          </a:p>
          <a:p>
            <a:endParaRPr lang="en-US" dirty="0"/>
          </a:p>
          <a:p>
            <a:r>
              <a:rPr lang="en-US" dirty="0"/>
              <a:t>Data, software, and users are distributed. </a:t>
            </a:r>
          </a:p>
          <a:p>
            <a:endParaRPr lang="en-US" dirty="0"/>
          </a:p>
          <a:p>
            <a:r>
              <a:rPr lang="en-US" dirty="0"/>
              <a:t>Communication occurs using a number of methods including message passing, remote procedure calls, and remote method invocation.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Server Architectural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Server Architectural Style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Client/server architecture illustrates the relationship between two computer programs in which one program is a client, and the other is Server. 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Client</a:t>
            </a:r>
            <a:r>
              <a:rPr lang="en-US" dirty="0"/>
              <a:t> makes a service request to server.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Server</a:t>
            </a:r>
            <a:r>
              <a:rPr lang="en-US" dirty="0"/>
              <a:t> provides service to the request.</a:t>
            </a:r>
            <a:r>
              <a:rPr lang="en-US" sz="2800" dirty="0"/>
              <a:t> 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Client/Server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52600"/>
            <a:ext cx="4648200" cy="4572000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Although the client/server architecture can be used within a single computer by programs, but it is a more important idea in a network. </a:t>
            </a:r>
          </a:p>
          <a:p>
            <a:pPr algn="just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600" dirty="0"/>
          </a:p>
          <a:p>
            <a:pPr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In a network, the client/server architecture allows efficient way to interconnect programs that are distributed efficiently across different locations.</a:t>
            </a:r>
            <a:r>
              <a:rPr lang="en-US" sz="2500" dirty="0"/>
              <a:t> </a:t>
            </a:r>
          </a:p>
          <a:p>
            <a:pPr>
              <a:lnSpc>
                <a:spcPct val="80000"/>
              </a:lnSpc>
            </a:pPr>
            <a:endParaRPr lang="en-US" sz="1700" dirty="0"/>
          </a:p>
        </p:txBody>
      </p:sp>
      <p:pic>
        <p:nvPicPr>
          <p:cNvPr id="2129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1905000"/>
            <a:ext cx="3886200" cy="342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Client-Server Style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458200" cy="4419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Suitable for applications that involve distributed data and processing across a range of components.</a:t>
            </a:r>
          </a:p>
          <a:p>
            <a:pPr>
              <a:lnSpc>
                <a:spcPct val="80000"/>
              </a:lnSpc>
            </a:pPr>
            <a:r>
              <a:rPr lang="en-US" b="1" u="sng"/>
              <a:t>Components:</a:t>
            </a:r>
          </a:p>
          <a:p>
            <a:pPr lvl="1">
              <a:lnSpc>
                <a:spcPct val="80000"/>
              </a:lnSpc>
            </a:pPr>
            <a:r>
              <a:rPr lang="en-US" b="1"/>
              <a:t>Servers:</a:t>
            </a:r>
            <a:r>
              <a:rPr lang="en-US"/>
              <a:t> Stand-alone components that provide specific services such as printing, data management, etc.</a:t>
            </a:r>
          </a:p>
          <a:p>
            <a:pPr lvl="1">
              <a:lnSpc>
                <a:spcPct val="80000"/>
              </a:lnSpc>
            </a:pPr>
            <a:r>
              <a:rPr lang="en-US" b="1"/>
              <a:t>Clients:</a:t>
            </a:r>
            <a:r>
              <a:rPr lang="en-US"/>
              <a:t> Components that call on the services provided by servers.</a:t>
            </a:r>
          </a:p>
          <a:p>
            <a:pPr>
              <a:lnSpc>
                <a:spcPct val="80000"/>
              </a:lnSpc>
            </a:pPr>
            <a:r>
              <a:rPr lang="en-US" b="1" u="sng"/>
              <a:t>Connector:</a:t>
            </a:r>
            <a:r>
              <a:rPr lang="en-US"/>
              <a:t>  The network, which allows clients to access remote servers.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Example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5138738" cy="4525963"/>
          </a:xfrm>
        </p:spPr>
        <p:txBody>
          <a:bodyPr/>
          <a:lstStyle/>
          <a:p>
            <a:endParaRPr lang="en-US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The World Wide Web is an example of client-server architecture.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Each computer that uses a Web browser is a client, and the data on the various Web pages that those clients access is stored on multiple servers. </a:t>
            </a:r>
          </a:p>
        </p:txBody>
      </p:sp>
      <p:pic>
        <p:nvPicPr>
          <p:cNvPr id="2160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800" y="1828800"/>
            <a:ext cx="3124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Another Example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45720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If you have to check a bank account from your computer, you have to send a request to a server program at the bank. </a:t>
            </a:r>
          </a:p>
          <a:p>
            <a:pPr algn="just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That program processes the request and forwards the request to its own client program that sends a request to a database server at another bank computer to retrieve client balance information. </a:t>
            </a:r>
          </a:p>
          <a:p>
            <a:pPr algn="just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balance is sent back to the bank data client, which in turn serves it back to your personal computer, which displays the information of balance on your computer. </a:t>
            </a:r>
            <a:br>
              <a:rPr lang="en-US" sz="2800" dirty="0"/>
            </a:br>
            <a:endParaRPr lang="en-US" sz="28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Server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Clients and servers are separate processes,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34773" t="29404" r="11933" b="25068"/>
          <a:stretch>
            <a:fillRect/>
          </a:stretch>
        </p:blipFill>
        <p:spPr bwMode="auto">
          <a:xfrm>
            <a:off x="1143000" y="2743200"/>
            <a:ext cx="64389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Server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normal for several client processes to run on a single processor.</a:t>
            </a:r>
          </a:p>
          <a:p>
            <a:pPr lvl="1"/>
            <a:r>
              <a:rPr lang="en-US" dirty="0"/>
              <a:t> For example, on your PC, you may run a mail client that downloads mail from a remote mail server. </a:t>
            </a:r>
          </a:p>
          <a:p>
            <a:pPr lvl="1"/>
            <a:r>
              <a:rPr lang="en-US" dirty="0"/>
              <a:t>You may also run a web browser that interacts with a remote web server and a print client that sends documents to a remote printer.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Server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Several different server processes may run on the same processor but, often, </a:t>
            </a:r>
          </a:p>
          <a:p>
            <a:pPr lvl="1"/>
            <a:r>
              <a:rPr lang="en-US" dirty="0"/>
              <a:t>servers are implemented as multiprocessor systems in which a separate instance of the server process runs on each machine.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Picassa</a:t>
            </a:r>
            <a:r>
              <a:rPr lang="en-US" dirty="0"/>
              <a:t> </a:t>
            </a:r>
            <a:r>
              <a:rPr lang="en-US" dirty="0" err="1"/>
              <a:t>photoviewer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Drop box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Severs 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Servers commonly contain data files and applications that can be accessed across the network, by workstations or user computers.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user who wants to access data files, would use his or her client computer to access the data files on the server. 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Servers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Application Servers:</a:t>
            </a:r>
            <a:endParaRPr lang="en-US" dirty="0"/>
          </a:p>
          <a:p>
            <a:pPr lvl="1"/>
            <a:r>
              <a:rPr lang="en-US" dirty="0"/>
              <a:t>Applications are hosted on these servers</a:t>
            </a:r>
          </a:p>
          <a:p>
            <a:pPr lvl="1"/>
            <a:r>
              <a:rPr lang="en-US" dirty="0"/>
              <a:t>Clients can access various application features over the network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Servers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/>
              <a:t>File Servers:</a:t>
            </a:r>
            <a:endParaRPr lang="en-US"/>
          </a:p>
          <a:p>
            <a:pPr lvl="1"/>
            <a:r>
              <a:rPr lang="en-US"/>
              <a:t>Primitive form of data service.</a:t>
            </a:r>
          </a:p>
          <a:p>
            <a:pPr lvl="1"/>
            <a:r>
              <a:rPr lang="en-US"/>
              <a:t>Useful for sharing files across a network.</a:t>
            </a:r>
          </a:p>
          <a:p>
            <a:pPr lvl="1"/>
            <a:r>
              <a:rPr lang="en-US"/>
              <a:t>The client passes requests for files over the network to the file server.</a:t>
            </a:r>
          </a:p>
          <a:p>
            <a:endParaRPr 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93713" y="152400"/>
            <a:ext cx="7994650" cy="1003300"/>
          </a:xfrm>
        </p:spPr>
        <p:txBody>
          <a:bodyPr/>
          <a:lstStyle/>
          <a:p>
            <a:r>
              <a:rPr lang="en-US" b="1" dirty="0"/>
              <a:t>Types of Servers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Database Servers:</a:t>
            </a:r>
            <a:endParaRPr lang="en-US" dirty="0"/>
          </a:p>
          <a:p>
            <a:pPr lvl="1"/>
            <a:r>
              <a:rPr lang="en-US" dirty="0"/>
              <a:t>More efficient use of distributing power than file servers.</a:t>
            </a:r>
          </a:p>
          <a:p>
            <a:pPr lvl="1"/>
            <a:r>
              <a:rPr lang="en-US" dirty="0"/>
              <a:t>Client passes SQL requests as messages to the DB server; results are returned over the network to the client.</a:t>
            </a:r>
          </a:p>
          <a:p>
            <a:pPr lvl="1"/>
            <a:r>
              <a:rPr lang="en-US" dirty="0"/>
              <a:t>Query processing done by the server.</a:t>
            </a:r>
          </a:p>
          <a:p>
            <a:pPr lvl="1"/>
            <a:r>
              <a:rPr lang="en-US" dirty="0"/>
              <a:t>No need for large data transfers.</a:t>
            </a:r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 l="9370" t="20596" r="15666" b="19783"/>
          <a:stretch>
            <a:fillRect/>
          </a:stretch>
        </p:blipFill>
        <p:spPr bwMode="auto">
          <a:xfrm>
            <a:off x="0" y="1371600"/>
            <a:ext cx="8866909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Straightforward distribution of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Transparency of location.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Mix and match heterogeneous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add new servers or upgrade existing servers.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of the system depends on the performance of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Tricky to design and implement C/S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Unless there is a central register of names and services, it may be hard to find out what services are available.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Multi-tier Client server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Client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Two-tier client–server architecture,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which is used for simple client–server systems, and in situations where it is important to centralize the system for security reasons.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 In such cases, communication between the client and server is normally encrypted.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Multitier client–server architecture,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which is used when there is a high volume of transactions to be processed by the server.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 two-tier client–server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is implemented as a single logical server plus an indefinite number of clients that use that server.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Two forms of this architectural model: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thin-client model,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fat-client model,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Two-tier Client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493" y="1828800"/>
            <a:ext cx="7543801" cy="4023360"/>
          </a:xfrm>
        </p:spPr>
        <p:txBody>
          <a:bodyPr>
            <a:normAutofit/>
          </a:bodyPr>
          <a:lstStyle/>
          <a:p>
            <a:r>
              <a:rPr lang="en-US" dirty="0"/>
              <a:t>A thin-client model,</a:t>
            </a:r>
          </a:p>
          <a:p>
            <a:pPr lvl="1"/>
            <a:r>
              <a:rPr lang="en-US" dirty="0"/>
              <a:t> where the presentation layer is implemented on the client and all other layers (data management, application processing, and database) are implemented on a server.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29630" t="25328" r="12037" b="47250"/>
          <a:stretch>
            <a:fillRect/>
          </a:stretch>
        </p:blipFill>
        <p:spPr bwMode="auto">
          <a:xfrm>
            <a:off x="1033462" y="4191000"/>
            <a:ext cx="7500938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advantage of the thin-client model is that it is simple to manage the clients.</a:t>
            </a:r>
          </a:p>
          <a:p>
            <a:pPr lvl="1"/>
            <a:r>
              <a:rPr lang="en-US" dirty="0"/>
              <a:t>This is a major issue if there are a large number of clients, as it may be difficult and expensive to install new software on all of them. If a web browser is used as the client, there is no need to install any software.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disadvantage of the thin-client approach, however is that it may place a heavy processing load on both the server and the network. </a:t>
            </a:r>
          </a:p>
          <a:p>
            <a:pPr lvl="1"/>
            <a:r>
              <a:rPr lang="en-US" dirty="0"/>
              <a:t>The server is responsible for all computation and this may lead to the generation of significant network traffic between the client and the server.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Two-tier Client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3886199"/>
          </a:xfrm>
        </p:spPr>
        <p:txBody>
          <a:bodyPr>
            <a:normAutofit/>
          </a:bodyPr>
          <a:lstStyle/>
          <a:p>
            <a:r>
              <a:rPr lang="en-US" dirty="0"/>
              <a:t>A fat-client model, </a:t>
            </a:r>
          </a:p>
          <a:p>
            <a:pPr lvl="1"/>
            <a:r>
              <a:rPr lang="en-US" dirty="0"/>
              <a:t>where some or all of the application processing is carried out on the client. </a:t>
            </a:r>
          </a:p>
          <a:p>
            <a:pPr lvl="1"/>
            <a:r>
              <a:rPr lang="en-US" dirty="0"/>
              <a:t>Data management and database functions are implemented on the server.</a:t>
            </a:r>
          </a:p>
          <a:p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 l="12518" t="21816" r="14861" b="26152"/>
          <a:stretch>
            <a:fillRect/>
          </a:stretch>
        </p:blipFill>
        <p:spPr bwMode="auto">
          <a:xfrm>
            <a:off x="3048000" y="3923973"/>
            <a:ext cx="6096000" cy="232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 l="29630" t="49322" r="12037" b="19829"/>
          <a:stretch>
            <a:fillRect/>
          </a:stretch>
        </p:blipFill>
        <p:spPr bwMode="auto">
          <a:xfrm>
            <a:off x="228600" y="3048000"/>
            <a:ext cx="5143500" cy="1469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Multi-tier client–server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fundamental problem with a two-tier client–server approach is that the logical layers in the system—presentation, application processing, data management, and database—must be mapped onto two computer systems: the client and the server.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This may lead to problems with scalability and performance if the thin-client model is chosen, or problems of system management if the fat-client model is used.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Three-tier client–server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Application services such as facilities to transfer cash, generate statements, pay bills, and so on are implemented in the web server and as scripts that are executed by the client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 l="8199" t="11924" r="13324" b="30623"/>
          <a:stretch>
            <a:fillRect/>
          </a:stretch>
        </p:blipFill>
        <p:spPr bwMode="auto">
          <a:xfrm>
            <a:off x="381000" y="3190164"/>
            <a:ext cx="7924800" cy="313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Three-tier client–server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system is scalable because it is relatively easy to add servers (scale out) as the number of customers increase.</a:t>
            </a:r>
          </a:p>
          <a:p>
            <a:endParaRPr lang="en-US" dirty="0"/>
          </a:p>
          <a:p>
            <a:r>
              <a:rPr lang="en-US" dirty="0"/>
              <a:t>In this case, the use of a three-tier architecture allows the information transfer between the web server and the database server to be optimized.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Introduction to architectural styles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Distributed architectures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Client Server Architecture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Multi-tier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1065</TotalTime>
  <Words>1354</Words>
  <Application>Microsoft Office PowerPoint</Application>
  <PresentationFormat>On-screen Show (4:3)</PresentationFormat>
  <Paragraphs>158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Retrospect</vt:lpstr>
      <vt:lpstr>SOFTWARE DESIGN AND ARCHITECTURE</vt:lpstr>
      <vt:lpstr>Review</vt:lpstr>
      <vt:lpstr>Outline</vt:lpstr>
      <vt:lpstr>Architectural Styles</vt:lpstr>
      <vt:lpstr>Components of a style</vt:lpstr>
      <vt:lpstr>Categories of Architectural Styles</vt:lpstr>
      <vt:lpstr>Distributed Software Architecture </vt:lpstr>
      <vt:lpstr>Distributed Software Architecture</vt:lpstr>
      <vt:lpstr>Client Server Architectural Style</vt:lpstr>
      <vt:lpstr>Client Server Architectural Style</vt:lpstr>
      <vt:lpstr>Client/Server</vt:lpstr>
      <vt:lpstr>Client-Server Style</vt:lpstr>
      <vt:lpstr>Common Example</vt:lpstr>
      <vt:lpstr>Another Example</vt:lpstr>
      <vt:lpstr>Client Server Processes</vt:lpstr>
      <vt:lpstr>Client Server Processes</vt:lpstr>
      <vt:lpstr>Client Server Processes</vt:lpstr>
      <vt:lpstr>Example:</vt:lpstr>
      <vt:lpstr>Severs </vt:lpstr>
      <vt:lpstr>Types of Servers</vt:lpstr>
      <vt:lpstr>Types of Servers</vt:lpstr>
      <vt:lpstr>Types of Servers</vt:lpstr>
      <vt:lpstr>PowerPoint Presentation</vt:lpstr>
      <vt:lpstr>Advantages</vt:lpstr>
      <vt:lpstr>Disadvantages</vt:lpstr>
      <vt:lpstr>Multi-tier Client server architecture</vt:lpstr>
      <vt:lpstr>Types of Client Server</vt:lpstr>
      <vt:lpstr>A two-tier client–server architecture</vt:lpstr>
      <vt:lpstr>Two-tier Client Server</vt:lpstr>
      <vt:lpstr>Advantages</vt:lpstr>
      <vt:lpstr>Disadvantages</vt:lpstr>
      <vt:lpstr>Two-tier Client Server</vt:lpstr>
      <vt:lpstr>Multi-tier client–server architectures</vt:lpstr>
      <vt:lpstr>Three-tier client–server architectures</vt:lpstr>
      <vt:lpstr>Three-tier client–server architectures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Faizan Niazi</cp:lastModifiedBy>
  <cp:revision>60</cp:revision>
  <dcterms:created xsi:type="dcterms:W3CDTF">2015-07-31T14:09:29Z</dcterms:created>
  <dcterms:modified xsi:type="dcterms:W3CDTF">2024-10-10T03:18:20Z</dcterms:modified>
</cp:coreProperties>
</file>