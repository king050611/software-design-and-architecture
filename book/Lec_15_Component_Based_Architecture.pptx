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7"/>
  </p:notesMasterIdLst>
  <p:sldIdLst>
    <p:sldId id="320" r:id="rId2"/>
    <p:sldId id="458" r:id="rId3"/>
    <p:sldId id="459" r:id="rId4"/>
    <p:sldId id="460" r:id="rId5"/>
    <p:sldId id="461" r:id="rId6"/>
    <p:sldId id="462" r:id="rId7"/>
    <p:sldId id="463" r:id="rId8"/>
    <p:sldId id="464" r:id="rId9"/>
    <p:sldId id="478" r:id="rId10"/>
    <p:sldId id="465" r:id="rId11"/>
    <p:sldId id="466" r:id="rId12"/>
    <p:sldId id="467" r:id="rId13"/>
    <p:sldId id="468" r:id="rId14"/>
    <p:sldId id="469" r:id="rId15"/>
    <p:sldId id="470" r:id="rId16"/>
    <p:sldId id="479" r:id="rId17"/>
    <p:sldId id="480" r:id="rId18"/>
    <p:sldId id="471" r:id="rId19"/>
    <p:sldId id="472" r:id="rId20"/>
    <p:sldId id="481" r:id="rId21"/>
    <p:sldId id="473" r:id="rId22"/>
    <p:sldId id="474" r:id="rId23"/>
    <p:sldId id="475" r:id="rId24"/>
    <p:sldId id="477" r:id="rId25"/>
    <p:sldId id="47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26:44.24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 3 14,'0'0'3,"-2"-1"-1,2-1 0</inkml:trace>
  <inkml:trace contextRef="#ctx0" brushRef="#br0" timeOffset="8050">742 970 14,'0'0'2,"0"0"1,0 0-1</inkml:trace>
  <inkml:trace contextRef="#ctx0" brushRef="#br0" timeOffset="8096">742 976 14,'0'0'2,"0"0"0,0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47:19.2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15,'0'0'3,"0"0"0,0 0-1,0 0 0,0 0-1,0 0 0,0 0 1,0 0 0,0 0-1,0 0 0,0 0 0,0 0 0,0 0-1,0 0 1,0 0-1,0 0 1,0 0 0,0 0-1,0 0 0,0 0 0,0 0 1,0 0-1,0 0 0,0 0 0,0 0 0,0 0 0,0 0 0,0 0 0,0 0 0,0 0 0,0 0 0,0 0 0,0 0 0,0 0 0,0 0 0,0 0 0,0 0 0,0 0 0,0 0 0,0 0 0,0 0 1,0 0-1,0 0 0,0 0 0,0 0 0,0 0 0,0 0 0,0 0 0,0 0 0,0 0 0,0 0 0,0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50:40.4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53:20.3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10163 3 14,'-2'-1'2,"0"-1"0</inkml:trace>
  <inkml:trace contextRef="#ctx0" brushRef="#br0" timeOffset="15521">16833 2949 19,'0'0'3,"0"0"0,0 0-1,0 0 0,0 0-1,0 0 0,0 0 0,0 0 0,0 0 0,0 0 0,0 0-1</inkml:trace>
  <inkml:trace contextRef="#ctx0" brushRef="#br0" timeOffset="15802">16970 3035 18,'0'0'3,"-2"0"-1</inkml:trace>
  <inkml:trace contextRef="#ctx0" brushRef="#br0" timeOffset="47980">0 1566 16,'0'0'3,"0"0"-1,0 0 0,0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53:20.3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4 100 15,'-2'2'3,"2"-2"0,0 0 0,0 0-1,-2 1 0,2-1 0,0 1-1,2 0 1,-2 0-1,0-1 1,2-1-1,2 2 0,0 0 0,5-1 0,-3 3 0,6-2 0,3 1 0,3-1 0,3 2 0,2-2 0,4 1-1,0-1 1,4 1 0,2-1-1,2-1 0,2 0 1,2 0-1,3-1 1,-3-1-1,5 1 0,-1-1 0,5 0 0,-3-2 0,3 1 1,-3-2-1,1-1 0,-1 1 0,-1 0 0,1-1 0,-4 0 0,1 0 0,-3 0 0,0 1 0,-4-2-1,1 0 1,-5 0-1,0 1 0,-4-1 0,-3 1 0,-3 1 1,0 0 0,-3 0-1,-1 1 0</inkml:trace>
  <inkml:trace contextRef="#ctx0" brushRef="#br0" timeOffset="450">941 181 17,'0'-1'3,"2"-1"0,2 1-1,2-1 0,1 0-1,1-1 0,0 1 1,3-2 0,1 2 0,0 0 0,3-1-1,1 0 0,1-2 0,-1 2-1,3-2 1,0 2 0,-1 0 0,1 1-1,2-1 0,-3 0 1,-1 0 0,1 0-1,-1 2 0,2 0 0,-3 0 0,-1 0 0,-1 0 0,-2 1 0,1 0 0,-3 0 0,1 0 0,-3 0 0,0-2 0,0 2 0,-1 3 0,-1-2 0,0 0 0,0-1 0,-2-1 0,0 1-1,1 0 0,-1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2:53:36.39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 10 22,'0'0'3,"0"0"0,0-1-1,-2 0 0,2 0-1,0 1 0,-2-2 0,2 1 0,-2 0 0,2 0 0,0 0-1,0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1:06.36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14,'0'0'2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4:37.3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0 391 14,'0'0'3,"0"0"-1,0 0 0,0 0 0,0-1 0,2-1 0,-2-1-1,0 2 0,0 0 1,0-1-1,0-1 0,0 3 0,0-1-1,0 0 1,0 1 0,0 0-1,0-1 1,0 1 0,0 0 0,0 0 0,4 0-1,1 0 0,1-1 0,0-2 0,2 2 0,1 0 1,1-3-1,2 1 0,3-3 0,1-1 0,3-1 0,0-1 1,3-2-1,3 1 1,2-2-1,2-1 0,2 1 0,2-2 0,2 0 0,2 0 1,5-3-1,-1 2 0,3 1 0,-1-1 0,3 1 0,-3 2 0,0-2 0,1 2 1,-3 0-1,1 3 0,-3 0 0,0 2 0,-2 0 0,-1 1 0,-3 0 0,0 2 0,-4 0 0,2 2 0,-2-1 0,0 1 0,0 0 0,-3 1 0,1-1 0,-4 1 0,0 0 0,0 1 0,-3-1 0,-1 0 0,-3 0 0,-1-1 0,-1 1 0,-1 0 0,-1 0 0,1 0 0,-3-2 0,-2 1 0,3 0 0,-3-2 0,-2 2 0,0-2 0,0 2 0,1-1 0,-3-1 0,0 2-1,0-2-1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4:40.41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14,'0'0'2,"0"0"1,0 0-1,0 0 0,0 0 0,0 0 0,0 0 0,0 0 0,0 0-1,0 0-1,0 0 1,0 0 0,0 0 0,0 0-1,0 0 0,0 0 0,0 0 0,0 0 1,0 0 0,0 0 0,0 0-1,0 0 0,0 0 0,0 0 0,0 0 0,0 0 0,0 0 0,0 0 0,0 0-1,0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4:41.8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447 115 14,'-2'-3'2,"-3"0"1,-3 0-1,0-2 0,-2 1 0,1-2-1,-3 1 1,6 3-1,-1-2 0,-1 1 0,-2-1 0,-1 1 0,1-1 0,-2 1 0,-1-1 0,-1 2 0,1-2 0,-1 2-1,-1 0 1,1 0-1,2-1 0,-3 1 0,3 0 0,-3 2 0,3-2 1,-3 2-1,3 0 0,2-1 0,-3 1 0,3 0 0,0 0 0,1 1 0,1-1 0,0 0 0,-1 2 0,3-1 0,0-1 0,0 0 0,2 0 0,-3 1 0,3-1 0,0 0 0,2 0 0,-2-1 0,2 1 0,-2-1 0,2 1 0,0-2 1,0 2 0,-1-1-1,1 0 0,0 0 1,0 0-1,0 0 0,0-1 0,2 1 0,-2 0 0,2 0 0,-2 0 1,2-2 0,-2 2-1,0 0 0,2 0 0,0 0 0,0 0 0,0-1 0,0 1 0,2 0 0,-2 0 0,2-1 0,0 0 0,2 2 0,0-1 0,3 0 0,1 0 0,2 0 0,3 0 0,1-1 0,1 1 0,1 0 0,3 0 0,-1 1 0,3 0 0,-2 0 0,3 1 0,1-1 0,0 1 0,0 0 0,24 2 0,-5 1 0,-5 1 0,-4 0 0,0-1 0,-4 0 0,-2 1 0,-2 2 0,-5-2 0,1 3 0,-4-2 0,3 1 0,-5 0 0,-1 0 0,-1 0 0,-3 0 0,-2 0 0,3 0 0,-1-1 0,0 0 0,-4 0 0,3-2 0,-1 2 0,-6-4 0,0 1 0,0-1 0,0-1 0,0 2 0,0-2 0,0 1 0,1-1 0,-3 0 0,0 0 0,0 2 0,0-2 0,2 1 0,-2-1 0,0 1 0,-2-1 0,2 0 0,-3 1 0,-1-1 0,-2 3 0,-4-1 0,-1 1 0,-1 1 0,-2-2 0,-1 1 0,-4 0 0,1 1 0,-5 1 0,0-1 0,3 1 0,-3 0 0,2 1 0,-2-1 0,1-1 0,9-3 0,-1 0 0,-3 2 0,3 0 0,-3 0 0,1-2 0,-1 2 0,-1-2 0,1 1 0,-2 1 0,3-2 0,1 1 0,-1 0 0,-1-1 0,5 1 0,-1-1 0,3-1 0,0-1 0,1 1-1,3 1 1,0-1 0,0 0 0,2-1 0,0 1 0,2 0 0,-1-1 0,1 1 0,0-1 0,2-1 1,0 1-1,0 0 0,2-1 0,5 0 0,-1-1 0,2-1 0,0 0 0,3-1 0,1 0 0,-2 0 0,3-1 0,-1 2 0,3-2 0,-1 2 0,1-2 0,-1 1 0,17-5 0,-2 1 0,-2 1 0,-6 3 0,4-2 0,-5 2 0,-1 0 0,-1 0 0,-1 1 0,2 2 0,-5-1 0,1 0 0,-1 1 0,-4 0 0,-1-2 0,-1 2 0,-2 1 0,0-1 0,-2 1 0,1 0 0,1 1 0,-4-1 0,-2 0 0,0-1 0,0 1 0,0 0 0,0 0 0,0 1 0,0-1 0,0 0 0,0 0 0,0 1 0,0 1-1,0-2 1,0 2-1,0-2 0,0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4:48.71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0 134 15,'0'0'3,"0"0"-1,0 0 0,0 0-1,0 0 0,0 0 1,0 0-1,0 0 0,0 0 0,0 0 0,0 0 0,0 0-1,0 0 1,0 0 0,0 0-1,0 0 1,0 0-1,0 0 1,0 0-1,0 0 0,0 0 0,0 0 0,0 0 0,0 0 0,0 0 0,0 0 0,0-3 0,0 0 0,2-3 0,4-1 0,4-1 0,1 0 0,1-2 0,1 2 0,1 0 0,1 0 1,-1 0-1,0 0 0,1 1 0,-1 0 0,-1 0-1,-1 2 1,1 0 1,-1 1-1,-2 1 0,-1 0 0,-1 1 0,0 1 0,-2-1 0,-1 1 0,1 0 0,-2 0 0,-2 1 0,0-1 0,0 1 0,0 1 0,0-1 0,-2 1 0,-2 1 0,0 1 0,0 0 0,-2 1 1,-2 0-1,2 2 0,-3 0 0,1 1 0,0 0 0,0 0 0,-3 1 0,1 0 0,0 0 0,0 0 0,-1 1 0,-1-1 0,0 1 0,1 0 0,1-1 1,-2 2-1,2-1 0,-1-1 0,3-1 0,-2 0-1,2 0 1,-1 0 0,1-1 0,0 0 0,2-2 0,0 0 0,0 1 0,2-1 0,-3 0 0,3-2 0,0 0 0,2 1 0,-2-2 0,2-1 1,-2 1-1,2 0 0,0-1 0,0 1-1,0-2 1,0 1 0,0-2 0,2-1 0,0 1-1,2-1 1,1-2 0,-1 0 0,2 1 0,2-2 0,-2 0 0,3 0 0,-1 0 0,0-1 0,2 0 0,-1 2 0,1-1 0,0 0 0,1 0 1,-3 2-1,2-1-1,-1 0 1,1 1 0,-2 0 0,-2 2 0,3-1 0,-5 1 0,2 0 0,-2 1 0,0 0 0,1-1 0,-1 1 0,-2 1 0,2 1 0,-2 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5:02.98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65 13,'0'-1'3,"0"1"-1,0 0 0</inkml:trace>
  <inkml:trace contextRef="#ctx0" brushRef="#br0" timeOffset="2184">5930 82 13,'-2'0'3</inkml:trace>
  <inkml:trace contextRef="#ctx0" brushRef="#br0" timeOffset="2278">5835 129 14,'0'0'2</inkml:trace>
  <inkml:trace contextRef="#ctx0" brushRef="#br0" timeOffset="2356">6033 5 13,'0'0'2,"0"0"0,0 0 0,0 0 0</inkml:trace>
  <inkml:trace contextRef="#ctx0" brushRef="#br0" timeOffset="2403">6021 0 14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5:03.06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62 130 14,'0'0'2,"0"0"0,0 0 0,0 0-1,2-1 0,0 0 0,0 0 0,2-2 0,-2 2 0,3-1 0,-3 1 0,2 0-1,-2-1 0,2 1 0,-2 0 1,0 1 0,0-1 0,-2 0 0,2 1-1,-2-1 1,2-1-1,0 1 0,-2 1 0,3-1 0,-1 0 0,0-1 0,2-1 0,0 1 0,0 0 0,2-1 1,0 0-1,1-1 1,1 1-1,0-1 0,0 0 0,3-2 0,1 1 0,-1 1 0,1-2 0,0 1 0,1-1 0,-1 2 0,1-2 0,-1 1 0,0 2 0,-1-2 0,-1 0 0,0 2 0,-1 1 0,-3-2 0,0 3 0,0-1 0,-2-1 0,1 3 0,-3-1 0,2 1 0,-2-1 0,-2 1 1,2 1-1,-4-1 0,0 1 0,0 2 0,0-1 1,-5 3-1,1-1 0,-2 2 0,0 2 0,-5 0 0,1 1 0,0 0 0,-3 2 1,-2 0-1,3 1 0,-3-2 0,1 2 0,-1-1 0,-1 1 0,1-2 0,3 1 0,-3-2 0,3 2 0,-1-2 0,1-1 0,3 0 0,-1-2 0,4 0 1,-1-2-1,1 0 0,0 1 0,2-2 0,2-1 0,-1 1 0,3-1 1,-2-1-1,2 2 1,0-3 0,0 1 0,2-1-2,-2-1 1,4 1 0,-2-2 0,2 0 0,2-3 1,2 0-1,5-2 0,-1-2 0,0 0 0,3-1 0,1-2 0,3 0 0,-3 1 0,3 0 0,-1 1 0,-1-1 0,1 2 0,-1-1 0,2 0 0,-3 2 0,0 0 0,-1 0 0,-3 1 0,1 1 0,-3 1 0,-2 1 0,0 2 0,-2-2 0,-2 2 0,3 1 0,-5-1 0,-2 2 0,-1 2 0,1-2 0,-6 3 0,-2 2 0,-1-1 0,-1 1 0,-2 0 0,1-1 0,-1 1 0,-1 1 0,3 0 0,-3-2 0,3 1 0,-1 0 0,3-1 0,0 0 0,-1-1 0,1 1 0,2-2 0,0 1 0,1 0 0,3-2 0,0 0 0,0 1 0,0-2 0,2 2 0,2-1-1,0 0 1,2 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5:50.97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14,'0'0'3,"0"0"-1,0 0 0,0 0 0,0 0 0,0 0-1,0 0 0,0 0 0,0 0 0,0 0 0,0 0 0,0 0-1,0 0 1,0 0-1,0 0 0,0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3:05:51.09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96 16,'0'0'3,"0"0"-1,0 0 0,0 0 0,0 0 0,0 0-1,0 0 1,0 0-1,0 0 0,0 0 0,0 0 0,0 0 1,0 0-1,0 0 0,0 0 0,0 0 0,0 0 0,0 0 0,2 0 0,2 0 0,5 0 0,3-3-1,7 1 0,6-1 0,4-2 0,4 0 0,2 0 1,2 0 0,4-1-1,3 0 1,1 0-1,3 1 0,1-1 0,3 0 0,2 0 0,2 2 1,0-1-1,-1 1 0,1 1 0,0 1 0,0-1 0,-4 2 0,-1 0 0,-3 0 0,0 0 0,-5-1 0,-2 2 0,-1 0 0,-5 0 0,-4 0 0,-2 2 0,-2-1 0,-3 0 0,-3-1 0,0 0 0,-5 1 0,-1-1 0,-3 0-1,1 0 0,-1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D3D8-FE8C-4948-89FA-4A31366A4612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7A72-AE6E-4F97-A386-96D2D976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08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0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02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4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8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3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3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1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2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5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8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38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3.xml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customXml" Target="../ink/ink11.xml"/><Relationship Id="rId1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 Faizan </a:t>
            </a:r>
            <a:r>
              <a:rPr lang="en-US" dirty="0" err="1">
                <a:solidFill>
                  <a:schemeClr val="tx1"/>
                </a:solidFill>
              </a:rPr>
              <a:t>KHan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DEB23-BEB0-DA13-2F28-DF76D5042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405731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Interaction-Oriented Software Architectures</a:t>
            </a:r>
          </a:p>
          <a:p>
            <a:pPr lvl="1"/>
            <a:r>
              <a:rPr lang="en-US" dirty="0"/>
              <a:t>MVC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Based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based software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Based Software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Component-based software architecture divides a problem into sub-problems each associated with component partitions. </a:t>
            </a:r>
          </a:p>
          <a:p>
            <a:endParaRPr lang="en-US" dirty="0"/>
          </a:p>
          <a:p>
            <a:r>
              <a:rPr lang="en-US" dirty="0"/>
              <a:t>The interfaces of the components play important roles in the component-based design. </a:t>
            </a:r>
          </a:p>
          <a:p>
            <a:endParaRPr lang="en-US" dirty="0"/>
          </a:p>
          <a:p>
            <a:r>
              <a:rPr lang="en-US" dirty="0"/>
              <a:t>The main motivation behind component-based design is component reusability.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88288" y="5570538"/>
              <a:ext cx="268287" cy="352425"/>
            </p14:xfrm>
          </p:contentPart>
        </mc:Choice>
        <mc:Fallback xmlns=""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78900" y="5561159"/>
                <a:ext cx="287063" cy="37118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Based Software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Designs can make use of existing reusable commercial off-the-shelf (COTS) components or ones developed in-house, and they may produce reusable components for future reuse. </a:t>
            </a:r>
          </a:p>
          <a:p>
            <a:endParaRPr lang="en-US" dirty="0"/>
          </a:p>
          <a:p>
            <a:r>
              <a:rPr lang="en-US" dirty="0"/>
              <a:t>This increases overall system reliability since the reliability of each individual component enhances the reliability of the whole system via reuse.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component is a deployable software package that can provide services to its clients; </a:t>
            </a:r>
          </a:p>
          <a:p>
            <a:pPr lvl="1"/>
            <a:r>
              <a:rPr lang="en-US" dirty="0"/>
              <a:t>it may also itself require services from other components. </a:t>
            </a:r>
          </a:p>
          <a:p>
            <a:pPr lvl="1"/>
            <a:endParaRPr lang="en-US" dirty="0"/>
          </a:p>
          <a:p>
            <a:r>
              <a:rPr lang="en-US" dirty="0"/>
              <a:t>A component remains self-contained and substitutable as long as its interface is unchanged.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is a higher level of abstract concept than class. </a:t>
            </a:r>
          </a:p>
          <a:p>
            <a:endParaRPr lang="en-US" dirty="0"/>
          </a:p>
          <a:p>
            <a:r>
              <a:rPr lang="en-US" dirty="0"/>
              <a:t>A component may consist of many related classes stored and deployed in the same binary assembly.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interface of a component plays the role of contract between its implementation and its clients; hence the approach is also called a contract-oriented software architecture. </a:t>
            </a:r>
          </a:p>
          <a:p>
            <a:endParaRPr lang="en-US" dirty="0"/>
          </a:p>
          <a:p>
            <a:r>
              <a:rPr lang="en-US" dirty="0"/>
              <a:t>The first step in component-based software design is to </a:t>
            </a:r>
            <a:r>
              <a:rPr lang="en-US"/>
              <a:t>identify first cut </a:t>
            </a:r>
            <a:r>
              <a:rPr lang="en-US" dirty="0"/>
              <a:t>components and specify all necessary connections among these components. </a:t>
            </a:r>
          </a:p>
          <a:p>
            <a:endParaRPr lang="en-US" dirty="0"/>
          </a:p>
          <a:p>
            <a:r>
              <a:rPr lang="en-US" dirty="0"/>
              <a:t>The connections are conducted via the interfaces of components.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0542" t="30208" r="37335" b="12500"/>
          <a:stretch>
            <a:fillRect/>
          </a:stretch>
        </p:blipFill>
        <p:spPr bwMode="auto">
          <a:xfrm>
            <a:off x="457200" y="1524000"/>
            <a:ext cx="6781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3470" t="25000" r="37335" b="17708"/>
          <a:stretch>
            <a:fillRect/>
          </a:stretch>
        </p:blipFill>
        <p:spPr bwMode="auto">
          <a:xfrm>
            <a:off x="914400" y="685800"/>
            <a:ext cx="768096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can be made 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code</a:t>
            </a:r>
          </a:p>
          <a:p>
            <a:pPr lvl="1"/>
            <a:r>
              <a:rPr lang="en-US" dirty="0"/>
              <a:t>Classes – one or more, possibly related</a:t>
            </a:r>
          </a:p>
          <a:p>
            <a:pPr lvl="1"/>
            <a:endParaRPr lang="en-US" dirty="0"/>
          </a:p>
          <a:p>
            <a:r>
              <a:rPr lang="en-US" dirty="0"/>
              <a:t>Executable code</a:t>
            </a:r>
          </a:p>
          <a:p>
            <a:pPr lvl="1"/>
            <a:r>
              <a:rPr lang="en-US" dirty="0"/>
              <a:t>Object code</a:t>
            </a:r>
          </a:p>
          <a:p>
            <a:pPr lvl="1"/>
            <a:r>
              <a:rPr lang="en-US" dirty="0"/>
              <a:t>Virtual object code</a:t>
            </a:r>
          </a:p>
          <a:p>
            <a:pPr lvl="1"/>
            <a:endParaRPr lang="en-US" dirty="0"/>
          </a:p>
          <a:p>
            <a:r>
              <a:rPr lang="en-US" dirty="0"/>
              <a:t>Other files</a:t>
            </a:r>
          </a:p>
          <a:p>
            <a:pPr lvl="1"/>
            <a:r>
              <a:rPr lang="en-US" dirty="0"/>
              <a:t>Images, text, indices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/>
              <a:t>Connectors connect components, specifying and ruling their interaction. </a:t>
            </a:r>
          </a:p>
          <a:p>
            <a:endParaRPr lang="en-US" dirty="0"/>
          </a:p>
          <a:p>
            <a:r>
              <a:rPr lang="en-US" dirty="0"/>
              <a:t>Component interaction can take the form of </a:t>
            </a:r>
          </a:p>
          <a:p>
            <a:pPr lvl="1"/>
            <a:r>
              <a:rPr lang="en-US" dirty="0"/>
              <a:t>method invocations, </a:t>
            </a:r>
          </a:p>
          <a:p>
            <a:pPr lvl="1"/>
            <a:r>
              <a:rPr lang="en-US" dirty="0"/>
              <a:t>asynchronous invocations such as </a:t>
            </a:r>
          </a:p>
          <a:p>
            <a:pPr lvl="2"/>
            <a:r>
              <a:rPr lang="en-US" dirty="0"/>
              <a:t>event listener and registrations, </a:t>
            </a:r>
          </a:p>
          <a:p>
            <a:pPr lvl="2"/>
            <a:r>
              <a:rPr lang="en-US" dirty="0"/>
              <a:t>broadcasting, </a:t>
            </a:r>
          </a:p>
          <a:p>
            <a:pPr lvl="1"/>
            <a:r>
              <a:rPr lang="en-US" dirty="0"/>
              <a:t>message-driven interactions, </a:t>
            </a:r>
          </a:p>
          <a:p>
            <a:pPr lvl="1"/>
            <a:r>
              <a:rPr lang="en-US" dirty="0"/>
              <a:t>data stream communications, and </a:t>
            </a:r>
          </a:p>
          <a:p>
            <a:pPr lvl="1"/>
            <a:r>
              <a:rPr lang="en-US" dirty="0"/>
              <a:t>other protocol specific interactions. </a:t>
            </a:r>
          </a:p>
          <a:p>
            <a:pPr lvl="1"/>
            <a:endParaRPr lang="en-US" dirty="0"/>
          </a:p>
          <a:p>
            <a:r>
              <a:rPr lang="en-US" dirty="0"/>
              <a:t>The interaction type is specified by the interfaces of the components.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7613" t="28125" r="53148" b="32292"/>
          <a:stretch>
            <a:fillRect/>
          </a:stretch>
        </p:blipFill>
        <p:spPr bwMode="auto">
          <a:xfrm>
            <a:off x="777240" y="988906"/>
            <a:ext cx="7926806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4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155113" y="18078450"/>
              <a:ext cx="0" cy="0"/>
            </p14:xfrm>
          </p:contentPart>
        </mc:Choice>
        <mc:Fallback xmlns="">
          <p:pic>
            <p:nvPicPr>
              <p:cNvPr id="1024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55113" y="18078450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7613" t="38542" r="53148" b="19792"/>
          <a:stretch>
            <a:fillRect/>
          </a:stretch>
        </p:blipFill>
        <p:spPr bwMode="auto">
          <a:xfrm>
            <a:off x="382904" y="839894"/>
            <a:ext cx="842391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27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600738" y="18732500"/>
              <a:ext cx="0" cy="0"/>
            </p14:xfrm>
          </p:contentPart>
        </mc:Choice>
        <mc:Fallback xmlns="">
          <p:pic>
            <p:nvPicPr>
              <p:cNvPr id="1127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00738" y="18732500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-35501"/>
            <a:ext cx="7543800" cy="1450757"/>
          </a:xfrm>
        </p:spPr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3250" name="Picture 2" descr="Shows component's inner structure is composed of other componen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6993" y="1415256"/>
            <a:ext cx="8312226" cy="425873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280159" y="5709444"/>
            <a:ext cx="662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Figure: This component's inner structure is composed of other components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29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6113" y="1881188"/>
              <a:ext cx="6108700" cy="1092200"/>
            </p14:xfrm>
          </p:contentPart>
        </mc:Choice>
        <mc:Fallback xmlns="">
          <p:pic>
            <p:nvPicPr>
              <p:cNvPr id="1229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6754" y="1871835"/>
                <a:ext cx="6127417" cy="1110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29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78313" y="1839913"/>
              <a:ext cx="509587" cy="65087"/>
            </p14:xfrm>
          </p:contentPart>
        </mc:Choice>
        <mc:Fallback xmlns="">
          <p:pic>
            <p:nvPicPr>
              <p:cNvPr id="1229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8969" y="1830615"/>
                <a:ext cx="528274" cy="83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29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89738" y="2997200"/>
              <a:ext cx="3175" cy="4763"/>
            </p14:xfrm>
          </p:contentPart>
        </mc:Choice>
        <mc:Fallback xmlns="">
          <p:pic>
            <p:nvPicPr>
              <p:cNvPr id="1229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77945" y="2985942"/>
                <a:ext cx="26761" cy="2727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Contractual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specification attached to  an interface that mutually binds the clients and  providers of the components</a:t>
            </a:r>
          </a:p>
          <a:p>
            <a:r>
              <a:rPr lang="en-US" dirty="0"/>
              <a:t>Functional Aspects (API)</a:t>
            </a:r>
          </a:p>
          <a:p>
            <a:r>
              <a:rPr lang="en-US" dirty="0"/>
              <a:t>Pre- and post-conditions for  the operations specified  by API</a:t>
            </a:r>
          </a:p>
          <a:p>
            <a:pPr lvl="1"/>
            <a:r>
              <a:rPr lang="en-US" dirty="0"/>
              <a:t>Preconditions denoting the constraints which need to be met by the client</a:t>
            </a:r>
          </a:p>
          <a:p>
            <a:pPr lvl="1"/>
            <a:r>
              <a:rPr lang="en-US" dirty="0" err="1"/>
              <a:t>Postconditions</a:t>
            </a:r>
            <a:r>
              <a:rPr lang="en-US" dirty="0"/>
              <a:t> denoting the constraints which the component promises to fulfill in return</a:t>
            </a:r>
          </a:p>
          <a:p>
            <a:pPr lvl="1"/>
            <a:r>
              <a:rPr lang="en-US" dirty="0"/>
              <a:t>A component may also additionally satisfy global constraints called invariants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Non-functional aspects (different constrains, environment requirements, etc.)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1"/>
            <a:ext cx="8229600" cy="3962400"/>
          </a:xfrm>
        </p:spPr>
        <p:txBody>
          <a:bodyPr>
            <a:noAutofit/>
          </a:bodyPr>
          <a:lstStyle/>
          <a:p>
            <a:r>
              <a:rPr lang="en-US" sz="2400" dirty="0"/>
              <a:t>A component model is a definition of standards for component implementation, documentation and deployment</a:t>
            </a:r>
          </a:p>
          <a:p>
            <a:pPr lvl="1"/>
            <a:r>
              <a:rPr lang="en-US" sz="2000" dirty="0"/>
              <a:t>Examples of component models</a:t>
            </a:r>
          </a:p>
          <a:p>
            <a:pPr lvl="2"/>
            <a:r>
              <a:rPr lang="en-US" sz="1800" dirty="0"/>
              <a:t>EJB model (Enterprise Java Beans)</a:t>
            </a:r>
          </a:p>
          <a:p>
            <a:pPr lvl="2"/>
            <a:r>
              <a:rPr lang="en-US" sz="1800" dirty="0"/>
              <a:t>.NET model</a:t>
            </a:r>
          </a:p>
          <a:p>
            <a:pPr lvl="2"/>
            <a:r>
              <a:rPr lang="en-US" sz="1800" dirty="0" err="1"/>
              <a:t>Corba</a:t>
            </a:r>
            <a:r>
              <a:rPr lang="en-US" sz="1800" dirty="0"/>
              <a:t> Component Model</a:t>
            </a:r>
          </a:p>
          <a:p>
            <a:r>
              <a:rPr lang="en-US" sz="2400" dirty="0"/>
              <a:t>The component model specifies how interfaces should be defined and the elements that should be included in an interface definition</a:t>
            </a:r>
          </a:p>
          <a:p>
            <a:r>
              <a:rPr lang="en-US" sz="2400" dirty="0"/>
              <a:t>Different application domains have different needs for  component-based systems</a:t>
            </a:r>
          </a:p>
          <a:p>
            <a:pPr lvl="1"/>
            <a:r>
              <a:rPr lang="en-US" sz="2000" dirty="0"/>
              <a:t>Different non-functional properties: performance, security,  reliability, scalability, etc.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of a component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9956" t="19792" r="29722" b="14583"/>
          <a:stretch>
            <a:fillRect/>
          </a:stretch>
        </p:blipFill>
        <p:spPr bwMode="auto">
          <a:xfrm>
            <a:off x="609600" y="1371600"/>
            <a:ext cx="7848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372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390888" y="30278388"/>
              <a:ext cx="0" cy="0"/>
            </p14:xfrm>
          </p:contentPart>
        </mc:Choice>
        <mc:Fallback xmlns="">
          <p:pic>
            <p:nvPicPr>
              <p:cNvPr id="15372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90888" y="30278388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382000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38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43338" y="2246313"/>
              <a:ext cx="533400" cy="139700"/>
            </p14:xfrm>
          </p:contentPart>
        </mc:Choice>
        <mc:Fallback xmlns="">
          <p:pic>
            <p:nvPicPr>
              <p:cNvPr id="1638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3980" y="2237047"/>
                <a:ext cx="552116" cy="158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38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324388" y="16451263"/>
              <a:ext cx="0" cy="0"/>
            </p14:xfrm>
          </p:contentPart>
        </mc:Choice>
        <mc:Fallback xmlns="">
          <p:pic>
            <p:nvPicPr>
              <p:cNvPr id="1638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24388" y="164512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38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07213" y="2970213"/>
              <a:ext cx="269875" cy="106362"/>
            </p14:xfrm>
          </p:contentPart>
        </mc:Choice>
        <mc:Fallback xmlns="">
          <p:pic>
            <p:nvPicPr>
              <p:cNvPr id="1638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97857" y="2960870"/>
                <a:ext cx="288586" cy="125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38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65450" y="3686175"/>
              <a:ext cx="92075" cy="82550"/>
            </p14:xfrm>
          </p:contentPart>
        </mc:Choice>
        <mc:Fallback xmlns="">
          <p:pic>
            <p:nvPicPr>
              <p:cNvPr id="1638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56135" y="3676636"/>
                <a:ext cx="110705" cy="101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39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11750" y="4478338"/>
              <a:ext cx="2171700" cy="47625"/>
            </p14:xfrm>
          </p:contentPart>
        </mc:Choice>
        <mc:Fallback xmlns="">
          <p:pic>
            <p:nvPicPr>
              <p:cNvPr id="1639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02392" y="4468813"/>
                <a:ext cx="2190415" cy="66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39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29213" y="4446588"/>
              <a:ext cx="130175" cy="87312"/>
            </p14:xfrm>
          </p:contentPart>
        </mc:Choice>
        <mc:Fallback xmlns="">
          <p:pic>
            <p:nvPicPr>
              <p:cNvPr id="1639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19838" y="4437207"/>
                <a:ext cx="148926" cy="10607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Applicable domains of component-based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where the interface contracts between subsystems are clear</a:t>
            </a:r>
          </a:p>
          <a:p>
            <a:endParaRPr lang="en-US" dirty="0"/>
          </a:p>
          <a:p>
            <a:r>
              <a:rPr lang="en-US" dirty="0"/>
              <a:t>Applications that require loose coupling between the components and where many reusable components are available</a:t>
            </a:r>
          </a:p>
          <a:p>
            <a:endParaRPr lang="en-US" dirty="0"/>
          </a:p>
          <a:p>
            <a:r>
              <a:rPr lang="en-US" dirty="0"/>
              <a:t>Suitable for the class library system organization (.NET class library and Java API are built in component architecture)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41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421388" y="11312525"/>
              <a:ext cx="0" cy="0"/>
            </p14:xfrm>
          </p:contentPart>
        </mc:Choice>
        <mc:Fallback xmlns="">
          <p:pic>
            <p:nvPicPr>
              <p:cNvPr id="1741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21388" y="11312525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41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08663" y="2055813"/>
              <a:ext cx="527050" cy="34925"/>
            </p14:xfrm>
          </p:contentPart>
        </mc:Choice>
        <mc:Fallback xmlns="">
          <p:pic>
            <p:nvPicPr>
              <p:cNvPr id="1741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9296" y="2046452"/>
                <a:ext cx="545783" cy="5364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Reusability of components.</a:t>
            </a:r>
          </a:p>
          <a:p>
            <a:endParaRPr lang="en-US" dirty="0"/>
          </a:p>
          <a:p>
            <a:r>
              <a:rPr lang="en-US" dirty="0"/>
              <a:t>System maintenance and evolution; easy to change and update the implementation without affecting the rest of the system.</a:t>
            </a:r>
          </a:p>
          <a:p>
            <a:endParaRPr lang="en-US" dirty="0"/>
          </a:p>
          <a:p>
            <a:r>
              <a:rPr lang="en-US" dirty="0"/>
              <a:t>Independency and flexible connectivity of components.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development of components by different groups in parallel.</a:t>
            </a:r>
          </a:p>
          <a:p>
            <a:endParaRPr lang="en-US" dirty="0"/>
          </a:p>
          <a:p>
            <a:r>
              <a:rPr lang="en-US" dirty="0"/>
              <a:t>Productivity for the current and future software development.</a:t>
            </a:r>
          </a:p>
          <a:p>
            <a:endParaRPr lang="en-US" dirty="0"/>
          </a:p>
          <a:p>
            <a:r>
              <a:rPr lang="en-US" dirty="0"/>
              <a:t>Many OO design tools can also be used for component-based software development.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 be difficult to find suitable available components to reuse.</a:t>
            </a:r>
          </a:p>
          <a:p>
            <a:endParaRPr lang="en-US" dirty="0"/>
          </a:p>
          <a:p>
            <a:r>
              <a:rPr lang="en-US" dirty="0"/>
              <a:t>Adaptation of components is an issue.</a:t>
            </a:r>
          </a:p>
          <a:p>
            <a:endParaRPr lang="en-US" dirty="0"/>
          </a:p>
          <a:p>
            <a:r>
              <a:rPr lang="en-US" dirty="0"/>
              <a:t>Few component-oriented dedicated design tools are available.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oriented Software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3245</TotalTime>
  <Words>653</Words>
  <Application>Microsoft Office PowerPoint</Application>
  <PresentationFormat>On-screen Show (4:3)</PresentationFormat>
  <Paragraphs>104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Calibri Light</vt:lpstr>
      <vt:lpstr>Retrospect</vt:lpstr>
      <vt:lpstr>SOFTWARE DESIGN AND ARCHITECTURE</vt:lpstr>
      <vt:lpstr>Review</vt:lpstr>
      <vt:lpstr>Outline</vt:lpstr>
      <vt:lpstr>Component based software architecture</vt:lpstr>
      <vt:lpstr>Component Based Software Architecture</vt:lpstr>
      <vt:lpstr>Component Based Software Architecture</vt:lpstr>
      <vt:lpstr>Component</vt:lpstr>
      <vt:lpstr>Component</vt:lpstr>
      <vt:lpstr>Component</vt:lpstr>
      <vt:lpstr>N tier Architecture</vt:lpstr>
      <vt:lpstr>PowerPoint Presentation</vt:lpstr>
      <vt:lpstr>Components can be made of</vt:lpstr>
      <vt:lpstr>Connectors</vt:lpstr>
      <vt:lpstr>PowerPoint Presentation</vt:lpstr>
      <vt:lpstr>PowerPoint Presentation</vt:lpstr>
      <vt:lpstr>Component Diagram</vt:lpstr>
      <vt:lpstr>Contractual interfaces</vt:lpstr>
      <vt:lpstr>Component Model</vt:lpstr>
      <vt:lpstr>Elements of a component model</vt:lpstr>
      <vt:lpstr>PowerPoint Presentation</vt:lpstr>
      <vt:lpstr>Applicable domains of component-based architecture</vt:lpstr>
      <vt:lpstr>Benefits</vt:lpstr>
      <vt:lpstr>Benefits</vt:lpstr>
      <vt:lpstr>Limitations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177</cp:revision>
  <dcterms:created xsi:type="dcterms:W3CDTF">2015-07-31T14:09:29Z</dcterms:created>
  <dcterms:modified xsi:type="dcterms:W3CDTF">2024-11-25T00:22:56Z</dcterms:modified>
</cp:coreProperties>
</file>