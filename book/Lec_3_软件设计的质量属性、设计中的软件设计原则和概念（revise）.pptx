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8" r:id="rId2"/>
    <p:sldId id="313" r:id="rId3"/>
    <p:sldId id="314" r:id="rId4"/>
    <p:sldId id="315" r:id="rId5"/>
    <p:sldId id="301" r:id="rId6"/>
    <p:sldId id="316" r:id="rId7"/>
    <p:sldId id="303" r:id="rId8"/>
    <p:sldId id="317" r:id="rId9"/>
    <p:sldId id="304" r:id="rId10"/>
    <p:sldId id="305" r:id="rId11"/>
    <p:sldId id="306" r:id="rId12"/>
    <p:sldId id="307" r:id="rId13"/>
    <p:sldId id="318" r:id="rId14"/>
    <p:sldId id="308" r:id="rId15"/>
    <p:sldId id="319" r:id="rId16"/>
    <p:sldId id="309" r:id="rId17"/>
    <p:sldId id="310" r:id="rId18"/>
    <p:sldId id="320" r:id="rId19"/>
    <p:sldId id="321" r:id="rId20"/>
    <p:sldId id="263" r:id="rId21"/>
    <p:sldId id="264" r:id="rId22"/>
    <p:sldId id="322" r:id="rId23"/>
    <p:sldId id="324" r:id="rId24"/>
    <p:sldId id="325" r:id="rId25"/>
    <p:sldId id="326" r:id="rId26"/>
    <p:sldId id="327" r:id="rId27"/>
    <p:sldId id="328" r:id="rId28"/>
    <p:sldId id="329" r:id="rId29"/>
    <p:sldId id="330" r:id="rId30"/>
    <p:sldId id="331" r:id="rId31"/>
    <p:sldId id="323" r:id="rId32"/>
  </p:sldIdLst>
  <p:sldSz cx="9144000" cy="6858000" type="screen4x3"/>
  <p:notesSz cx="6858000" cy="9144000"/>
  <p:custDataLst>
    <p:tags r:id="rId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2022/9/14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5C640E-7988-46E2-B92C-91FBB94F4F99}" type="datetimeFigureOut">
              <a:rPr lang="en-US" smtClean="0"/>
              <a:t>9/14/2022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FD04D6-9924-4921-B29D-3F16002500F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For example, the interoperation of a word processor with an image processing system requires that the result of one software system, such as</a:t>
            </a:r>
          </a:p>
          <a:p>
            <a:r>
              <a:rPr lang="en-US" dirty="0"/>
              <a:t>image processing of a photo, can be used in another so that a document can contain both text and image contents. </a:t>
            </a:r>
          </a:p>
        </p:txBody>
      </p:sp>
      <p:sp>
        <p:nvSpPr>
          <p:cNvPr id="4" name="Slide Number Placeholder 3"/>
          <p:cNvSpPr>
            <a:spLocks noGrp="1"/>
          </p:cNvSpPr>
          <p:nvPr>
            <p:ph type="sldNum" sz="quarter" idx="10"/>
          </p:nvPr>
        </p:nvSpPr>
        <p:spPr/>
        <p:txBody>
          <a:bodyPr/>
          <a:lstStyle/>
          <a:p>
            <a:fld id="{77FD04D6-9924-4921-B29D-3F16002500F7}" type="slidenum">
              <a:rPr lang="en-US" smtClean="0"/>
              <a:t>12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p:sp>
      <p:sp>
        <p:nvSpPr>
          <p:cNvPr id="31747" name="Notes Placeholder 2"/>
          <p:cNvSpPr>
            <a:spLocks noGrp="1"/>
          </p:cNvSpPr>
          <p:nvPr>
            <p:ph type="body" idx="1"/>
          </p:nvPr>
        </p:nvSpPr>
        <p:spPr>
          <a:noFill/>
        </p:spPr>
        <p:txBody>
          <a:bodyPr/>
          <a:lstStyle/>
          <a:p>
            <a:r>
              <a:rPr lang="en-GB"/>
              <a:t>Some key concepts to be kept in mind.. These are the concepts that will be followed to ensure a “good design"</a:t>
            </a:r>
            <a:endParaRPr lang="en-GB" dirty="0"/>
          </a:p>
        </p:txBody>
      </p:sp>
      <p:sp>
        <p:nvSpPr>
          <p:cNvPr id="31748" name="Slide Number Placeholder 3"/>
          <p:cNvSpPr>
            <a:spLocks noGrp="1"/>
          </p:cNvSpPr>
          <p:nvPr>
            <p:ph type="sldNum" sz="quarter" idx="5"/>
          </p:nvPr>
        </p:nvSpPr>
        <p:spPr>
          <a:noFill/>
        </p:spPr>
        <p:txBody>
          <a:bodyPr/>
          <a:lstStyle/>
          <a:p>
            <a:fld id="{742B483F-4148-4E17-AF51-9C1D3C7A8BD1}" type="slidenum">
              <a:rPr lang="en-US" smtClean="0"/>
              <a:t>24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p:sp>
      <p:sp>
        <p:nvSpPr>
          <p:cNvPr id="32771" name="Notes Placeholder 2"/>
          <p:cNvSpPr>
            <a:spLocks noGrp="1"/>
          </p:cNvSpPr>
          <p:nvPr>
            <p:ph type="body" idx="1"/>
          </p:nvPr>
        </p:nvSpPr>
        <p:spPr>
          <a:noFill/>
        </p:spPr>
        <p:txBody>
          <a:bodyPr/>
          <a:lstStyle/>
          <a:p>
            <a:pPr eaLnBrk="1" hangingPunct="1"/>
            <a:r>
              <a:rPr lang="en-GB"/>
              <a:t>Modular Decomposition is an approach that subdivides a system into smaller parts (modules) that can be independently created and then used in different systems to drive multiple functionalities. Besides reduction in cost (due to lesser customization, and less learning time), and flexibility in design, modularity offers other benefits such as augmentation (adding new solution by merely plugging in a new module)</a:t>
            </a:r>
          </a:p>
          <a:p>
            <a:pPr eaLnBrk="1" hangingPunct="1"/>
            <a:endParaRPr lang="en-GB"/>
          </a:p>
          <a:p>
            <a:pPr eaLnBrk="1" hangingPunct="1"/>
            <a:r>
              <a:rPr lang="en-GB"/>
              <a:t>Fault isolation: Providing more robust failover support through a configuration that includes a degree of fault isolation, reduces the potential for failure of one module to affect other modules. Configurations that provide simple failover support are concerned only with individual module failures that have no effect on the performance of other modules</a:t>
            </a:r>
            <a:endParaRPr lang="en-GB" dirty="0"/>
          </a:p>
        </p:txBody>
      </p:sp>
      <p:sp>
        <p:nvSpPr>
          <p:cNvPr id="32772" name="Slide Number Placeholder 3"/>
          <p:cNvSpPr>
            <a:spLocks noGrp="1"/>
          </p:cNvSpPr>
          <p:nvPr>
            <p:ph type="sldNum" sz="quarter" idx="5"/>
          </p:nvPr>
        </p:nvSpPr>
        <p:spPr>
          <a:noFill/>
        </p:spPr>
        <p:txBody>
          <a:bodyPr/>
          <a:lstStyle/>
          <a:p>
            <a:fld id="{0A364EC6-144B-4FF0-9B11-3B11DD0663A1}" type="slidenum">
              <a:rPr lang="en-US" smtClean="0"/>
              <a:t>25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normAutofit lnSpcReduction="10000"/>
          </a:bodyPr>
          <a:lstStyle/>
          <a:p>
            <a:pPr eaLnBrk="1" hangingPunct="1">
              <a:lnSpc>
                <a:spcPct val="90000"/>
              </a:lnSpc>
            </a:pPr>
            <a:r>
              <a:rPr lang="en-GB" dirty="0"/>
              <a:t>The benefits of modularity do not follow automatically from the act of subdividing a program. The way in which a program is decomposed can make an enormous difference to how easily the program can be implemented and modified. Experience shows that each module should encapsulate information that is not available to the rest of a program. This </a:t>
            </a:r>
            <a:r>
              <a:rPr lang="en-GB" i="1" dirty="0"/>
              <a:t>information hiding </a:t>
            </a:r>
            <a:r>
              <a:rPr lang="en-GB" dirty="0"/>
              <a:t>reduces the cost of subsequent design changes. For example, a module may encapsulate </a:t>
            </a:r>
          </a:p>
          <a:p>
            <a:pPr eaLnBrk="1" hangingPunct="1">
              <a:lnSpc>
                <a:spcPct val="90000"/>
              </a:lnSpc>
            </a:pPr>
            <a:r>
              <a:rPr lang="en-GB" dirty="0"/>
              <a:t>related functions that can benefit from a common implementation or that are used in many parts of a system, </a:t>
            </a:r>
          </a:p>
          <a:p>
            <a:pPr eaLnBrk="1" hangingPunct="1">
              <a:lnSpc>
                <a:spcPct val="90000"/>
              </a:lnSpc>
            </a:pPr>
            <a:r>
              <a:rPr lang="en-GB" dirty="0"/>
              <a:t>functionality that is likely to change during later design or deployment, </a:t>
            </a:r>
          </a:p>
          <a:p>
            <a:pPr eaLnBrk="1" hangingPunct="1">
              <a:lnSpc>
                <a:spcPct val="90000"/>
              </a:lnSpc>
            </a:pPr>
            <a:r>
              <a:rPr lang="en-GB" dirty="0"/>
              <a:t>aspects of a problem that are particularly complex, and/or </a:t>
            </a:r>
          </a:p>
          <a:p>
            <a:pPr eaLnBrk="1" hangingPunct="1">
              <a:lnSpc>
                <a:spcPct val="90000"/>
              </a:lnSpc>
            </a:pPr>
            <a:r>
              <a:rPr lang="en-GB" dirty="0"/>
              <a:t>code that is expected to be reused in other programs. </a:t>
            </a:r>
          </a:p>
          <a:p>
            <a:pPr eaLnBrk="1" hangingPunct="1">
              <a:lnSpc>
                <a:spcPct val="90000"/>
              </a:lnSpc>
            </a:pPr>
            <a:endParaRPr lang="en-GB" dirty="0"/>
          </a:p>
          <a:p>
            <a:pPr eaLnBrk="1" hangingPunct="1">
              <a:lnSpc>
                <a:spcPct val="90000"/>
              </a:lnSpc>
            </a:pPr>
            <a:r>
              <a:rPr lang="en-US" u="sng" dirty="0"/>
              <a:t>Information hiding:</a:t>
            </a:r>
            <a:endParaRPr lang="en-US" dirty="0"/>
          </a:p>
          <a:p>
            <a:pPr eaLnBrk="1" hangingPunct="1">
              <a:lnSpc>
                <a:spcPct val="90000"/>
              </a:lnSpc>
            </a:pPr>
            <a:r>
              <a:rPr lang="en-US" dirty="0"/>
              <a:t>	Modules should be specified and designed so that the internal details of </a:t>
            </a:r>
          </a:p>
          <a:p>
            <a:pPr eaLnBrk="1" hangingPunct="1">
              <a:lnSpc>
                <a:spcPct val="90000"/>
              </a:lnSpc>
            </a:pPr>
            <a:r>
              <a:rPr lang="en-US" dirty="0"/>
              <a:t>	modules should be invisible or inaccessible to other modules.</a:t>
            </a:r>
          </a:p>
          <a:p>
            <a:pPr eaLnBrk="1" hangingPunct="1">
              <a:lnSpc>
                <a:spcPct val="90000"/>
              </a:lnSpc>
            </a:pPr>
            <a:endParaRPr lang="en-US" dirty="0"/>
          </a:p>
          <a:p>
            <a:pPr eaLnBrk="1" hangingPunct="1">
              <a:lnSpc>
                <a:spcPct val="90000"/>
              </a:lnSpc>
            </a:pPr>
            <a:r>
              <a:rPr lang="en-US" dirty="0"/>
              <a:t>Major benefits: 	reduce the change impacts in testing and maintenance</a:t>
            </a:r>
          </a:p>
          <a:p>
            <a:pPr eaLnBrk="1" hangingPunct="1">
              <a:lnSpc>
                <a:spcPct val="90000"/>
              </a:lnSpc>
            </a:pPr>
            <a:endParaRPr lang="en-US" dirty="0"/>
          </a:p>
          <a:p>
            <a:pPr eaLnBrk="1" hangingPunct="1">
              <a:lnSpc>
                <a:spcPct val="90000"/>
              </a:lnSpc>
            </a:pPr>
            <a:r>
              <a:rPr lang="en-US" u="sng" dirty="0"/>
              <a:t>Coupling:</a:t>
            </a:r>
            <a:r>
              <a:rPr lang="en-US" dirty="0"/>
              <a:t>	(Figure 13.8)</a:t>
            </a:r>
          </a:p>
          <a:p>
            <a:pPr eaLnBrk="1" hangingPunct="1">
              <a:lnSpc>
                <a:spcPct val="90000"/>
              </a:lnSpc>
            </a:pPr>
            <a:r>
              <a:rPr lang="en-US" dirty="0"/>
              <a:t>	A measure of interconnection among modules in a program structure.</a:t>
            </a:r>
          </a:p>
          <a:p>
            <a:pPr eaLnBrk="1" hangingPunct="1">
              <a:lnSpc>
                <a:spcPct val="90000"/>
              </a:lnSpc>
            </a:pPr>
            <a:r>
              <a:rPr lang="en-US" dirty="0"/>
              <a:t>	Coupling depends on the interface complexity between modules.</a:t>
            </a:r>
          </a:p>
          <a:p>
            <a:pPr eaLnBrk="1" hangingPunct="1">
              <a:lnSpc>
                <a:spcPct val="90000"/>
              </a:lnSpc>
            </a:pPr>
            <a:endParaRPr lang="en-US" dirty="0"/>
          </a:p>
          <a:p>
            <a:pPr eaLnBrk="1" hangingPunct="1">
              <a:lnSpc>
                <a:spcPct val="90000"/>
              </a:lnSpc>
            </a:pPr>
            <a:r>
              <a:rPr lang="en-US" dirty="0"/>
              <a:t>Goal: 	to strive for lowest possible coupling among modules.</a:t>
            </a:r>
          </a:p>
          <a:p>
            <a:pPr eaLnBrk="1" hangingPunct="1">
              <a:lnSpc>
                <a:spcPct val="90000"/>
              </a:lnSpc>
            </a:pPr>
            <a:endParaRPr lang="en-US" dirty="0"/>
          </a:p>
          <a:p>
            <a:pPr eaLnBrk="1" hangingPunct="1">
              <a:lnSpc>
                <a:spcPct val="90000"/>
              </a:lnSpc>
            </a:pPr>
            <a:r>
              <a:rPr lang="en-US" dirty="0"/>
              <a:t>Good coupling ---&gt; reduce or avoid change impact and ripple effects.</a:t>
            </a:r>
          </a:p>
          <a:p>
            <a:pPr eaLnBrk="1" hangingPunct="1">
              <a:lnSpc>
                <a:spcPct val="90000"/>
              </a:lnSpc>
            </a:pPr>
            <a:r>
              <a:rPr lang="en-US" dirty="0"/>
              <a:t>	---&gt; reduce the cost in program changes, testing, maintenance</a:t>
            </a:r>
          </a:p>
          <a:p>
            <a:pPr eaLnBrk="1" hangingPunct="1">
              <a:lnSpc>
                <a:spcPct val="90000"/>
              </a:lnSpc>
            </a:pPr>
            <a:endParaRPr lang="en-GB" dirty="0"/>
          </a:p>
          <a:p>
            <a:pPr eaLnBrk="1" hangingPunct="1">
              <a:lnSpc>
                <a:spcPct val="90000"/>
              </a:lnSpc>
            </a:pPr>
            <a:endParaRPr lang="en-GB" dirty="0"/>
          </a:p>
        </p:txBody>
      </p:sp>
      <p:sp>
        <p:nvSpPr>
          <p:cNvPr id="33796" name="Slide Number Placeholder 3"/>
          <p:cNvSpPr>
            <a:spLocks noGrp="1"/>
          </p:cNvSpPr>
          <p:nvPr>
            <p:ph type="sldNum" sz="quarter" idx="5"/>
          </p:nvPr>
        </p:nvSpPr>
        <p:spPr>
          <a:noFill/>
        </p:spPr>
        <p:txBody>
          <a:bodyPr/>
          <a:lstStyle/>
          <a:p>
            <a:fld id="{981555F2-0DB9-44A3-B99A-08EB1EF779CB}" type="slidenum">
              <a:rPr lang="en-US" smtClean="0"/>
              <a:t>26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p:sp>
      <p:sp>
        <p:nvSpPr>
          <p:cNvPr id="34819" name="Notes Placeholder 2"/>
          <p:cNvSpPr>
            <a:spLocks noGrp="1"/>
          </p:cNvSpPr>
          <p:nvPr>
            <p:ph type="body" idx="1"/>
          </p:nvPr>
        </p:nvSpPr>
        <p:spPr>
          <a:noFill/>
        </p:spPr>
        <p:txBody>
          <a:bodyPr/>
          <a:lstStyle/>
          <a:p>
            <a:endParaRPr lang="en-GB" sz="1100">
              <a:latin typeface="Times New Roman" panose="02020603050405020304" pitchFamily="18" charset="0"/>
              <a:cs typeface="Times New Roman" panose="02020603050405020304" pitchFamily="18" charset="0"/>
            </a:endParaRPr>
          </a:p>
          <a:p>
            <a:pPr>
              <a:buFontTx/>
              <a:buChar char="•"/>
            </a:pPr>
            <a:r>
              <a:rPr lang="en-GB" sz="1100">
                <a:latin typeface="Times New Roman" panose="02020603050405020304" pitchFamily="18" charset="0"/>
                <a:cs typeface="Times New Roman" panose="02020603050405020304" pitchFamily="18" charset="0"/>
              </a:rPr>
              <a:t>Error isolation: Functional independence reduces error propagation. The reason behind this is that if a module is functionally independent, its degree of interaction with the other modules is less. Therefore, any error existing in a module would not directly effect the other modules. </a:t>
            </a:r>
          </a:p>
          <a:p>
            <a:r>
              <a:rPr lang="en-GB" sz="1100">
                <a:latin typeface="Times New Roman" panose="02020603050405020304" pitchFamily="18" charset="0"/>
                <a:cs typeface="Times New Roman" panose="02020603050405020304" pitchFamily="18" charset="0"/>
              </a:rPr>
              <a:t>• Scope of reuse: Reuse of a module becomes possible. Because each module does some well-defined and precise function (which is cohesive property), and the interaction of the module with the other modules is simple and minimal. Therefore, a cohesive module can be easily taken out and reused in a different program. </a:t>
            </a:r>
          </a:p>
          <a:p>
            <a:r>
              <a:rPr lang="en-GB" sz="1100">
                <a:latin typeface="Times New Roman" panose="02020603050405020304" pitchFamily="18" charset="0"/>
                <a:cs typeface="Times New Roman" panose="02020603050405020304" pitchFamily="18" charset="0"/>
              </a:rPr>
              <a:t>• Understandability: Complexity of the design is reduced, because different modules can be understood in isolation as modules are more or less independent of each other. </a:t>
            </a:r>
          </a:p>
          <a:p>
            <a:endParaRPr lang="en-GB" sz="1100">
              <a:latin typeface="Times New Roman" panose="02020603050405020304" pitchFamily="18" charset="0"/>
              <a:cs typeface="Times New Roman" panose="02020603050405020304" pitchFamily="18" charset="0"/>
            </a:endParaRPr>
          </a:p>
        </p:txBody>
      </p:sp>
      <p:sp>
        <p:nvSpPr>
          <p:cNvPr id="34820" name="Slide Number Placeholder 3"/>
          <p:cNvSpPr>
            <a:spLocks noGrp="1"/>
          </p:cNvSpPr>
          <p:nvPr>
            <p:ph type="sldNum" sz="quarter" idx="5"/>
          </p:nvPr>
        </p:nvSpPr>
        <p:spPr>
          <a:noFill/>
        </p:spPr>
        <p:txBody>
          <a:bodyPr/>
          <a:lstStyle/>
          <a:p>
            <a:fld id="{FAC2D574-6BA3-43D4-AA19-4B386DD5062D}" type="slidenum">
              <a:rPr lang="en-US" smtClean="0"/>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0F6FF2-1C5E-44C6-B292-5894AC284FD8}" type="datetimeFigureOut">
              <a:rPr lang="en-US" smtClean="0"/>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0F6FF2-1C5E-44C6-B292-5894AC284FD8}" type="datetimeFigureOut">
              <a:rPr lang="en-US" smtClean="0"/>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0F6FF2-1C5E-44C6-B292-5894AC284FD8}" type="datetimeFigureOut">
              <a:rPr lang="en-US" smtClean="0"/>
              <a:t>9/14/2022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0F6FF2-1C5E-44C6-B292-5894AC284FD8}" type="datetimeFigureOut">
              <a:rPr lang="en-US" smtClean="0"/>
              <a:t>9/14/2022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0F6FF2-1C5E-44C6-B292-5894AC284FD8}" type="datetimeFigureOut">
              <a:rPr lang="en-US" smtClean="0"/>
              <a:t>9/14/2022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60F6FF2-1C5E-44C6-B292-5894AC284FD8}" type="datetimeFigureOut">
              <a:rPr lang="en-US" smtClean="0"/>
              <a:t>9/14/2022</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D2CEB-90FE-48B7-8B92-04B30B6191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F6FF2-1C5E-44C6-B292-5894AC284FD8}" type="datetimeFigureOut">
              <a:rPr lang="en-US" smtClean="0"/>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60F6FF2-1C5E-44C6-B292-5894AC284FD8}" type="datetimeFigureOut">
              <a:rPr lang="en-US" smtClean="0"/>
              <a:t>9/14/2022</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26D2CEB-90FE-48B7-8B92-04B30B6191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a:t>20H58665– </a:t>
            </a:r>
            <a:r>
              <a:rPr lang="zh-CN" altLang="en-US" sz="4400" b="1" dirty="0"/>
              <a:t>软件设计与架构</a:t>
            </a:r>
            <a:endParaRPr lang="en-US" b="1" dirty="0"/>
          </a:p>
        </p:txBody>
      </p:sp>
      <p:sp>
        <p:nvSpPr>
          <p:cNvPr id="3" name="Subtitle 2"/>
          <p:cNvSpPr>
            <a:spLocks noGrp="1"/>
          </p:cNvSpPr>
          <p:nvPr>
            <p:ph type="subTitle" idx="1"/>
          </p:nvPr>
        </p:nvSpPr>
        <p:spPr/>
        <p:txBody>
          <a:bodyPr/>
          <a:lstStyle/>
          <a:p>
            <a:r>
              <a:rPr lang="zh-CN" altLang="en-US" b="1" dirty="0">
                <a:solidFill>
                  <a:schemeClr val="tx1"/>
                </a:solidFill>
              </a:rPr>
              <a:t>演讲</a:t>
            </a:r>
            <a:r>
              <a:rPr lang="en-US" b="1" dirty="0">
                <a:solidFill>
                  <a:schemeClr val="tx1"/>
                </a:solidFill>
              </a:rPr>
              <a:t> 02 and 03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98907"/>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上一讲</a:t>
            </a:r>
            <a:endParaRPr lang="en-US" dirty="0"/>
          </a:p>
        </p:txBody>
      </p:sp>
      <p:sp>
        <p:nvSpPr>
          <p:cNvPr id="3" name="Content Placeholder 2"/>
          <p:cNvSpPr>
            <a:spLocks noGrp="1"/>
          </p:cNvSpPr>
          <p:nvPr>
            <p:ph idx="1"/>
          </p:nvPr>
        </p:nvSpPr>
        <p:spPr/>
        <p:txBody>
          <a:bodyPr/>
          <a:lstStyle/>
          <a:p>
            <a:r>
              <a:rPr lang="en-US" altLang="zh-CN" dirty="0"/>
              <a:t>SDLC </a:t>
            </a:r>
            <a:r>
              <a:rPr lang="zh-CN" altLang="en-US" dirty="0"/>
              <a:t>中的设计阶段</a:t>
            </a:r>
            <a:r>
              <a:rPr lang="en-US" altLang="zh-CN" dirty="0"/>
              <a:t>——</a:t>
            </a:r>
            <a:r>
              <a:rPr lang="zh-CN" altLang="en-US" dirty="0"/>
              <a:t>架构和详细设计</a:t>
            </a:r>
            <a:endParaRPr lang="en-US" altLang="zh-CN" dirty="0"/>
          </a:p>
          <a:p>
            <a:r>
              <a:rPr lang="zh-CN" altLang="en-US" dirty="0"/>
              <a:t>影响设计的因素</a:t>
            </a:r>
            <a:endParaRPr lang="en-US" altLang="zh-CN" dirty="0"/>
          </a:p>
          <a:p>
            <a:r>
              <a:rPr lang="zh-CN" altLang="en-US" dirty="0"/>
              <a:t>质量模型</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大纲</a:t>
            </a:r>
            <a:endParaRPr lang="en-US" dirty="0"/>
          </a:p>
        </p:txBody>
      </p:sp>
      <p:sp>
        <p:nvSpPr>
          <p:cNvPr id="3" name="Content Placeholder 2"/>
          <p:cNvSpPr>
            <a:spLocks noGrp="1"/>
          </p:cNvSpPr>
          <p:nvPr>
            <p:ph idx="1"/>
          </p:nvPr>
        </p:nvSpPr>
        <p:spPr/>
        <p:txBody>
          <a:bodyPr/>
          <a:lstStyle/>
          <a:p>
            <a:r>
              <a:rPr lang="zh-CN" altLang="en-US" dirty="0"/>
              <a:t>优秀的设计 </a:t>
            </a:r>
            <a:endParaRPr lang="en-US" altLang="zh-CN" dirty="0"/>
          </a:p>
          <a:p>
            <a:r>
              <a:rPr lang="zh-CN" altLang="en-US" dirty="0"/>
              <a:t>软件设计的质量属性 </a:t>
            </a:r>
            <a:endParaRPr lang="en-US" altLang="zh-CN" dirty="0"/>
          </a:p>
          <a:p>
            <a:r>
              <a:rPr lang="zh-CN" altLang="en-US" dirty="0"/>
              <a:t>软件设计原则</a:t>
            </a:r>
            <a:endParaRPr lang="en-US" altLang="zh-CN" dirty="0"/>
          </a:p>
          <a:p>
            <a:r>
              <a:rPr lang="en-US" dirty="0"/>
              <a:t> </a:t>
            </a:r>
            <a:r>
              <a:rPr lang="zh-CN" altLang="en-US" dirty="0"/>
              <a:t>设计概念</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dirty="0"/>
              <a:t>优秀的设计</a:t>
            </a:r>
            <a:endParaRPr lang="en-US" dirty="0"/>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效率</a:t>
            </a:r>
          </a:p>
        </p:txBody>
      </p:sp>
      <p:sp>
        <p:nvSpPr>
          <p:cNvPr id="3" name="Content Placeholder 2"/>
          <p:cNvSpPr>
            <a:spLocks noGrp="1"/>
          </p:cNvSpPr>
          <p:nvPr>
            <p:ph idx="1"/>
          </p:nvPr>
        </p:nvSpPr>
        <p:spPr/>
        <p:txBody>
          <a:bodyPr>
            <a:normAutofit/>
          </a:bodyPr>
          <a:lstStyle/>
          <a:p>
            <a:r>
              <a:rPr lang="zh-CN" altLang="en-US" dirty="0"/>
              <a:t>效率是指系统的响应能力</a:t>
            </a:r>
            <a:r>
              <a:rPr lang="en-US" altLang="zh-CN" dirty="0"/>
              <a:t>,</a:t>
            </a:r>
          </a:p>
          <a:p>
            <a:pPr>
              <a:buFont typeface="Arial" panose="020B0604020202020204" pitchFamily="34" charset="0"/>
              <a:buChar char="•"/>
            </a:pPr>
            <a:r>
              <a:rPr lang="en-US" dirty="0"/>
              <a:t> </a:t>
            </a:r>
            <a:r>
              <a:rPr lang="zh-CN" altLang="en-US" dirty="0"/>
              <a:t>（换句话说）响应刺激（事件）所需的时间</a:t>
            </a:r>
            <a:r>
              <a:rPr lang="en-US" altLang="zh-CN" dirty="0"/>
              <a:t>,</a:t>
            </a:r>
            <a:endParaRPr lang="en-US" dirty="0"/>
          </a:p>
          <a:p>
            <a:pPr>
              <a:buFont typeface="Arial" panose="020B0604020202020204" pitchFamily="34" charset="0"/>
              <a:buChar char="•"/>
            </a:pPr>
            <a:r>
              <a:rPr lang="zh-CN" altLang="en-US" dirty="0"/>
              <a:t>或在某个时间间隔内处理的事件的数量。</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效率</a:t>
            </a:r>
            <a:endParaRPr lang="en-US" dirty="0"/>
          </a:p>
        </p:txBody>
      </p:sp>
      <p:sp>
        <p:nvSpPr>
          <p:cNvPr id="3" name="Content Placeholder 2"/>
          <p:cNvSpPr>
            <a:spLocks noGrp="1"/>
          </p:cNvSpPr>
          <p:nvPr>
            <p:ph idx="1"/>
          </p:nvPr>
        </p:nvSpPr>
        <p:spPr/>
        <p:txBody>
          <a:bodyPr>
            <a:normAutofit/>
          </a:bodyPr>
          <a:lstStyle/>
          <a:p>
            <a:r>
              <a:rPr lang="zh-CN" altLang="en-US" dirty="0"/>
              <a:t>处理一系列事件的时间可以分为三个部分</a:t>
            </a:r>
            <a:r>
              <a:rPr lang="en-US" altLang="zh-CN" dirty="0"/>
              <a:t>.</a:t>
            </a:r>
          </a:p>
          <a:p>
            <a:endParaRPr lang="en-US" dirty="0"/>
          </a:p>
          <a:p>
            <a:r>
              <a:rPr lang="zh-CN" altLang="en-US" dirty="0"/>
              <a:t>第一，需要时间在协作处理事件的不同软件组件之间进行通信。</a:t>
            </a:r>
            <a:r>
              <a:rPr lang="en-US" dirty="0"/>
              <a:t>. </a:t>
            </a:r>
          </a:p>
          <a:p>
            <a:pPr lvl="1"/>
            <a:endParaRPr lang="en-US" dirty="0"/>
          </a:p>
          <a:p>
            <a:r>
              <a:rPr lang="zh-CN" altLang="en-US" dirty="0"/>
              <a:t>第二，组件执行的计算时间之间可能有重叠或间隙。</a:t>
            </a:r>
          </a:p>
          <a:p>
            <a:endParaRPr lang="zh-CN" altLang="en-US" dirty="0"/>
          </a:p>
          <a:p>
            <a:r>
              <a:rPr lang="zh-CN" altLang="en-US" dirty="0"/>
              <a:t>第三，每个组件完成其计算所需的时间</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正确性</a:t>
            </a:r>
            <a:endParaRPr lang="en-US" dirty="0"/>
          </a:p>
        </p:txBody>
      </p:sp>
      <p:sp>
        <p:nvSpPr>
          <p:cNvPr id="3" name="Content Placeholder 2"/>
          <p:cNvSpPr>
            <a:spLocks noGrp="1"/>
          </p:cNvSpPr>
          <p:nvPr>
            <p:ph idx="1"/>
          </p:nvPr>
        </p:nvSpPr>
        <p:spPr/>
        <p:txBody>
          <a:bodyPr>
            <a:normAutofit/>
          </a:bodyPr>
          <a:lstStyle/>
          <a:p>
            <a:r>
              <a:rPr lang="zh-CN" altLang="en-US" dirty="0"/>
              <a:t>正确性是软件实现指定用户要求的属性。</a:t>
            </a:r>
            <a:endParaRPr lang="en-US" altLang="zh-CN" dirty="0"/>
          </a:p>
          <a:p>
            <a:endParaRPr lang="en-US" dirty="0"/>
          </a:p>
          <a:p>
            <a:r>
              <a:rPr lang="zh-CN" altLang="en-US" dirty="0"/>
              <a:t>任何级别的设计如果不能正确实现指定的要求，都不可能促成正确的实现。</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可靠性</a:t>
            </a:r>
            <a:endParaRPr lang="en-US" dirty="0"/>
          </a:p>
        </p:txBody>
      </p:sp>
      <p:sp>
        <p:nvSpPr>
          <p:cNvPr id="3" name="Content Placeholder 2"/>
          <p:cNvSpPr>
            <a:spLocks noGrp="1"/>
          </p:cNvSpPr>
          <p:nvPr>
            <p:ph idx="1"/>
          </p:nvPr>
        </p:nvSpPr>
        <p:spPr/>
        <p:txBody>
          <a:bodyPr/>
          <a:lstStyle/>
          <a:p>
            <a:r>
              <a:rPr lang="zh-CN" altLang="en-US" dirty="0"/>
              <a:t>可靠性可以定义为系统正确执行用户所需功能的概率</a:t>
            </a:r>
            <a:endParaRPr lang="en-US" altLang="zh-CN" dirty="0"/>
          </a:p>
          <a:p>
            <a:pPr>
              <a:buFont typeface="Arial" panose="020B0604020202020204" pitchFamily="34" charset="0"/>
              <a:buChar char="•"/>
            </a:pPr>
            <a:r>
              <a:rPr lang="zh-CN" altLang="en-US" dirty="0"/>
              <a:t>在给定时间段内的指定环境下。</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可移植性</a:t>
            </a:r>
            <a:endParaRPr lang="en-US" dirty="0"/>
          </a:p>
        </p:txBody>
      </p:sp>
      <p:sp>
        <p:nvSpPr>
          <p:cNvPr id="3" name="Content Placeholder 2"/>
          <p:cNvSpPr>
            <a:spLocks noGrp="1"/>
          </p:cNvSpPr>
          <p:nvPr>
            <p:ph idx="1"/>
          </p:nvPr>
        </p:nvSpPr>
        <p:spPr/>
        <p:txBody>
          <a:bodyPr>
            <a:normAutofit/>
          </a:bodyPr>
          <a:lstStyle/>
          <a:p>
            <a:r>
              <a:rPr lang="zh-CN" altLang="en-US" dirty="0"/>
              <a:t>可移植性是软件系统的属性，可以很容易地从一个硬件</a:t>
            </a:r>
            <a:r>
              <a:rPr lang="en-US" altLang="zh-CN" dirty="0"/>
              <a:t>/</a:t>
            </a:r>
            <a:r>
              <a:rPr lang="zh-CN" altLang="en-US" dirty="0"/>
              <a:t>软件平台搬运到另一个</a:t>
            </a:r>
            <a:r>
              <a:rPr lang="en-US" dirty="0"/>
              <a:t>,</a:t>
            </a:r>
          </a:p>
          <a:p>
            <a:pPr lvl="1"/>
            <a:r>
              <a:rPr lang="zh-CN" altLang="en-US" dirty="0"/>
              <a:t>例如，从</a:t>
            </a:r>
            <a:r>
              <a:rPr lang="en-US" dirty="0"/>
              <a:t>PC/Windows</a:t>
            </a:r>
            <a:r>
              <a:rPr lang="zh-CN" altLang="en-US" dirty="0"/>
              <a:t>环境到</a:t>
            </a:r>
            <a:r>
              <a:rPr lang="en-US" dirty="0"/>
              <a:t>Sun/Unix</a:t>
            </a:r>
            <a:r>
              <a:rPr lang="zh-CN" altLang="en-US" dirty="0"/>
              <a:t>环境或</a:t>
            </a:r>
            <a:r>
              <a:rPr lang="en-US" dirty="0"/>
              <a:t>Macintosh</a:t>
            </a:r>
            <a:r>
              <a:rPr lang="zh-CN" altLang="en-US" dirty="0"/>
              <a:t>环境。</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可维护性</a:t>
            </a:r>
            <a:endParaRPr lang="en-US" dirty="0"/>
          </a:p>
        </p:txBody>
      </p:sp>
      <p:sp>
        <p:nvSpPr>
          <p:cNvPr id="3" name="Content Placeholder 2"/>
          <p:cNvSpPr>
            <a:spLocks noGrp="1"/>
          </p:cNvSpPr>
          <p:nvPr>
            <p:ph idx="1"/>
          </p:nvPr>
        </p:nvSpPr>
        <p:spPr/>
        <p:txBody>
          <a:bodyPr>
            <a:normAutofit/>
          </a:bodyPr>
          <a:lstStyle/>
          <a:p>
            <a:r>
              <a:rPr lang="zh-CN" altLang="en-US" dirty="0"/>
              <a:t>可维护性是指维护软件系统的容易程度。</a:t>
            </a:r>
            <a:endParaRPr lang="en-US" altLang="zh-CN" dirty="0"/>
          </a:p>
          <a:p>
            <a:endParaRPr lang="en-US" dirty="0"/>
          </a:p>
          <a:p>
            <a:r>
              <a:rPr lang="zh-CN" altLang="en-US" dirty="0"/>
              <a:t>软件维护</a:t>
            </a:r>
            <a:r>
              <a:rPr lang="zh-CN" altLang="en-US" dirty="0">
                <a:sym typeface="+mn-ea"/>
              </a:rPr>
              <a:t>的</a:t>
            </a:r>
            <a:r>
              <a:rPr lang="zh-CN" altLang="en-US" dirty="0"/>
              <a:t>操作</a:t>
            </a:r>
            <a:r>
              <a:rPr lang="zh-CN" altLang="en-US" dirty="0">
                <a:sym typeface="+mn-ea"/>
              </a:rPr>
              <a:t>有两种类型</a:t>
            </a:r>
            <a:r>
              <a:rPr lang="zh-CN" altLang="en-US" dirty="0"/>
              <a:t>。</a:t>
            </a:r>
            <a:endParaRPr lang="en-US" altLang="zh-CN" dirty="0"/>
          </a:p>
          <a:p>
            <a:pPr>
              <a:buFont typeface="Arial" panose="020B0604020202020204" pitchFamily="34" charset="0"/>
              <a:buChar char="•"/>
            </a:pPr>
            <a:r>
              <a:rPr lang="en-US" dirty="0"/>
              <a:t> </a:t>
            </a:r>
            <a:r>
              <a:rPr lang="zh-CN" altLang="en-US" dirty="0"/>
              <a:t>纠正性维护。</a:t>
            </a:r>
            <a:endParaRPr lang="en-US" dirty="0"/>
          </a:p>
          <a:p>
            <a:pPr>
              <a:buFont typeface="Arial" panose="020B0604020202020204" pitchFamily="34" charset="0"/>
              <a:buChar char="•"/>
            </a:pPr>
            <a:r>
              <a:rPr lang="en-US" dirty="0"/>
              <a:t> </a:t>
            </a:r>
            <a:r>
              <a:rPr lang="zh-CN" altLang="en-US" dirty="0"/>
              <a:t>适应性维护。</a:t>
            </a:r>
            <a:endParaRPr lang="en-US" dirty="0"/>
          </a:p>
          <a:p>
            <a:r>
              <a:rPr lang="zh-CN" altLang="en-US" dirty="0"/>
              <a:t>结构良好的设计有助于软件工程师理解系统。</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可重用性</a:t>
            </a:r>
            <a:br>
              <a:rPr lang="en-US" dirty="0"/>
            </a:br>
            <a:endParaRPr lang="en-US" dirty="0"/>
          </a:p>
        </p:txBody>
      </p:sp>
      <p:sp>
        <p:nvSpPr>
          <p:cNvPr id="3" name="Content Placeholder 2"/>
          <p:cNvSpPr>
            <a:spLocks noGrp="1"/>
          </p:cNvSpPr>
          <p:nvPr>
            <p:ph idx="1"/>
          </p:nvPr>
        </p:nvSpPr>
        <p:spPr/>
        <p:txBody>
          <a:bodyPr>
            <a:normAutofit/>
          </a:bodyPr>
          <a:lstStyle/>
          <a:p>
            <a:r>
              <a:rPr lang="zh-CN" altLang="en-US" dirty="0"/>
              <a:t>可重用性是软件系统的属性，它的组件可以轻松地在其他软件系统的开发中重复使用。</a:t>
            </a:r>
            <a:endParaRPr lang="en-US" altLang="zh-CN" dirty="0"/>
          </a:p>
          <a:p>
            <a:endParaRPr lang="en-US" dirty="0"/>
          </a:p>
          <a:p>
            <a:pPr lvl="1"/>
            <a:r>
              <a:rPr lang="zh-CN" altLang="en-US" dirty="0"/>
              <a:t>可重用性取决于给定应用程序域中组件的通用性以及组件参数化和可配置的程度。</a:t>
            </a:r>
          </a:p>
          <a:p>
            <a:pPr lvl="1"/>
            <a:endParaRPr lang="en-US" dirty="0"/>
          </a:p>
          <a:p>
            <a:pPr lvl="1"/>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互操作性</a:t>
            </a:r>
            <a:endParaRPr lang="en-US" dirty="0"/>
          </a:p>
        </p:txBody>
      </p:sp>
      <p:sp>
        <p:nvSpPr>
          <p:cNvPr id="3" name="Content Placeholder 2"/>
          <p:cNvSpPr>
            <a:spLocks noGrp="1"/>
          </p:cNvSpPr>
          <p:nvPr>
            <p:ph idx="1"/>
          </p:nvPr>
        </p:nvSpPr>
        <p:spPr/>
        <p:txBody>
          <a:bodyPr>
            <a:normAutofit/>
          </a:bodyPr>
          <a:lstStyle/>
          <a:p>
            <a:r>
              <a:rPr lang="zh-CN" altLang="en-US" dirty="0"/>
              <a:t>互操作性是指一个软件系统与其他软件系统一起使用的容易程度。</a:t>
            </a:r>
            <a:endParaRPr lang="en-US" altLang="zh-CN" dirty="0"/>
          </a:p>
          <a:p>
            <a:endParaRPr lang="en-US" dirty="0"/>
          </a:p>
          <a:p>
            <a:r>
              <a:rPr lang="zh-CN" altLang="en-US" dirty="0"/>
              <a:t>互操作性主要取决于软件系统与其环境之间的接口。</a:t>
            </a:r>
            <a:endParaRPr lang="en-US" altLang="zh-CN" dirty="0"/>
          </a:p>
          <a:p>
            <a:endParaRPr lang="en-US" dirty="0"/>
          </a:p>
          <a:p>
            <a:r>
              <a:rPr lang="zh-CN" altLang="en-US" dirty="0"/>
              <a:t>它要求软件的实现遵循一定的标准接口和编码约定。</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软件设计的质量属性</a:t>
            </a:r>
            <a:endParaRPr lang="en-US" dirty="0"/>
          </a:p>
        </p:txBody>
      </p:sp>
      <p:sp>
        <p:nvSpPr>
          <p:cNvPr id="4" name="Text Placeholder 3"/>
          <p:cNvSpPr>
            <a:spLocks noGrp="1"/>
          </p:cNvSpPr>
          <p:nvPr>
            <p:ph type="body" idx="1"/>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t>质量属性</a:t>
            </a:r>
            <a:r>
              <a:rPr lang="en-US" altLang="zh-CN" sz="3200" dirty="0"/>
              <a:t>-</a:t>
            </a:r>
            <a:r>
              <a:rPr lang="zh-CN" altLang="en-US" sz="3200" dirty="0"/>
              <a:t>设计目标</a:t>
            </a:r>
            <a:endParaRPr lang="en-US" sz="3200" dirty="0"/>
          </a:p>
        </p:txBody>
      </p:sp>
      <p:sp>
        <p:nvSpPr>
          <p:cNvPr id="3" name="Content Placeholder 2"/>
          <p:cNvSpPr>
            <a:spLocks noGrp="1"/>
          </p:cNvSpPr>
          <p:nvPr>
            <p:ph idx="1"/>
          </p:nvPr>
        </p:nvSpPr>
        <p:spPr/>
        <p:txBody>
          <a:bodyPr>
            <a:normAutofit/>
          </a:bodyPr>
          <a:lstStyle/>
          <a:p>
            <a:pPr algn="just"/>
            <a:r>
              <a:rPr lang="zh-CN" altLang="en-US" dirty="0"/>
              <a:t>模块化 </a:t>
            </a:r>
            <a:r>
              <a:rPr lang="en-US" dirty="0"/>
              <a:t>: </a:t>
            </a:r>
          </a:p>
          <a:p>
            <a:pPr lvl="1" algn="just"/>
            <a:r>
              <a:rPr lang="zh-CN" altLang="en-US" dirty="0"/>
              <a:t>设计应由可替换的、独立的基本部件组件组成</a:t>
            </a:r>
            <a:r>
              <a:rPr lang="en-US" altLang="zh-CN" dirty="0"/>
              <a:t>,</a:t>
            </a:r>
          </a:p>
          <a:p>
            <a:pPr lvl="1" algn="just"/>
            <a:r>
              <a:rPr lang="zh-CN" altLang="en-US" dirty="0"/>
              <a:t>从而帮助最初的开发和后期的维护</a:t>
            </a:r>
            <a:r>
              <a:rPr lang="en-US" altLang="zh-CN" dirty="0"/>
              <a:t>.</a:t>
            </a:r>
            <a:endParaRPr lang="en-US" dirty="0"/>
          </a:p>
          <a:p>
            <a:pPr algn="just"/>
            <a:r>
              <a:rPr lang="zh-CN" altLang="en-US" dirty="0"/>
              <a:t>可移植性 </a:t>
            </a:r>
            <a:r>
              <a:rPr lang="en-US" dirty="0"/>
              <a:t>: </a:t>
            </a:r>
          </a:p>
          <a:p>
            <a:pPr lvl="1" algn="just"/>
            <a:r>
              <a:rPr lang="zh-CN" altLang="en-US" dirty="0"/>
              <a:t>设计的产品应该能够在移植中保持</a:t>
            </a:r>
            <a:r>
              <a:rPr lang="zh-CN" dirty="0"/>
              <a:t>原样</a:t>
            </a:r>
            <a:endParaRPr lang="en-US" dirty="0"/>
          </a:p>
          <a:p>
            <a:pPr lvl="2" algn="just"/>
            <a:r>
              <a:rPr lang="zh-CN" altLang="en-US" dirty="0"/>
              <a:t>从测试环境到操作环境和</a:t>
            </a:r>
            <a:endParaRPr lang="en-US" altLang="zh-CN" dirty="0"/>
          </a:p>
          <a:p>
            <a:pPr lvl="2" algn="just"/>
            <a:r>
              <a:rPr lang="zh-CN" altLang="en-US" dirty="0"/>
              <a:t>从一个操作环境到另一个操作环境。</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t>质量属性</a:t>
            </a:r>
            <a:r>
              <a:rPr lang="en-US" altLang="zh-CN" sz="3200" dirty="0"/>
              <a:t>-</a:t>
            </a:r>
            <a:r>
              <a:rPr lang="zh-CN" altLang="en-US" sz="3200" dirty="0"/>
              <a:t>设计目标</a:t>
            </a:r>
            <a:endParaRPr lang="en-US" sz="3200" dirty="0"/>
          </a:p>
        </p:txBody>
      </p:sp>
      <p:sp>
        <p:nvSpPr>
          <p:cNvPr id="3" name="Content Placeholder 2"/>
          <p:cNvSpPr>
            <a:spLocks noGrp="1"/>
          </p:cNvSpPr>
          <p:nvPr>
            <p:ph idx="1"/>
          </p:nvPr>
        </p:nvSpPr>
        <p:spPr>
          <a:xfrm>
            <a:off x="457200" y="1905000"/>
            <a:ext cx="8229600" cy="4267200"/>
          </a:xfrm>
        </p:spPr>
        <p:txBody>
          <a:bodyPr>
            <a:normAutofit/>
          </a:bodyPr>
          <a:lstStyle/>
          <a:p>
            <a:pPr algn="just"/>
            <a:r>
              <a:rPr lang="zh-CN" altLang="en-US" dirty="0"/>
              <a:t>灵活性或可修改性</a:t>
            </a:r>
            <a:r>
              <a:rPr lang="en-US" altLang="zh-CN" dirty="0"/>
              <a:t>:</a:t>
            </a:r>
          </a:p>
          <a:p>
            <a:pPr algn="just">
              <a:buFont typeface="Arial" panose="020B0604020202020204" pitchFamily="34" charset="0"/>
              <a:buChar char="•"/>
            </a:pPr>
            <a:r>
              <a:rPr lang="zh-CN" altLang="en-US" dirty="0"/>
              <a:t>设计应便于适应不断变化的最终用户需求</a:t>
            </a:r>
            <a:r>
              <a:rPr lang="en-US" dirty="0"/>
              <a:t>, </a:t>
            </a:r>
          </a:p>
          <a:p>
            <a:pPr algn="just">
              <a:buFont typeface="Arial" panose="020B0604020202020204" pitchFamily="34" charset="0"/>
              <a:buChar char="•"/>
            </a:pPr>
            <a:r>
              <a:rPr lang="zh-CN" altLang="en-US" dirty="0"/>
              <a:t>基于最终用户领域中的新问题进行修改</a:t>
            </a:r>
            <a:endParaRPr lang="en-US" dirty="0"/>
          </a:p>
          <a:p>
            <a:pPr algn="just"/>
            <a:r>
              <a:rPr lang="zh-CN" altLang="en-US" dirty="0"/>
              <a:t>概念完整性</a:t>
            </a:r>
            <a:r>
              <a:rPr lang="en-US" altLang="zh-CN" dirty="0"/>
              <a:t>:</a:t>
            </a:r>
          </a:p>
          <a:p>
            <a:pPr algn="just">
              <a:buFont typeface="Arial" panose="020B0604020202020204" pitchFamily="34" charset="0"/>
              <a:buChar char="•"/>
            </a:pPr>
            <a:r>
              <a:rPr lang="zh-CN" altLang="en-US" dirty="0"/>
              <a:t>设计应该表现出和谐，对称和可预测性。</a:t>
            </a:r>
            <a:endParaRPr lang="en-US" dirty="0"/>
          </a:p>
          <a:p>
            <a:pPr algn="just"/>
            <a:r>
              <a:rPr lang="zh-CN" altLang="en-US" dirty="0"/>
              <a:t>结构良好</a:t>
            </a:r>
            <a:r>
              <a:rPr lang="en-US" altLang="zh-CN" dirty="0"/>
              <a:t>:</a:t>
            </a:r>
            <a:r>
              <a:rPr lang="en-US" dirty="0"/>
              <a:t> </a:t>
            </a:r>
          </a:p>
          <a:p>
            <a:pPr lvl="1" algn="just"/>
            <a:r>
              <a:rPr lang="zh-CN" altLang="en-US" dirty="0"/>
              <a:t>设计应该与所选择的设计原则一致，例如信息隐藏，以组织设计的结构。</a:t>
            </a:r>
          </a:p>
          <a:p>
            <a:pPr marL="201295" lvl="1" indent="0" algn="just">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t>质量属性</a:t>
            </a:r>
            <a:r>
              <a:rPr lang="en-US" altLang="zh-CN" sz="3200" dirty="0"/>
              <a:t>-</a:t>
            </a:r>
            <a:r>
              <a:rPr lang="zh-CN" altLang="en-US" sz="3200" dirty="0"/>
              <a:t>设计目标</a:t>
            </a:r>
            <a:endParaRPr lang="en-US" sz="3200" dirty="0"/>
          </a:p>
        </p:txBody>
      </p:sp>
      <p:sp>
        <p:nvSpPr>
          <p:cNvPr id="3" name="Content Placeholder 2"/>
          <p:cNvSpPr>
            <a:spLocks noGrp="1"/>
          </p:cNvSpPr>
          <p:nvPr>
            <p:ph idx="1"/>
          </p:nvPr>
        </p:nvSpPr>
        <p:spPr/>
        <p:txBody>
          <a:bodyPr>
            <a:normAutofit/>
          </a:bodyPr>
          <a:lstStyle/>
          <a:p>
            <a:pPr algn="just"/>
            <a:r>
              <a:rPr lang="zh-CN" altLang="en-US" dirty="0"/>
              <a:t>简明的</a:t>
            </a:r>
            <a:r>
              <a:rPr lang="en-US" dirty="0"/>
              <a:t>: </a:t>
            </a:r>
          </a:p>
          <a:p>
            <a:pPr lvl="1" algn="just"/>
            <a:r>
              <a:rPr lang="zh-CN" altLang="en-US" dirty="0"/>
              <a:t>设计应该是</a:t>
            </a:r>
            <a:r>
              <a:rPr lang="en-US" altLang="zh-CN" dirty="0"/>
              <a:t>"</a:t>
            </a:r>
            <a:r>
              <a:rPr lang="zh-CN" altLang="en-US" dirty="0"/>
              <a:t>尽可能简单，但不能更简单</a:t>
            </a:r>
            <a:r>
              <a:rPr lang="en-US" altLang="zh-CN" dirty="0"/>
              <a:t>"</a:t>
            </a:r>
            <a:endParaRPr lang="en-US" dirty="0"/>
          </a:p>
          <a:p>
            <a:pPr algn="just"/>
            <a:r>
              <a:rPr lang="zh-CN" altLang="en-US" dirty="0"/>
              <a:t>效率高的 </a:t>
            </a:r>
            <a:r>
              <a:rPr lang="en-US" dirty="0"/>
              <a:t>: </a:t>
            </a:r>
          </a:p>
          <a:p>
            <a:pPr lvl="1" algn="just"/>
            <a:r>
              <a:rPr lang="zh-CN" altLang="en-US" dirty="0"/>
              <a:t>设计提供的功能应该可以通过使用可用资源进行计算。</a:t>
            </a:r>
            <a:endParaRPr lang="en-US" dirty="0"/>
          </a:p>
          <a:p>
            <a:pPr algn="just"/>
            <a:r>
              <a:rPr lang="zh-CN" altLang="en-US" dirty="0"/>
              <a:t>达到要求的 </a:t>
            </a:r>
            <a:r>
              <a:rPr lang="en-US" dirty="0"/>
              <a:t>: </a:t>
            </a:r>
          </a:p>
          <a:p>
            <a:pPr lvl="1" algn="just"/>
            <a:r>
              <a:rPr lang="zh-CN" altLang="en-US" dirty="0"/>
              <a:t>设计应符合规定的要求。</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t>质量属性</a:t>
            </a:r>
            <a:r>
              <a:rPr lang="en-US" altLang="zh-CN" sz="3200" dirty="0"/>
              <a:t>-</a:t>
            </a:r>
            <a:r>
              <a:rPr lang="zh-CN" altLang="en-US" sz="3200" dirty="0"/>
              <a:t>设计目标</a:t>
            </a:r>
            <a:endParaRPr lang="en-US" sz="3200" dirty="0"/>
          </a:p>
        </p:txBody>
      </p:sp>
      <p:sp>
        <p:nvSpPr>
          <p:cNvPr id="3" name="Content Placeholder 2"/>
          <p:cNvSpPr>
            <a:spLocks noGrp="1"/>
          </p:cNvSpPr>
          <p:nvPr>
            <p:ph idx="1"/>
          </p:nvPr>
        </p:nvSpPr>
        <p:spPr/>
        <p:txBody>
          <a:bodyPr>
            <a:normAutofit/>
          </a:bodyPr>
          <a:lstStyle/>
          <a:p>
            <a:pPr algn="just"/>
            <a:r>
              <a:rPr lang="zh-CN" altLang="en-US" dirty="0"/>
              <a:t>灵活的</a:t>
            </a:r>
            <a:r>
              <a:rPr lang="en-US" dirty="0"/>
              <a:t>: </a:t>
            </a:r>
          </a:p>
          <a:p>
            <a:pPr lvl="1" algn="just"/>
            <a:r>
              <a:rPr lang="zh-CN" altLang="en-US" dirty="0"/>
              <a:t>设计应该能够适应需求的可能变化，无论这些变化是如何发生的。</a:t>
            </a:r>
            <a:endParaRPr lang="en-US" dirty="0"/>
          </a:p>
          <a:p>
            <a:r>
              <a:rPr lang="zh-CN" altLang="en-US" dirty="0"/>
              <a:t>可实施的 </a:t>
            </a:r>
            <a:r>
              <a:rPr lang="en-US" dirty="0"/>
              <a:t>: </a:t>
            </a:r>
          </a:p>
          <a:p>
            <a:pPr lvl="1"/>
            <a:r>
              <a:rPr lang="en-US" dirty="0"/>
              <a:t>设计所提供的功能应该在理论上可以用现有的信息计算，并且使用现有的软硬件技术可以实现。</a:t>
            </a:r>
          </a:p>
          <a:p>
            <a:r>
              <a:rPr lang="zh-CN" altLang="en-US" dirty="0"/>
              <a:t>标准化 </a:t>
            </a:r>
            <a:r>
              <a:rPr lang="en-US" dirty="0"/>
              <a:t>: </a:t>
            </a:r>
          </a:p>
          <a:p>
            <a:pPr lvl="1"/>
            <a:r>
              <a:rPr lang="zh-CN" altLang="en-US" dirty="0">
                <a:sym typeface="+mn-ea"/>
              </a:rPr>
              <a:t>对于任何文档，</a:t>
            </a:r>
            <a:r>
              <a:rPr lang="zh-CN" altLang="en-US" dirty="0"/>
              <a:t>设计应该使用标准的或定义良好的和熟悉的符号来表示。</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200" dirty="0">
                <a:solidFill>
                  <a:prstClr val="black"/>
                </a:solidFill>
              </a:rPr>
              <a:t>质量属性</a:t>
            </a:r>
            <a:r>
              <a:rPr lang="en-US" altLang="zh-CN" sz="3200" dirty="0">
                <a:solidFill>
                  <a:prstClr val="black"/>
                </a:solidFill>
              </a:rPr>
              <a:t>-</a:t>
            </a:r>
            <a:r>
              <a:rPr lang="zh-CN" altLang="en-US" sz="3200" dirty="0">
                <a:solidFill>
                  <a:prstClr val="black"/>
                </a:solidFill>
              </a:rPr>
              <a:t>设计目标</a:t>
            </a:r>
            <a:endParaRPr lang="en-US" dirty="0"/>
          </a:p>
        </p:txBody>
      </p:sp>
      <p:sp>
        <p:nvSpPr>
          <p:cNvPr id="3" name="Content Placeholder 2"/>
          <p:cNvSpPr>
            <a:spLocks noGrp="1"/>
          </p:cNvSpPr>
          <p:nvPr>
            <p:ph idx="1"/>
          </p:nvPr>
        </p:nvSpPr>
        <p:spPr/>
        <p:txBody>
          <a:bodyPr>
            <a:normAutofit/>
          </a:bodyPr>
          <a:lstStyle/>
          <a:p>
            <a:r>
              <a:rPr lang="zh-CN" altLang="en-US" dirty="0"/>
              <a:t>可行性 </a:t>
            </a:r>
            <a:r>
              <a:rPr lang="en-US" dirty="0"/>
              <a:t>: </a:t>
            </a:r>
          </a:p>
          <a:p>
            <a:pPr lvl="1"/>
            <a:r>
              <a:rPr lang="zh-CN" altLang="en-US" dirty="0"/>
              <a:t>所设计的产品的产生过程应是可执行的。</a:t>
            </a:r>
          </a:p>
          <a:p>
            <a:pPr marL="201295" lvl="1" indent="0">
              <a:buNone/>
            </a:pPr>
            <a:endParaRPr lang="en-US" dirty="0"/>
          </a:p>
          <a:p>
            <a:r>
              <a:rPr lang="zh-CN" altLang="en-US" dirty="0"/>
              <a:t>简单易行 </a:t>
            </a:r>
            <a:r>
              <a:rPr lang="en-US" dirty="0"/>
              <a:t>: </a:t>
            </a:r>
          </a:p>
          <a:p>
            <a:pPr lvl="1"/>
            <a:r>
              <a:rPr lang="zh-CN" altLang="en-US" dirty="0"/>
              <a:t>所设计的软件制作（即开发）应该尽可能简单直接，没有不必要的复杂环节</a:t>
            </a:r>
            <a:r>
              <a:rPr lang="en-US" dirty="0"/>
              <a:t>.</a:t>
            </a:r>
          </a:p>
          <a:p>
            <a:pPr marL="201295" lvl="1" indent="0">
              <a:buNone/>
            </a:pPr>
            <a:endParaRPr lang="en-US" dirty="0"/>
          </a:p>
          <a:p>
            <a:r>
              <a:rPr lang="zh-CN" altLang="en-US" dirty="0"/>
              <a:t>可靠性 </a:t>
            </a:r>
            <a:r>
              <a:rPr lang="en-US" dirty="0"/>
              <a:t>: </a:t>
            </a:r>
          </a:p>
          <a:p>
            <a:pPr lvl="1"/>
            <a:r>
              <a:rPr lang="en-US" dirty="0"/>
              <a:t>所设计的开发过程应该很有可能成功，而不是无法实现其目标。</a:t>
            </a:r>
          </a:p>
          <a:p>
            <a:endParaRPr lang="en-US" dirty="0"/>
          </a:p>
          <a:p>
            <a:pPr lvl="1"/>
            <a:endParaRPr lang="en-US" dirty="0"/>
          </a:p>
          <a:p>
            <a:endParaRPr lang="en-US" dirty="0"/>
          </a:p>
          <a:p>
            <a:pPr lvl="1"/>
            <a:endParaRPr lang="en-US" dirty="0"/>
          </a:p>
          <a:p>
            <a:pPr lvl="1"/>
            <a:endParaRPr lang="en-US" dirty="0"/>
          </a:p>
          <a:p>
            <a:pPr lvl="1"/>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dirty="0"/>
              <a:t>软件设计原则</a:t>
            </a:r>
            <a:endParaRPr lang="en-US" dirty="0"/>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dirty="0"/>
              <a:t>软件设计原则</a:t>
            </a:r>
            <a:endParaRPr lang="en-GB" dirty="0"/>
          </a:p>
        </p:txBody>
      </p:sp>
      <p:sp>
        <p:nvSpPr>
          <p:cNvPr id="78851" name="Rectangle 3"/>
          <p:cNvSpPr>
            <a:spLocks noGrp="1" noChangeArrowheads="1"/>
          </p:cNvSpPr>
          <p:nvPr>
            <p:ph idx="1"/>
          </p:nvPr>
        </p:nvSpPr>
        <p:spPr/>
        <p:txBody>
          <a:bodyPr>
            <a:normAutofit/>
          </a:bodyPr>
          <a:lstStyle/>
          <a:p>
            <a:r>
              <a:rPr lang="zh-CN" altLang="en-US" sz="2600" dirty="0"/>
              <a:t>始终考虑替代方方案</a:t>
            </a:r>
            <a:endParaRPr lang="en-GB" sz="2600" dirty="0"/>
          </a:p>
          <a:p>
            <a:r>
              <a:rPr lang="zh-CN" altLang="en-US" sz="2600" dirty="0"/>
              <a:t>设计应可追溯到分析模型</a:t>
            </a:r>
            <a:endParaRPr lang="en-GB" sz="2600" dirty="0"/>
          </a:p>
          <a:p>
            <a:r>
              <a:rPr lang="zh-CN" altLang="en-US" sz="2600" dirty="0"/>
              <a:t>设计不应该白费力气做重复工作</a:t>
            </a:r>
          </a:p>
          <a:p>
            <a:r>
              <a:rPr lang="zh-CN" altLang="en-US" sz="2600" dirty="0"/>
              <a:t>设计应该尽量减少软件和问题之间的知识距离，因为它存在于现实世界中。</a:t>
            </a:r>
            <a:endParaRPr lang="en-GB" sz="2600" dirty="0"/>
          </a:p>
          <a:p>
            <a:pPr>
              <a:lnSpc>
                <a:spcPct val="90000"/>
              </a:lnSpc>
            </a:pPr>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linds(horizontal)">
                                      <p:cBhvr>
                                        <p:cTn id="7" dur="500"/>
                                        <p:tgtEl>
                                          <p:spTgt spid="788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r>
              <a:rPr lang="zh-CN" altLang="en-US" dirty="0"/>
              <a:t>软件设计原则 </a:t>
            </a:r>
            <a:r>
              <a:rPr lang="en-US" dirty="0"/>
              <a:t>…</a:t>
            </a:r>
            <a:endParaRPr lang="en-GB" dirty="0"/>
          </a:p>
        </p:txBody>
      </p:sp>
      <p:sp>
        <p:nvSpPr>
          <p:cNvPr id="79875" name="Rectangle 3"/>
          <p:cNvSpPr>
            <a:spLocks noGrp="1" noChangeArrowheads="1"/>
          </p:cNvSpPr>
          <p:nvPr>
            <p:ph idx="1"/>
          </p:nvPr>
        </p:nvSpPr>
        <p:spPr/>
        <p:txBody>
          <a:bodyPr>
            <a:normAutofit/>
          </a:bodyPr>
          <a:lstStyle/>
          <a:p>
            <a:r>
              <a:rPr lang="zh-CN" altLang="en-US" sz="2600" dirty="0"/>
              <a:t>设计应表现出统一性和集成性</a:t>
            </a:r>
          </a:p>
          <a:p>
            <a:pPr>
              <a:buFont typeface="Arial" panose="020B0604020202020204" pitchFamily="34" charset="0"/>
              <a:buChar char="•"/>
            </a:pPr>
            <a:r>
              <a:rPr lang="zh-CN" altLang="en-US" sz="2400" dirty="0"/>
              <a:t>如果一个设计看起来是由一个人开发的，那么它就是统一的。</a:t>
            </a:r>
            <a:endParaRPr lang="en-US" altLang="zh-CN" sz="2400" dirty="0"/>
          </a:p>
          <a:p>
            <a:pPr>
              <a:buFont typeface="Arial" panose="020B0604020202020204" pitchFamily="34" charset="0"/>
              <a:buChar char="•"/>
            </a:pPr>
            <a:r>
              <a:rPr lang="en-US" sz="2400" dirty="0"/>
              <a:t>如果</a:t>
            </a:r>
            <a:r>
              <a:rPr lang="en-US" sz="2400" dirty="0">
                <a:sym typeface="+mn-ea"/>
              </a:rPr>
              <a:t>小心谨慎</a:t>
            </a:r>
            <a:r>
              <a:rPr lang="zh-CN" altLang="en-US" sz="2400" dirty="0">
                <a:sym typeface="+mn-ea"/>
              </a:rPr>
              <a:t>地</a:t>
            </a:r>
            <a:r>
              <a:rPr lang="en-US" sz="2400" dirty="0"/>
              <a:t>定义设计组件之间的接口时，那么设计就是集成的。</a:t>
            </a:r>
          </a:p>
          <a:p>
            <a:endParaRPr lang="en-GB" sz="2600" dirty="0"/>
          </a:p>
          <a:p>
            <a:r>
              <a:rPr lang="zh-CN" altLang="en-US" sz="2600" dirty="0"/>
              <a:t>应审查设计，以尽量减少概念（语义）错误</a:t>
            </a:r>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12" dur="500"/>
                                        <p:tgtEl>
                                          <p:spTgt spid="798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7" dur="500"/>
                                        <p:tgtEl>
                                          <p:spTgt spid="798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r>
              <a:rPr lang="zh-CN" altLang="en-US" dirty="0"/>
              <a:t>软件设计原则</a:t>
            </a:r>
            <a:r>
              <a:rPr lang="en-US" altLang="zh-CN" dirty="0"/>
              <a:t>…</a:t>
            </a:r>
            <a:endParaRPr lang="en-GB" dirty="0"/>
          </a:p>
        </p:txBody>
      </p:sp>
      <p:sp>
        <p:nvSpPr>
          <p:cNvPr id="79875" name="Rectangle 3"/>
          <p:cNvSpPr>
            <a:spLocks noGrp="1" noChangeArrowheads="1"/>
          </p:cNvSpPr>
          <p:nvPr>
            <p:ph idx="1"/>
          </p:nvPr>
        </p:nvSpPr>
        <p:spPr/>
        <p:txBody>
          <a:bodyPr>
            <a:normAutofit/>
          </a:bodyPr>
          <a:lstStyle/>
          <a:p>
            <a:r>
              <a:rPr lang="zh-CN" altLang="en-US" sz="2600" dirty="0"/>
              <a:t>设计不是编码，编码不是设计</a:t>
            </a:r>
            <a:endParaRPr lang="en-US" altLang="zh-CN" sz="2600" dirty="0"/>
          </a:p>
          <a:p>
            <a:pPr>
              <a:buFont typeface="Arial" panose="020B0604020202020204" pitchFamily="34" charset="0"/>
              <a:buChar char="•"/>
            </a:pPr>
            <a:r>
              <a:rPr lang="zh-CN" altLang="en-US" sz="2400" dirty="0"/>
              <a:t>即使为程序组件创建了详细的设计，设计模型的抽象级别也高于源代码。</a:t>
            </a:r>
            <a:endParaRPr lang="en-GB" sz="2400" dirty="0"/>
          </a:p>
          <a:p>
            <a:r>
              <a:rPr lang="zh-CN" altLang="en-US" sz="2600" dirty="0"/>
              <a:t>设计的结构应该适应变化</a:t>
            </a:r>
            <a:endParaRPr lang="en-GB" sz="2600" dirty="0"/>
          </a:p>
          <a:p>
            <a:r>
              <a:rPr lang="zh-CN" altLang="en-US" sz="2600" dirty="0"/>
              <a:t>设计应在创建时对其质量进行评估</a:t>
            </a:r>
            <a:endParaRPr lang="en-GB"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设计概念</a:t>
            </a:r>
            <a:endParaRPr lang="en-US" dirty="0"/>
          </a:p>
        </p:txBody>
      </p:sp>
      <p:sp>
        <p:nvSpPr>
          <p:cNvPr id="4" name="Text Placeholder 3"/>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6954DADF-C1B8-4324-946D-E39590F244A5}"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184275" y="304800"/>
            <a:ext cx="7959725" cy="1216025"/>
          </a:xfrm>
        </p:spPr>
        <p:txBody>
          <a:bodyPr anchor="b"/>
          <a:lstStyle/>
          <a:p>
            <a:r>
              <a:rPr lang="zh-CN" altLang="en-US" sz="4000" dirty="0"/>
              <a:t>软件设计过程中的概念</a:t>
            </a:r>
            <a:endParaRPr lang="en-US" sz="4000" dirty="0"/>
          </a:p>
        </p:txBody>
      </p:sp>
      <p:sp>
        <p:nvSpPr>
          <p:cNvPr id="4099" name="Rectangle 3"/>
          <p:cNvSpPr>
            <a:spLocks noGrp="1" noChangeArrowheads="1"/>
          </p:cNvSpPr>
          <p:nvPr>
            <p:ph type="body" idx="4294967295"/>
          </p:nvPr>
        </p:nvSpPr>
        <p:spPr>
          <a:xfrm>
            <a:off x="0" y="1719263"/>
            <a:ext cx="8229600" cy="4910137"/>
          </a:xfrm>
        </p:spPr>
        <p:txBody>
          <a:bodyPr/>
          <a:lstStyle/>
          <a:p>
            <a:pPr>
              <a:lnSpc>
                <a:spcPct val="80000"/>
              </a:lnSpc>
            </a:pPr>
            <a:r>
              <a:rPr lang="zh-CN" altLang="en-US" sz="2800" dirty="0"/>
              <a:t>抽象化</a:t>
            </a:r>
            <a:endParaRPr lang="en-US" sz="2800" dirty="0"/>
          </a:p>
          <a:p>
            <a:pPr lvl="1">
              <a:lnSpc>
                <a:spcPct val="80000"/>
              </a:lnSpc>
            </a:pPr>
            <a:r>
              <a:rPr lang="zh-CN" altLang="en-US" sz="2400" dirty="0"/>
              <a:t>把注意力集中在某个泛化层次上的问题上，而不去考虑无关的低层次细节。</a:t>
            </a:r>
            <a:endParaRPr lang="en-US" altLang="zh-CN" sz="2400" dirty="0"/>
          </a:p>
          <a:p>
            <a:pPr marL="201295" lvl="1" indent="0">
              <a:lnSpc>
                <a:spcPct val="80000"/>
              </a:lnSpc>
              <a:buNone/>
            </a:pPr>
            <a:r>
              <a:rPr lang="zh-CN" altLang="en-US" sz="2800" dirty="0"/>
              <a:t>模块化</a:t>
            </a:r>
            <a:endParaRPr lang="en-US" sz="2800" dirty="0"/>
          </a:p>
          <a:p>
            <a:pPr lvl="1">
              <a:lnSpc>
                <a:spcPct val="80000"/>
              </a:lnSpc>
            </a:pPr>
            <a:r>
              <a:rPr lang="zh-CN" altLang="en-US" sz="2400" dirty="0"/>
              <a:t>将软件划分为单独命名和可寻址的组件，这些组件被集成以满足问题要求</a:t>
            </a:r>
            <a:r>
              <a:rPr lang="en-US" sz="2400" dirty="0"/>
              <a:t>.</a:t>
            </a:r>
          </a:p>
          <a:p>
            <a:pPr>
              <a:lnSpc>
                <a:spcPct val="80000"/>
              </a:lnSpc>
            </a:pPr>
            <a:r>
              <a:rPr lang="zh-CN" altLang="en-US" sz="2800" dirty="0"/>
              <a:t>细化</a:t>
            </a:r>
            <a:endParaRPr lang="en-US" sz="2800" dirty="0"/>
          </a:p>
          <a:p>
            <a:pPr lvl="1">
              <a:lnSpc>
                <a:spcPct val="80000"/>
              </a:lnSpc>
            </a:pPr>
            <a:r>
              <a:rPr lang="zh-CN" altLang="en-US" sz="2400" dirty="0"/>
              <a:t>自上而下的设计策略，不断完善程序细节的层次</a:t>
            </a:r>
            <a:r>
              <a:rPr lang="en-US" sz="2400" dirty="0"/>
              <a:t>.</a:t>
            </a:r>
          </a:p>
          <a:p>
            <a:pPr lvl="1">
              <a:lnSpc>
                <a:spcPct val="80000"/>
              </a:lnSpc>
            </a:pPr>
            <a:r>
              <a:rPr lang="zh-CN" altLang="en-US" sz="2400" dirty="0"/>
              <a:t>每个细化步骤都涉及设计决策。</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7" dur="500"/>
                                        <p:tgtEl>
                                          <p:spTgt spid="4099">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blinds(horizontal)">
                                      <p:cBhvr>
                                        <p:cTn id="20" dur="500"/>
                                        <p:tgtEl>
                                          <p:spTgt spid="409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5" dur="500"/>
                                        <p:tgtEl>
                                          <p:spTgt spid="4099">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099">
                                            <p:txEl>
                                              <p:pRg st="5" end="5"/>
                                            </p:txEl>
                                          </p:spTgt>
                                        </p:tgtEl>
                                        <p:attrNameLst>
                                          <p:attrName>style.visibility</p:attrName>
                                        </p:attrNameLst>
                                      </p:cBhvr>
                                      <p:to>
                                        <p:strVal val="visible"/>
                                      </p:to>
                                    </p:set>
                                    <p:animEffect transition="in" filter="blinds(horizontal)">
                                      <p:cBhvr>
                                        <p:cTn id="28"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274638"/>
            <a:ext cx="8229600" cy="1143000"/>
          </a:xfrm>
        </p:spPr>
        <p:txBody>
          <a:bodyPr anchor="b"/>
          <a:lstStyle/>
          <a:p>
            <a:r>
              <a:rPr lang="zh-CN" altLang="en-US" dirty="0"/>
              <a:t>模块化设计</a:t>
            </a:r>
            <a:endParaRPr lang="en-US" dirty="0"/>
          </a:p>
        </p:txBody>
      </p:sp>
      <p:sp>
        <p:nvSpPr>
          <p:cNvPr id="5123" name="Rectangle 3"/>
          <p:cNvSpPr>
            <a:spLocks noGrp="1" noChangeArrowheads="1"/>
          </p:cNvSpPr>
          <p:nvPr>
            <p:ph type="body" idx="4294967295"/>
          </p:nvPr>
        </p:nvSpPr>
        <p:spPr>
          <a:xfrm>
            <a:off x="0" y="1600200"/>
            <a:ext cx="8229600" cy="4876800"/>
          </a:xfrm>
        </p:spPr>
        <p:txBody>
          <a:bodyPr/>
          <a:lstStyle/>
          <a:p>
            <a:r>
              <a:rPr lang="zh-CN" altLang="en-US" dirty="0"/>
              <a:t>更易于管理</a:t>
            </a:r>
            <a:endParaRPr lang="en-US" altLang="zh-CN" dirty="0"/>
          </a:p>
          <a:p>
            <a:r>
              <a:rPr lang="zh-CN" altLang="en-US" dirty="0"/>
              <a:t>更容易理解</a:t>
            </a:r>
            <a:endParaRPr lang="en-US" altLang="zh-CN" dirty="0"/>
          </a:p>
          <a:p>
            <a:r>
              <a:rPr lang="zh-CN" altLang="en-US" dirty="0"/>
              <a:t>降低复杂性</a:t>
            </a:r>
            <a:endParaRPr lang="en-US" altLang="zh-CN" dirty="0"/>
          </a:p>
          <a:p>
            <a:r>
              <a:rPr lang="zh-CN" altLang="en-US" dirty="0"/>
              <a:t>授权</a:t>
            </a:r>
            <a:r>
              <a:rPr lang="en-US" altLang="zh-CN" dirty="0"/>
              <a:t>/</a:t>
            </a:r>
            <a:r>
              <a:rPr lang="zh-CN" altLang="en-US" dirty="0"/>
              <a:t>分工</a:t>
            </a:r>
            <a:endParaRPr lang="en-US" altLang="zh-CN" dirty="0"/>
          </a:p>
          <a:p>
            <a:r>
              <a:rPr lang="zh-CN" altLang="en-US" dirty="0"/>
              <a:t>错误隔离</a:t>
            </a:r>
            <a:endParaRPr lang="en-US" altLang="zh-CN" dirty="0"/>
          </a:p>
          <a:p>
            <a:r>
              <a:rPr lang="zh-CN" altLang="en-US" dirty="0"/>
              <a:t>独立开发</a:t>
            </a:r>
            <a:endParaRPr lang="en-US" altLang="zh-CN" dirty="0"/>
          </a:p>
          <a:p>
            <a:r>
              <a:rPr lang="zh-CN" altLang="en-US" dirty="0">
                <a:sym typeface="+mn-ea"/>
              </a:rPr>
              <a:t>分离</a:t>
            </a:r>
            <a:r>
              <a:rPr lang="zh-CN" altLang="en-US" dirty="0"/>
              <a:t>关注点</a:t>
            </a:r>
            <a:endParaRPr lang="en-US" altLang="zh-CN" dirty="0"/>
          </a:p>
          <a:p>
            <a:r>
              <a:rPr lang="zh-CN" altLang="en-US" dirty="0"/>
              <a:t>重复使用</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274638"/>
            <a:ext cx="8229600" cy="1143000"/>
          </a:xfrm>
        </p:spPr>
        <p:txBody>
          <a:bodyPr anchor="b"/>
          <a:lstStyle/>
          <a:p>
            <a:r>
              <a:rPr lang="zh-CN" altLang="en-US" dirty="0"/>
              <a:t>有效的模块化设计</a:t>
            </a:r>
            <a:endParaRPr lang="en-US" dirty="0"/>
          </a:p>
        </p:txBody>
      </p:sp>
      <p:sp>
        <p:nvSpPr>
          <p:cNvPr id="6147" name="Rectangle 3"/>
          <p:cNvSpPr>
            <a:spLocks noGrp="1" noChangeArrowheads="1"/>
          </p:cNvSpPr>
          <p:nvPr>
            <p:ph type="body" idx="4294967295"/>
          </p:nvPr>
        </p:nvSpPr>
        <p:spPr>
          <a:xfrm>
            <a:off x="0" y="1600200"/>
            <a:ext cx="8229600" cy="4525963"/>
          </a:xfrm>
        </p:spPr>
        <p:txBody>
          <a:bodyPr/>
          <a:lstStyle/>
          <a:p>
            <a:r>
              <a:rPr lang="zh-CN" altLang="en-US" dirty="0"/>
              <a:t>如何将软件系统分解为最佳的模块集</a:t>
            </a:r>
            <a:r>
              <a:rPr lang="en-US" altLang="zh-CN" dirty="0"/>
              <a:t>?</a:t>
            </a:r>
          </a:p>
          <a:p>
            <a:pPr>
              <a:buFont typeface="Arial" panose="020B0604020202020204" pitchFamily="34" charset="0"/>
              <a:buChar char="•"/>
            </a:pPr>
            <a:r>
              <a:rPr lang="zh-CN" altLang="en-US" dirty="0"/>
              <a:t>信息隐蔽</a:t>
            </a:r>
            <a:endParaRPr lang="en-US" altLang="zh-CN" dirty="0"/>
          </a:p>
          <a:p>
            <a:pPr>
              <a:buFont typeface="Arial" panose="020B0604020202020204" pitchFamily="34" charset="0"/>
              <a:buChar char="•"/>
            </a:pPr>
            <a:r>
              <a:rPr lang="zh-CN" altLang="en-US" dirty="0"/>
              <a:t>内聚性</a:t>
            </a:r>
            <a:endParaRPr lang="en-US" dirty="0"/>
          </a:p>
          <a:p>
            <a:pPr>
              <a:buFont typeface="Arial" panose="020B0604020202020204" pitchFamily="34" charset="0"/>
              <a:buChar char="•"/>
            </a:pPr>
            <a:r>
              <a:rPr lang="zh-CN" altLang="en-US" dirty="0"/>
              <a:t>耦合性</a:t>
            </a:r>
            <a:endParaRPr lang="en-US" dirty="0"/>
          </a:p>
          <a:p>
            <a:pPr>
              <a:buFont typeface="Arial" panose="020B0604020202020204" pitchFamily="34" charset="0"/>
              <a:buChar char="•"/>
            </a:pPr>
            <a:r>
              <a:rPr lang="zh-CN" altLang="en-US" dirty="0"/>
              <a:t>功能独立性</a:t>
            </a:r>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274638"/>
            <a:ext cx="8229600" cy="1143000"/>
          </a:xfrm>
        </p:spPr>
        <p:txBody>
          <a:bodyPr anchor="b"/>
          <a:lstStyle/>
          <a:p>
            <a:r>
              <a:rPr lang="zh-CN" altLang="en-US" dirty="0"/>
              <a:t>信息隐蔽</a:t>
            </a:r>
            <a:endParaRPr lang="en-US" dirty="0"/>
          </a:p>
        </p:txBody>
      </p:sp>
      <p:sp>
        <p:nvSpPr>
          <p:cNvPr id="7171" name="Rectangle 3"/>
          <p:cNvSpPr>
            <a:spLocks noGrp="1" noChangeArrowheads="1"/>
          </p:cNvSpPr>
          <p:nvPr>
            <p:ph type="body" idx="4294967295"/>
          </p:nvPr>
        </p:nvSpPr>
        <p:spPr>
          <a:xfrm>
            <a:off x="0" y="1600200"/>
            <a:ext cx="8229600" cy="4525963"/>
          </a:xfrm>
        </p:spPr>
        <p:txBody>
          <a:bodyPr/>
          <a:lstStyle/>
          <a:p>
            <a:r>
              <a:rPr lang="zh-CN" altLang="en-US" sz="2800" dirty="0"/>
              <a:t>设计模块时，要保证一个模块中包含的信息(数据和程序)对其他不需要这些信息的模块是无法访问的。</a:t>
            </a:r>
          </a:p>
          <a:p>
            <a:r>
              <a:rPr lang="zh-CN" altLang="en-US" sz="2800" dirty="0"/>
              <a:t>独立的模块。</a:t>
            </a:r>
            <a:endParaRPr lang="en-US" altLang="zh-CN" sz="2800" dirty="0"/>
          </a:p>
          <a:p>
            <a:r>
              <a:rPr lang="zh-CN" altLang="en-US" sz="2800" dirty="0"/>
              <a:t>好处 </a:t>
            </a:r>
            <a:r>
              <a:rPr lang="en-US" sz="2800" dirty="0"/>
              <a:t>:</a:t>
            </a:r>
          </a:p>
          <a:p>
            <a:pPr lvl="1"/>
            <a:r>
              <a:rPr lang="zh-CN" altLang="en-US" sz="2600" dirty="0"/>
              <a:t>当需要修改时，它减少了扩散到其他模块的机会。</a:t>
            </a:r>
            <a:endParaRPr 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7" dur="500"/>
                                        <p:tgtEl>
                                          <p:spTgt spid="7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274638"/>
            <a:ext cx="8229600" cy="1143000"/>
          </a:xfrm>
        </p:spPr>
        <p:txBody>
          <a:bodyPr anchor="b"/>
          <a:lstStyle/>
          <a:p>
            <a:r>
              <a:rPr lang="zh-CN" altLang="en-US" dirty="0"/>
              <a:t>内聚性</a:t>
            </a:r>
            <a:endParaRPr lang="en-US" dirty="0"/>
          </a:p>
        </p:txBody>
      </p:sp>
      <p:sp>
        <p:nvSpPr>
          <p:cNvPr id="8195" name="Rectangle 3"/>
          <p:cNvSpPr>
            <a:spLocks noGrp="1" noChangeArrowheads="1"/>
          </p:cNvSpPr>
          <p:nvPr>
            <p:ph type="body" idx="4294967295"/>
          </p:nvPr>
        </p:nvSpPr>
        <p:spPr>
          <a:xfrm>
            <a:off x="0" y="1600200"/>
            <a:ext cx="8229600" cy="4525963"/>
          </a:xfrm>
        </p:spPr>
        <p:txBody>
          <a:bodyPr>
            <a:normAutofit lnSpcReduction="10000"/>
          </a:bodyPr>
          <a:lstStyle/>
          <a:p>
            <a:r>
              <a:rPr sz="2800" dirty="0"/>
              <a:t>“理想情况下，模块应该只做一件事。”</a:t>
            </a:r>
          </a:p>
          <a:p>
            <a:r>
              <a:rPr lang="zh-CN" altLang="en-US" sz="2800" dirty="0"/>
              <a:t>每个模块执行单个任务，几乎不需要与其他模块进行交互。</a:t>
            </a:r>
            <a:endParaRPr lang="en-US" altLang="zh-CN" sz="2800" dirty="0"/>
          </a:p>
          <a:p>
            <a:r>
              <a:rPr lang="zh-CN" altLang="en-US" sz="2800" dirty="0"/>
              <a:t>一个内聚模块，因为完成了整齐定义的单个任务，所以它可以在其他项目中重复使用</a:t>
            </a:r>
            <a:endParaRPr lang="en-US" altLang="zh-CN" sz="2800" dirty="0"/>
          </a:p>
          <a:p>
            <a:r>
              <a:rPr lang="zh-CN" altLang="en-US" sz="2800" dirty="0"/>
              <a:t>高内聚性是好的</a:t>
            </a:r>
            <a:endParaRPr lang="en-US" altLang="zh-CN" sz="2800" dirty="0"/>
          </a:p>
          <a:p>
            <a:pPr>
              <a:buFont typeface="Arial" panose="020B0604020202020204" pitchFamily="34" charset="0"/>
              <a:buChar char="•"/>
            </a:pPr>
            <a:r>
              <a:rPr lang="zh-CN" altLang="en-US" sz="2600" dirty="0">
                <a:sym typeface="+mn-ea"/>
              </a:rPr>
              <a:t>更改很可能是模块的局部更改</a:t>
            </a:r>
          </a:p>
          <a:p>
            <a:pPr>
              <a:buFont typeface="Arial" panose="020B0604020202020204" pitchFamily="34" charset="0"/>
              <a:buChar char="•"/>
            </a:pPr>
            <a:r>
              <a:rPr lang="zh-CN" altLang="en-US" sz="2600" dirty="0">
                <a:sym typeface="+mn-ea"/>
              </a:rPr>
              <a:t>更容易独立地理解模块</a:t>
            </a:r>
            <a:endParaRPr lang="zh-CN" altLang="en-US" sz="2600" dirty="0"/>
          </a:p>
          <a:p>
            <a:pPr>
              <a:buFont typeface="Arial" panose="020B0604020202020204" pitchFamily="34" charset="0"/>
              <a:buChar char="•"/>
            </a:pPr>
            <a:endParaRPr lang="zh-CN" altLang="en-US" sz="2600" dirty="0">
              <a:sym typeface="+mn-ea"/>
            </a:endParaRPr>
          </a:p>
          <a:p>
            <a:pPr>
              <a:buFont typeface="Arial" panose="020B0604020202020204" pitchFamily="34" charset="0"/>
              <a:buChar char="•"/>
            </a:pPr>
            <a:endParaRPr lang="en-US" altLang="zh-CN" sz="2600" dirty="0"/>
          </a:p>
          <a:p>
            <a:pPr>
              <a:buFont typeface="Arial" panose="020B0604020202020204" pitchFamily="34" charset="0"/>
              <a:buChar char="•"/>
            </a:pPr>
            <a:endParaRPr lang="zh-CN" altLang="en-US" sz="2600" dirty="0"/>
          </a:p>
          <a:p>
            <a:pPr>
              <a:buFont typeface="Arial" panose="020B0604020202020204" pitchFamily="34" charset="0"/>
              <a:buChar char="•"/>
            </a:pPr>
            <a:endParaRPr lang="zh-CN" alt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linds(horizontal)">
                                      <p:cBhvr>
                                        <p:cTn id="17" dur="500"/>
                                        <p:tgtEl>
                                          <p:spTgt spid="8195">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195">
                                            <p:txEl>
                                              <p:pRg st="3" end="3"/>
                                            </p:txEl>
                                          </p:spTgt>
                                        </p:tgtEl>
                                        <p:attrNameLst>
                                          <p:attrName>style.visibility</p:attrName>
                                        </p:attrNameLst>
                                      </p:cBhvr>
                                      <p:to>
                                        <p:strVal val="visible"/>
                                      </p:to>
                                    </p:set>
                                    <p:animEffect transition="in" filter="blinds(horizontal)">
                                      <p:cBhvr>
                                        <p:cTn id="20"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381000"/>
            <a:ext cx="8229600" cy="503238"/>
          </a:xfrm>
        </p:spPr>
        <p:txBody>
          <a:bodyPr anchor="b">
            <a:normAutofit fontScale="90000"/>
          </a:bodyPr>
          <a:lstStyle/>
          <a:p>
            <a:r>
              <a:rPr lang="zh-CN" altLang="en-US" sz="4000" dirty="0"/>
              <a:t>耦合性</a:t>
            </a:r>
            <a:endParaRPr lang="en-US" sz="4000" dirty="0"/>
          </a:p>
        </p:txBody>
      </p:sp>
      <p:sp>
        <p:nvSpPr>
          <p:cNvPr id="9219" name="Rectangle 3"/>
          <p:cNvSpPr>
            <a:spLocks noGrp="1" noChangeArrowheads="1"/>
          </p:cNvSpPr>
          <p:nvPr>
            <p:ph type="body" idx="4294967295"/>
          </p:nvPr>
        </p:nvSpPr>
        <p:spPr>
          <a:xfrm>
            <a:off x="0" y="1143000"/>
            <a:ext cx="8229600" cy="4983163"/>
          </a:xfrm>
        </p:spPr>
        <p:txBody>
          <a:bodyPr>
            <a:normAutofit/>
          </a:bodyPr>
          <a:lstStyle/>
          <a:p>
            <a:r>
              <a:rPr lang="en-US" altLang="zh-CN" sz="2600" dirty="0"/>
              <a:t>衡量软件结构中各模块之间相互联系</a:t>
            </a:r>
            <a:r>
              <a:rPr lang="zh-CN" altLang="en-US" sz="2600" dirty="0"/>
              <a:t>程度</a:t>
            </a:r>
            <a:r>
              <a:rPr lang="en-US" altLang="zh-CN" sz="2600" dirty="0"/>
              <a:t>的标准</a:t>
            </a:r>
          </a:p>
          <a:p>
            <a:r>
              <a:rPr lang="zh-CN" altLang="en-US" sz="2600" dirty="0"/>
              <a:t>取决于模块之间的接口复杂程度</a:t>
            </a:r>
            <a:endParaRPr lang="en-US" altLang="zh-CN" sz="2600" dirty="0"/>
          </a:p>
          <a:p>
            <a:r>
              <a:rPr lang="zh-CN" altLang="en-US" sz="2600" dirty="0"/>
              <a:t>高耦合导致的问题</a:t>
            </a:r>
            <a:endParaRPr lang="en-US" altLang="zh-CN" sz="2600" dirty="0"/>
          </a:p>
          <a:p>
            <a:pPr>
              <a:buFont typeface="Arial" panose="020B0604020202020204" pitchFamily="34" charset="0"/>
              <a:buChar char="•"/>
            </a:pPr>
            <a:r>
              <a:rPr sz="2600" dirty="0"/>
              <a:t>变化传播-涟漪效应</a:t>
            </a:r>
          </a:p>
          <a:p>
            <a:pPr>
              <a:buFont typeface="Arial" panose="020B0604020202020204" pitchFamily="34" charset="0"/>
              <a:buChar char="•"/>
            </a:pPr>
            <a:r>
              <a:rPr lang="zh-CN" altLang="en-US" sz="2600" dirty="0"/>
              <a:t>理解困难</a:t>
            </a:r>
            <a:endParaRPr lang="en-US" altLang="zh-CN" sz="2600" dirty="0"/>
          </a:p>
          <a:p>
            <a:pPr>
              <a:buFont typeface="Arial" panose="020B0604020202020204" pitchFamily="34" charset="0"/>
              <a:buChar char="•"/>
            </a:pPr>
            <a:r>
              <a:rPr lang="zh-CN" altLang="en-US" sz="2600" dirty="0"/>
              <a:t>难以重复使用</a:t>
            </a:r>
            <a:endParaRPr 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5" dur="500"/>
                                        <p:tgtEl>
                                          <p:spTgt spid="921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8" dur="500"/>
                                        <p:tgtEl>
                                          <p:spTgt spid="92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3"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274638"/>
            <a:ext cx="8229600" cy="1143000"/>
          </a:xfrm>
        </p:spPr>
        <p:txBody>
          <a:bodyPr anchor="b"/>
          <a:lstStyle/>
          <a:p>
            <a:r>
              <a:rPr lang="zh-CN" altLang="en-US" dirty="0"/>
              <a:t>功能独立性</a:t>
            </a:r>
            <a:endParaRPr lang="en-US" dirty="0"/>
          </a:p>
        </p:txBody>
      </p:sp>
      <p:sp>
        <p:nvSpPr>
          <p:cNvPr id="10243" name="Rectangle 3"/>
          <p:cNvSpPr>
            <a:spLocks noGrp="1" noChangeArrowheads="1"/>
          </p:cNvSpPr>
          <p:nvPr>
            <p:ph type="body" idx="4294967295"/>
          </p:nvPr>
        </p:nvSpPr>
        <p:spPr>
          <a:xfrm>
            <a:off x="0" y="1600200"/>
            <a:ext cx="8229600" cy="4525963"/>
          </a:xfrm>
        </p:spPr>
        <p:txBody>
          <a:bodyPr>
            <a:normAutofit/>
          </a:bodyPr>
          <a:lstStyle/>
          <a:p>
            <a:r>
              <a:rPr lang="en-US" altLang="zh-CN" sz="2500" dirty="0"/>
              <a:t>具有高内聚性和低耦合性的模块视为在功能上独立于其他模块。</a:t>
            </a:r>
          </a:p>
          <a:p>
            <a:r>
              <a:rPr lang="en-US" altLang="zh-CN" sz="2500" dirty="0"/>
              <a:t>每个模块处理需求的特定子功能，并且更容易维护或修改</a:t>
            </a:r>
          </a:p>
          <a:p>
            <a:r>
              <a:rPr lang="zh-CN" altLang="en-US" sz="2800" dirty="0"/>
              <a:t>好处 </a:t>
            </a:r>
            <a:r>
              <a:rPr lang="en-US" sz="2800" dirty="0"/>
              <a:t>:</a:t>
            </a:r>
          </a:p>
          <a:p>
            <a:pPr lvl="1"/>
            <a:r>
              <a:rPr lang="zh-CN" altLang="en-US" sz="2600" dirty="0"/>
              <a:t>错误隔离</a:t>
            </a:r>
            <a:endParaRPr lang="en-US" altLang="zh-CN" sz="2600" dirty="0"/>
          </a:p>
          <a:p>
            <a:pPr lvl="1"/>
            <a:r>
              <a:rPr lang="zh-CN" altLang="en-US" sz="2600" dirty="0"/>
              <a:t>重复使用范围</a:t>
            </a:r>
            <a:endParaRPr lang="en-US" altLang="zh-CN" sz="2600" dirty="0"/>
          </a:p>
          <a:p>
            <a:pPr lvl="1"/>
            <a:r>
              <a:rPr lang="zh-CN" altLang="en-US" sz="2600" dirty="0"/>
              <a:t>可理解性</a:t>
            </a:r>
            <a:endParaRPr lang="en-US" sz="2600" dirty="0"/>
          </a:p>
          <a:p>
            <a:pPr lvl="1">
              <a:lnSpc>
                <a:spcPct val="90000"/>
              </a:lnSpc>
            </a:pPr>
            <a:endParaRPr lang="en-US" sz="2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0" dur="500"/>
                                        <p:tgtEl>
                                          <p:spTgt spid="1024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23" dur="500"/>
                                        <p:tgtEl>
                                          <p:spTgt spid="1024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6" dur="500"/>
                                        <p:tgtEl>
                                          <p:spTgt spid="10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摘要</a:t>
            </a:r>
            <a:endParaRPr lang="en-US" dirty="0"/>
          </a:p>
        </p:txBody>
      </p:sp>
      <p:sp>
        <p:nvSpPr>
          <p:cNvPr id="3" name="Content Placeholder 2"/>
          <p:cNvSpPr>
            <a:spLocks noGrp="1"/>
          </p:cNvSpPr>
          <p:nvPr>
            <p:ph idx="1"/>
          </p:nvPr>
        </p:nvSpPr>
        <p:spPr/>
        <p:txBody>
          <a:bodyPr/>
          <a:lstStyle/>
          <a:p>
            <a:r>
              <a:rPr lang="zh-CN" altLang="en-US" dirty="0"/>
              <a:t>优秀的设计</a:t>
            </a:r>
            <a:endParaRPr lang="en-US" altLang="zh-CN" dirty="0"/>
          </a:p>
          <a:p>
            <a:r>
              <a:rPr lang="zh-CN" altLang="en-US" dirty="0"/>
              <a:t>软件设计的质量属性</a:t>
            </a:r>
            <a:endParaRPr lang="en-US" altLang="zh-CN" dirty="0"/>
          </a:p>
          <a:p>
            <a:r>
              <a:rPr lang="zh-CN" altLang="en-US" dirty="0"/>
              <a:t>软件设计原则</a:t>
            </a:r>
            <a:endParaRPr lang="en-US" altLang="zh-CN" dirty="0"/>
          </a:p>
          <a:p>
            <a:r>
              <a:rPr lang="zh-CN" altLang="en-US" dirty="0"/>
              <a:t>设计中的几个概念</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FlYzU0ZWY2OTk0M2IwOGI2OGY0MWEzNDNiOWM4ODYifQ=="/>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2358</Words>
  <Application>Microsoft Office PowerPoint</Application>
  <PresentationFormat>On-screen Show (4:3)</PresentationFormat>
  <Paragraphs>206</Paragraphs>
  <Slides>31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Retrospect</vt:lpstr>
      <vt:lpstr>20H58665– 软件设计与架构</vt:lpstr>
      <vt:lpstr>上一讲</vt:lpstr>
      <vt:lpstr>大纲</vt:lpstr>
      <vt:lpstr>优秀的设计</vt:lpstr>
      <vt:lpstr>效率</vt:lpstr>
      <vt:lpstr>效率</vt:lpstr>
      <vt:lpstr>正确性</vt:lpstr>
      <vt:lpstr>可靠性</vt:lpstr>
      <vt:lpstr>可移植性</vt:lpstr>
      <vt:lpstr>可维护性</vt:lpstr>
      <vt:lpstr>可重用性 </vt:lpstr>
      <vt:lpstr>互操作性</vt:lpstr>
      <vt:lpstr>软件设计的质量属性</vt:lpstr>
      <vt:lpstr>质量属性-设计目标</vt:lpstr>
      <vt:lpstr>质量属性-设计目标</vt:lpstr>
      <vt:lpstr>质量属性-设计目标</vt:lpstr>
      <vt:lpstr>质量属性-设计目标</vt:lpstr>
      <vt:lpstr>质量属性-设计目标</vt:lpstr>
      <vt:lpstr>软件设计原则</vt:lpstr>
      <vt:lpstr>软件设计原则</vt:lpstr>
      <vt:lpstr>软件设计原则 …</vt:lpstr>
      <vt:lpstr>软件设计原则…</vt:lpstr>
      <vt:lpstr>设计概念</vt:lpstr>
      <vt:lpstr>软件设计过程中的概念</vt:lpstr>
      <vt:lpstr>模块化设计</vt:lpstr>
      <vt:lpstr>有效的模块化设计</vt:lpstr>
      <vt:lpstr>信息隐蔽</vt:lpstr>
      <vt:lpstr>内聚性</vt:lpstr>
      <vt:lpstr>耦合性</vt:lpstr>
      <vt:lpstr>功能独立性</vt:lpstr>
      <vt:lpstr>摘要</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Khan Faizan</cp:lastModifiedBy>
  <cp:revision>87</cp:revision>
  <dcterms:created xsi:type="dcterms:W3CDTF">2015-07-29T17:47:00Z</dcterms:created>
  <dcterms:modified xsi:type="dcterms:W3CDTF">2022-09-14T08:54:58Z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3AE49F05E6E7494AB63560C816A8C15A</vt:lpwstr>
  </property>
  <property fmtid="{D5CDD505-2E9C-101B-9397-08002B2CF9AE}" pid="3" name="KSOProductBuildVer">
    <vt:lpwstr>2052-11.1.0.12358</vt:lpwstr>
  </property>
</Properties>
</file>