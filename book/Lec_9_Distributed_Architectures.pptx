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7"/>
  </p:notesMasterIdLst>
  <p:sldIdLst>
    <p:sldId id="320" r:id="rId2"/>
    <p:sldId id="322" r:id="rId3"/>
    <p:sldId id="367" r:id="rId4"/>
    <p:sldId id="376" r:id="rId5"/>
    <p:sldId id="375" r:id="rId6"/>
    <p:sldId id="368" r:id="rId7"/>
    <p:sldId id="369" r:id="rId8"/>
    <p:sldId id="377" r:id="rId9"/>
    <p:sldId id="378" r:id="rId10"/>
    <p:sldId id="379" r:id="rId11"/>
    <p:sldId id="370" r:id="rId12"/>
    <p:sldId id="381" r:id="rId13"/>
    <p:sldId id="382" r:id="rId14"/>
    <p:sldId id="383" r:id="rId15"/>
    <p:sldId id="371" r:id="rId16"/>
    <p:sldId id="380" r:id="rId17"/>
    <p:sldId id="384" r:id="rId18"/>
    <p:sldId id="387" r:id="rId19"/>
    <p:sldId id="385" r:id="rId20"/>
    <p:sldId id="386" r:id="rId21"/>
    <p:sldId id="373" r:id="rId22"/>
    <p:sldId id="372" r:id="rId23"/>
    <p:sldId id="389" r:id="rId24"/>
    <p:sldId id="388" r:id="rId25"/>
    <p:sldId id="32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0D3D8-FE8C-4948-89FA-4A31366A4612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87A72-AE6E-4F97-A386-96D2D976BC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A59F23-48E5-4F2C-B758-64EC59D7F384}" type="slidenum">
              <a:rPr lang="en-US"/>
              <a:pPr/>
              <a:t>11</a:t>
            </a:fld>
            <a:endParaRPr lang="en-US"/>
          </a:p>
        </p:txBody>
      </p:sp>
      <p:sp>
        <p:nvSpPr>
          <p:cNvPr id="210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210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2699"/>
            <a:ext cx="5487020" cy="411495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966E3F-0D3D-48E4-8CA2-EDF1192439A1}" type="slidenum">
              <a:rPr lang="en-US"/>
              <a:pPr/>
              <a:t>15</a:t>
            </a:fld>
            <a:endParaRPr lang="en-US"/>
          </a:p>
        </p:txBody>
      </p:sp>
      <p:sp>
        <p:nvSpPr>
          <p:cNvPr id="210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210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2699"/>
            <a:ext cx="5487020" cy="411495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F20BB0-2011-453E-B9C7-B853C2D97A6C}" type="slidenum">
              <a:rPr lang="en-US"/>
              <a:pPr/>
              <a:t>21</a:t>
            </a:fld>
            <a:endParaRPr lang="en-US"/>
          </a:p>
        </p:txBody>
      </p:sp>
      <p:sp>
        <p:nvSpPr>
          <p:cNvPr id="212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212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2699"/>
            <a:ext cx="5487020" cy="4114956"/>
          </a:xfrm>
        </p:spPr>
        <p:txBody>
          <a:bodyPr>
            <a:normAutofit lnSpcReduction="10000"/>
          </a:bodyPr>
          <a:lstStyle/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b="1" dirty="0"/>
              <a:t>Flexible composition</a:t>
            </a:r>
            <a:r>
              <a:rPr lang="en-US" sz="1400" dirty="0"/>
              <a:t>. Services are</a:t>
            </a:r>
            <a:br>
              <a:rPr lang="en-US" sz="1400" dirty="0"/>
            </a:br>
            <a:r>
              <a:rPr lang="en-US" sz="1400" dirty="0"/>
              <a:t>composed from many Services in</a:t>
            </a:r>
            <a:br>
              <a:rPr lang="en-US" sz="1400" dirty="0"/>
            </a:br>
            <a:r>
              <a:rPr lang="en-US" sz="1400" dirty="0"/>
              <a:t>lower layers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b="1" dirty="0"/>
              <a:t>Reuse</a:t>
            </a:r>
            <a:r>
              <a:rPr lang="en-US" sz="1400" dirty="0"/>
              <a:t>. Services are used by</a:t>
            </a:r>
            <a:br>
              <a:rPr lang="en-US" sz="1400" dirty="0"/>
            </a:br>
            <a:r>
              <a:rPr lang="en-US" sz="1400" dirty="0"/>
              <a:t>many Services in higher layers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b="1" dirty="0"/>
              <a:t>Functional standardization</a:t>
            </a:r>
            <a:r>
              <a:rPr lang="en-US" sz="1400" dirty="0"/>
              <a:t> and</a:t>
            </a:r>
            <a:br>
              <a:rPr lang="en-US" sz="1400" dirty="0"/>
            </a:br>
            <a:r>
              <a:rPr lang="en-US" sz="1400" dirty="0"/>
              <a:t>commoditization in lower levels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b="1" dirty="0"/>
              <a:t>Customization</a:t>
            </a:r>
            <a:r>
              <a:rPr lang="en-US" sz="1400" dirty="0"/>
              <a:t> in higher layers</a:t>
            </a:r>
            <a:br>
              <a:rPr lang="en-US" sz="1400" dirty="0"/>
            </a:br>
            <a:endParaRPr lang="en-US" sz="1400" dirty="0"/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sz="1400" dirty="0"/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sz="14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sz="1400" b="1" dirty="0"/>
              <a:t>Separation of Concerns.</a:t>
            </a:r>
            <a:r>
              <a:rPr lang="en-US" sz="1400" dirty="0"/>
              <a:t> Each layer</a:t>
            </a:r>
            <a:br>
              <a:rPr lang="en-US" sz="1400" dirty="0"/>
            </a:br>
            <a:r>
              <a:rPr lang="en-US" sz="1400" dirty="0"/>
              <a:t>may reflect different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dirty="0"/>
              <a:t>Purpose and role of Service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dirty="0"/>
              <a:t>Provider of services in that layer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dirty="0"/>
              <a:t>Appropriate Technology or </a:t>
            </a:r>
            <a:br>
              <a:rPr lang="en-US" sz="1400" dirty="0"/>
            </a:br>
            <a:r>
              <a:rPr lang="en-US" sz="1400" dirty="0"/>
              <a:t>implementation approach for the </a:t>
            </a:r>
            <a:br>
              <a:rPr lang="en-US" sz="1400" dirty="0"/>
            </a:br>
            <a:r>
              <a:rPr lang="en-US" sz="1400" dirty="0"/>
              <a:t>layer</a:t>
            </a:r>
            <a:br>
              <a:rPr lang="en-US" sz="1400" dirty="0"/>
            </a:br>
            <a:endParaRPr lang="en-US" sz="1400" dirty="0"/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sz="1400" dirty="0"/>
          </a:p>
          <a:p>
            <a:pPr lvl="1">
              <a:lnSpc>
                <a:spcPct val="80000"/>
              </a:lnSpc>
              <a:buClr>
                <a:schemeClr val="tx1"/>
              </a:buClr>
            </a:pPr>
            <a:endParaRPr lang="en-US" sz="1400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r>
              <a:rPr lang="en-US" sz="1400" b="1" dirty="0"/>
              <a:t>Policies may vary by Layer</a:t>
            </a:r>
            <a:r>
              <a:rPr lang="en-US" sz="1400" dirty="0"/>
              <a:t>. E.g.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dirty="0"/>
              <a:t>Different Sourcing permitted</a:t>
            </a:r>
          </a:p>
          <a:p>
            <a:pPr lvl="1">
              <a:lnSpc>
                <a:spcPct val="80000"/>
              </a:lnSpc>
              <a:buClr>
                <a:schemeClr val="tx1"/>
              </a:buClr>
            </a:pPr>
            <a:r>
              <a:rPr lang="en-US" sz="1400" dirty="0"/>
              <a:t>Degree of Standardization/</a:t>
            </a:r>
            <a:br>
              <a:rPr lang="en-US" sz="1400" dirty="0"/>
            </a:br>
            <a:r>
              <a:rPr lang="en-US" sz="1400" dirty="0"/>
              <a:t>Differentiation allowed</a:t>
            </a:r>
          </a:p>
          <a:p>
            <a:pPr>
              <a:lnSpc>
                <a:spcPct val="80000"/>
              </a:lnSpc>
            </a:pPr>
            <a:endParaRPr lang="en-US" sz="8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FDC90E-E0C0-42DD-BD44-6FFCCE8BE08E}" type="slidenum">
              <a:rPr lang="en-US"/>
              <a:pPr/>
              <a:t>22</a:t>
            </a:fld>
            <a:endParaRPr lang="en-US"/>
          </a:p>
        </p:txBody>
      </p:sp>
      <p:sp>
        <p:nvSpPr>
          <p:cNvPr id="211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211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0" y="4342699"/>
            <a:ext cx="5487020" cy="411495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07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4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91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6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3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5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4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8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0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90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088" y="396875"/>
            <a:ext cx="7224712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1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77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27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SOFTWARE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F2AC4-8482-F1DC-DD03-40E07B468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87816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architectural styles</a:t>
            </a:r>
          </a:p>
          <a:p>
            <a:r>
              <a:rPr lang="en-US" dirty="0"/>
              <a:t>Distributed architectures</a:t>
            </a:r>
          </a:p>
          <a:p>
            <a:pPr lvl="1"/>
            <a:r>
              <a:rPr lang="en-US" dirty="0"/>
              <a:t>Client Server Architecture</a:t>
            </a:r>
          </a:p>
          <a:p>
            <a:pPr lvl="1"/>
            <a:r>
              <a:rPr lang="en-US" dirty="0"/>
              <a:t>Multi-tier Architecture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Architectures</a:t>
            </a:r>
          </a:p>
          <a:p>
            <a:pPr lvl="1"/>
            <a:r>
              <a:rPr lang="en-US" dirty="0"/>
              <a:t>Service Oriented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758952"/>
            <a:ext cx="7787640" cy="35661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Distributed Software Architecture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Distributed Software Architecture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distributed system is a collection of computational and storage devices connected through a communications network. </a:t>
            </a:r>
          </a:p>
          <a:p>
            <a:endParaRPr lang="en-US" dirty="0"/>
          </a:p>
          <a:p>
            <a:r>
              <a:rPr lang="en-US" dirty="0"/>
              <a:t>Communication occurs using a number of methods including message passing, remote procedure calls, and remote method invocation.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Oriented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service is a business functionality that is </a:t>
            </a:r>
          </a:p>
          <a:p>
            <a:pPr lvl="1"/>
            <a:r>
              <a:rPr lang="en-US" dirty="0"/>
              <a:t>well-defined, </a:t>
            </a:r>
          </a:p>
          <a:p>
            <a:pPr lvl="1"/>
            <a:r>
              <a:rPr lang="en-US" dirty="0"/>
              <a:t>self-contained, </a:t>
            </a:r>
          </a:p>
          <a:p>
            <a:pPr lvl="1"/>
            <a:r>
              <a:rPr lang="en-US" dirty="0"/>
              <a:t>Independent from other services, </a:t>
            </a:r>
          </a:p>
          <a:p>
            <a:r>
              <a:rPr lang="en-US" dirty="0"/>
              <a:t>and published and available to be used via a standard programming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Service Oriented Architecture (SOA)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Oriented Architecture (SOA) is a business centric IT architectural approach that supports integrating your business as linked, repeatable business tasks, or services.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orientation is a particular strategy for separating concerns and dividing a system into components. </a:t>
            </a:r>
          </a:p>
          <a:p>
            <a:endParaRPr lang="en-US" dirty="0"/>
          </a:p>
          <a:p>
            <a:r>
              <a:rPr lang="en-US" dirty="0"/>
              <a:t>Its fundamental characteristic is that every component provides a distinct service that can be used by </a:t>
            </a:r>
            <a:r>
              <a:rPr lang="en-US" b="1" dirty="0"/>
              <a:t>multiple consumers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Banking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Imagine that several areas of banking applications will deal with the current balance of an existing customer. </a:t>
            </a:r>
          </a:p>
          <a:p>
            <a:r>
              <a:rPr lang="en-US" dirty="0"/>
              <a:t>More than often, the “get current balance” functionality is repeated in various applications within a banking environment.</a:t>
            </a:r>
          </a:p>
          <a:p>
            <a:r>
              <a:rPr lang="en-US" dirty="0"/>
              <a:t>This gives rise to a redundant programming scenario. </a:t>
            </a:r>
          </a:p>
          <a:p>
            <a:r>
              <a:rPr lang="en-US" dirty="0"/>
              <a:t>The focus should be toward finding this sort of common, reusable functionality and implement it as a service, so</a:t>
            </a:r>
          </a:p>
          <a:p>
            <a:pPr lvl="1"/>
            <a:r>
              <a:rPr lang="en-US" dirty="0"/>
              <a:t>that all banking applications can reuse the service as and when necessary.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SOA Defined</a:t>
            </a:r>
          </a:p>
        </p:txBody>
      </p:sp>
      <p:sp>
        <p:nvSpPr>
          <p:cNvPr id="210125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316913" cy="4738688"/>
          </a:xfrm>
        </p:spPr>
        <p:txBody>
          <a:bodyPr>
            <a:normAutofit/>
          </a:bodyPr>
          <a:lstStyle/>
          <a:p>
            <a:r>
              <a:rPr lang="en-US" dirty="0"/>
              <a:t>SOA is a software architecture model </a:t>
            </a:r>
          </a:p>
          <a:p>
            <a:pPr lvl="1"/>
            <a:r>
              <a:rPr lang="en-US" dirty="0"/>
              <a:t>in which business functionality are logically grouped and encapsulated into </a:t>
            </a:r>
          </a:p>
          <a:p>
            <a:pPr lvl="2"/>
            <a:r>
              <a:rPr lang="en-US" dirty="0"/>
              <a:t>self contained, distinct and reusable units </a:t>
            </a:r>
          </a:p>
          <a:p>
            <a:pPr lvl="2">
              <a:buFontTx/>
              <a:buNone/>
            </a:pPr>
            <a:r>
              <a:rPr lang="en-US" dirty="0"/>
              <a:t>		called </a:t>
            </a:r>
            <a:r>
              <a:rPr lang="en-US" b="1" u="sng" dirty="0"/>
              <a:t>services</a:t>
            </a:r>
            <a:r>
              <a:rPr lang="en-US" b="1" dirty="0"/>
              <a:t> that</a:t>
            </a:r>
          </a:p>
          <a:p>
            <a:pPr lvl="2"/>
            <a:r>
              <a:rPr lang="en-US" dirty="0"/>
              <a:t>represent a high level business concept </a:t>
            </a:r>
          </a:p>
          <a:p>
            <a:pPr lvl="2"/>
            <a:r>
              <a:rPr lang="en-US" dirty="0"/>
              <a:t>can be distributed over a network </a:t>
            </a:r>
          </a:p>
          <a:p>
            <a:pPr lvl="2"/>
            <a:r>
              <a:rPr lang="en-US" dirty="0"/>
              <a:t>can be  reused to create new business applications </a:t>
            </a:r>
          </a:p>
          <a:p>
            <a:pPr lvl="2"/>
            <a:r>
              <a:rPr lang="en-US" dirty="0"/>
              <a:t>contain contract with  specification of the  purpose, functionality, interfaces (coarse grained), constraints, usage</a:t>
            </a:r>
            <a:r>
              <a:rPr lang="en-US" sz="1700" dirty="0"/>
              <a:t> </a:t>
            </a:r>
          </a:p>
          <a:p>
            <a:pPr lvl="4">
              <a:lnSpc>
                <a:spcPct val="105000"/>
              </a:lnSpc>
              <a:buFontTx/>
              <a:buNone/>
            </a:pPr>
            <a:r>
              <a:rPr lang="en-US" sz="1900" dirty="0"/>
              <a:t>... of the business functionality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Service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A service can only be used if potential clients are aware of its existence, and have information about how to use it. </a:t>
            </a:r>
          </a:p>
          <a:p>
            <a:r>
              <a:rPr lang="en-US" sz="2800" dirty="0"/>
              <a:t>This is achieved through service description.</a:t>
            </a:r>
          </a:p>
          <a:p>
            <a:endParaRPr lang="en-US" sz="2800" dirty="0"/>
          </a:p>
          <a:p>
            <a:pPr lvl="1"/>
            <a:r>
              <a:rPr lang="en-US" sz="3200" dirty="0"/>
              <a:t>A service description contains at least the name of the service, the location of the service, and the data exchange requirements.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aspects of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Loose coupling</a:t>
            </a:r>
          </a:p>
          <a:p>
            <a:pPr lvl="1"/>
            <a:r>
              <a:rPr lang="en-US" dirty="0"/>
              <a:t>the inherently unreliable communication over the internet must not lead to a blocked system.</a:t>
            </a:r>
          </a:p>
          <a:p>
            <a:r>
              <a:rPr lang="en-US" b="1" dirty="0"/>
              <a:t>Service contract</a:t>
            </a:r>
          </a:p>
          <a:p>
            <a:pPr lvl="1"/>
            <a:r>
              <a:rPr lang="en-US" dirty="0"/>
              <a:t>A service contract is a communications agreement, and specifies the details of the service that the service provider is performing</a:t>
            </a:r>
          </a:p>
          <a:p>
            <a:r>
              <a:rPr lang="en-US" b="1" dirty="0"/>
              <a:t>Autonomy</a:t>
            </a:r>
          </a:p>
          <a:p>
            <a:pPr lvl="1"/>
            <a:r>
              <a:rPr lang="en-US" dirty="0"/>
              <a:t>Services should have control over the logic they encapsulate.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aspects of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Abstraction </a:t>
            </a:r>
          </a:p>
          <a:p>
            <a:r>
              <a:rPr lang="en-US" b="1" dirty="0"/>
              <a:t>Reusability</a:t>
            </a:r>
          </a:p>
          <a:p>
            <a:r>
              <a:rPr lang="en-US" b="1" dirty="0" err="1"/>
              <a:t>Composability</a:t>
            </a:r>
            <a:endParaRPr lang="en-US" b="1" dirty="0"/>
          </a:p>
          <a:p>
            <a:r>
              <a:rPr lang="en-US" b="1" dirty="0"/>
              <a:t>Statelessness</a:t>
            </a:r>
          </a:p>
          <a:p>
            <a:pPr lvl="1"/>
            <a:r>
              <a:rPr lang="en-US" dirty="0"/>
              <a:t>services should minimize retaining information specific to an activity</a:t>
            </a:r>
          </a:p>
          <a:p>
            <a:r>
              <a:rPr lang="en-US" b="1" dirty="0"/>
              <a:t>Discoverability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298" name="AutoShape 2"/>
          <p:cNvSpPr>
            <a:spLocks noChangeArrowheads="1"/>
          </p:cNvSpPr>
          <p:nvPr/>
        </p:nvSpPr>
        <p:spPr bwMode="auto">
          <a:xfrm>
            <a:off x="4600575" y="990600"/>
            <a:ext cx="4143375" cy="4686300"/>
          </a:xfrm>
          <a:prstGeom prst="roundRect">
            <a:avLst>
              <a:gd name="adj" fmla="val 12528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299" name="AutoShape 3"/>
          <p:cNvSpPr>
            <a:spLocks noChangeArrowheads="1"/>
          </p:cNvSpPr>
          <p:nvPr/>
        </p:nvSpPr>
        <p:spPr bwMode="auto">
          <a:xfrm>
            <a:off x="4692650" y="3698875"/>
            <a:ext cx="3702050" cy="666750"/>
          </a:xfrm>
          <a:prstGeom prst="parallelogram">
            <a:avLst>
              <a:gd name="adj" fmla="val 138810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00" name="AutoShape 4"/>
          <p:cNvSpPr>
            <a:spLocks noChangeArrowheads="1"/>
          </p:cNvSpPr>
          <p:nvPr/>
        </p:nvSpPr>
        <p:spPr bwMode="auto">
          <a:xfrm>
            <a:off x="4676775" y="3516313"/>
            <a:ext cx="3702050" cy="633412"/>
          </a:xfrm>
          <a:prstGeom prst="parallelogram">
            <a:avLst>
              <a:gd name="adj" fmla="val 146115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01" name="Rectangle 5"/>
          <p:cNvSpPr>
            <a:spLocks noGrp="1" noChangeArrowheads="1"/>
          </p:cNvSpPr>
          <p:nvPr>
            <p:ph type="title"/>
          </p:nvPr>
        </p:nvSpPr>
        <p:spPr>
          <a:xfrm>
            <a:off x="338138" y="541338"/>
            <a:ext cx="8229600" cy="444500"/>
          </a:xfrm>
        </p:spPr>
        <p:txBody>
          <a:bodyPr>
            <a:noAutofit/>
          </a:bodyPr>
          <a:lstStyle/>
          <a:p>
            <a:r>
              <a:rPr lang="en-US" sz="3600" b="1" dirty="0"/>
              <a:t>What is Service Architecture?</a:t>
            </a:r>
          </a:p>
        </p:txBody>
      </p:sp>
      <p:sp>
        <p:nvSpPr>
          <p:cNvPr id="2103302" name="Text Box 6"/>
          <p:cNvSpPr txBox="1">
            <a:spLocks noChangeArrowheads="1"/>
          </p:cNvSpPr>
          <p:nvPr/>
        </p:nvSpPr>
        <p:spPr bwMode="auto">
          <a:xfrm>
            <a:off x="990600" y="1874828"/>
            <a:ext cx="333216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1950" indent="-361950" algn="l">
              <a:buFontTx/>
              <a:buChar char="•"/>
            </a:pPr>
            <a:r>
              <a:rPr lang="en-US" sz="2800" dirty="0"/>
              <a:t>A collection of services</a:t>
            </a:r>
          </a:p>
        </p:txBody>
      </p:sp>
      <p:sp>
        <p:nvSpPr>
          <p:cNvPr id="2103303" name="Text Box 7"/>
          <p:cNvSpPr txBox="1">
            <a:spLocks noChangeArrowheads="1"/>
          </p:cNvSpPr>
          <p:nvPr/>
        </p:nvSpPr>
        <p:spPr bwMode="auto">
          <a:xfrm>
            <a:off x="973006" y="2993093"/>
            <a:ext cx="340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61950" indent="-361950" algn="l">
              <a:buFontTx/>
              <a:buChar char="•"/>
            </a:pPr>
            <a:r>
              <a:rPr lang="en-US" sz="2800" dirty="0"/>
              <a:t>classified into types</a:t>
            </a:r>
          </a:p>
        </p:txBody>
      </p:sp>
      <p:sp>
        <p:nvSpPr>
          <p:cNvPr id="2103304" name="Text Box 8"/>
          <p:cNvSpPr txBox="1">
            <a:spLocks noChangeArrowheads="1"/>
          </p:cNvSpPr>
          <p:nvPr/>
        </p:nvSpPr>
        <p:spPr bwMode="auto">
          <a:xfrm>
            <a:off x="960438" y="3717925"/>
            <a:ext cx="34172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 algn="l">
              <a:buFontTx/>
              <a:buChar char="•"/>
            </a:pPr>
            <a:r>
              <a:rPr lang="en-US" sz="2800" dirty="0"/>
              <a:t>arranged into layers</a:t>
            </a:r>
          </a:p>
        </p:txBody>
      </p:sp>
      <p:sp>
        <p:nvSpPr>
          <p:cNvPr id="2103305" name="Text Box 9"/>
          <p:cNvSpPr txBox="1">
            <a:spLocks noChangeArrowheads="1"/>
          </p:cNvSpPr>
          <p:nvPr/>
        </p:nvSpPr>
        <p:spPr bwMode="auto">
          <a:xfrm>
            <a:off x="909022" y="4530678"/>
            <a:ext cx="35734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61950" indent="-361950" algn="l">
              <a:buFontTx/>
              <a:buChar char="•"/>
            </a:pPr>
            <a:r>
              <a:rPr lang="en-US" sz="2800" dirty="0"/>
              <a:t>Governed by architectural </a:t>
            </a:r>
            <a:br>
              <a:rPr lang="en-US" sz="2800" dirty="0"/>
            </a:br>
            <a:r>
              <a:rPr lang="en-US" sz="2800" dirty="0"/>
              <a:t>patterns and policies</a:t>
            </a:r>
          </a:p>
        </p:txBody>
      </p:sp>
      <p:sp>
        <p:nvSpPr>
          <p:cNvPr id="2103306" name="Oval 10"/>
          <p:cNvSpPr>
            <a:spLocks noChangeArrowheads="1"/>
          </p:cNvSpPr>
          <p:nvPr/>
        </p:nvSpPr>
        <p:spPr bwMode="auto">
          <a:xfrm>
            <a:off x="5214937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07" name="Oval 11"/>
          <p:cNvSpPr>
            <a:spLocks noChangeArrowheads="1"/>
          </p:cNvSpPr>
          <p:nvPr/>
        </p:nvSpPr>
        <p:spPr bwMode="auto">
          <a:xfrm>
            <a:off x="5540375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08" name="Oval 12"/>
          <p:cNvSpPr>
            <a:spLocks noChangeArrowheads="1"/>
          </p:cNvSpPr>
          <p:nvPr/>
        </p:nvSpPr>
        <p:spPr bwMode="auto">
          <a:xfrm>
            <a:off x="5851525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09" name="Oval 13"/>
          <p:cNvSpPr>
            <a:spLocks noChangeArrowheads="1"/>
          </p:cNvSpPr>
          <p:nvPr/>
        </p:nvSpPr>
        <p:spPr bwMode="auto">
          <a:xfrm>
            <a:off x="6186487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0" name="Oval 14"/>
          <p:cNvSpPr>
            <a:spLocks noChangeArrowheads="1"/>
          </p:cNvSpPr>
          <p:nvPr/>
        </p:nvSpPr>
        <p:spPr bwMode="auto">
          <a:xfrm>
            <a:off x="6510337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1" name="Oval 15"/>
          <p:cNvSpPr>
            <a:spLocks noChangeArrowheads="1"/>
          </p:cNvSpPr>
          <p:nvPr/>
        </p:nvSpPr>
        <p:spPr bwMode="auto">
          <a:xfrm>
            <a:off x="6846887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2" name="Oval 16"/>
          <p:cNvSpPr>
            <a:spLocks noChangeArrowheads="1"/>
          </p:cNvSpPr>
          <p:nvPr/>
        </p:nvSpPr>
        <p:spPr bwMode="auto">
          <a:xfrm>
            <a:off x="7204075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3" name="Oval 17"/>
          <p:cNvSpPr>
            <a:spLocks noChangeArrowheads="1"/>
          </p:cNvSpPr>
          <p:nvPr/>
        </p:nvSpPr>
        <p:spPr bwMode="auto">
          <a:xfrm>
            <a:off x="7613650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4" name="Oval 18"/>
          <p:cNvSpPr>
            <a:spLocks noChangeArrowheads="1"/>
          </p:cNvSpPr>
          <p:nvPr/>
        </p:nvSpPr>
        <p:spPr bwMode="auto">
          <a:xfrm>
            <a:off x="8020050" y="13160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5" name="AutoShape 19"/>
          <p:cNvSpPr>
            <a:spLocks noChangeArrowheads="1"/>
          </p:cNvSpPr>
          <p:nvPr/>
        </p:nvSpPr>
        <p:spPr bwMode="auto">
          <a:xfrm>
            <a:off x="5105400" y="1347787"/>
            <a:ext cx="3209925" cy="385763"/>
          </a:xfrm>
          <a:prstGeom prst="horizontalScroll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6" name="Text Box 20"/>
          <p:cNvSpPr txBox="1">
            <a:spLocks noChangeArrowheads="1"/>
          </p:cNvSpPr>
          <p:nvPr/>
        </p:nvSpPr>
        <p:spPr bwMode="auto">
          <a:xfrm>
            <a:off x="6340475" y="1389063"/>
            <a:ext cx="7413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sv-SE" sz="1200"/>
              <a:t>services</a:t>
            </a:r>
          </a:p>
        </p:txBody>
      </p:sp>
      <p:sp>
        <p:nvSpPr>
          <p:cNvPr id="2103317" name="AutoShape 21"/>
          <p:cNvSpPr>
            <a:spLocks noChangeArrowheads="1"/>
          </p:cNvSpPr>
          <p:nvPr/>
        </p:nvSpPr>
        <p:spPr bwMode="auto">
          <a:xfrm>
            <a:off x="4673600" y="3346450"/>
            <a:ext cx="3702050" cy="587375"/>
          </a:xfrm>
          <a:prstGeom prst="parallelogram">
            <a:avLst>
              <a:gd name="adj" fmla="val 155671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8" name="AutoShape 22"/>
          <p:cNvSpPr>
            <a:spLocks noChangeArrowheads="1"/>
          </p:cNvSpPr>
          <p:nvPr/>
        </p:nvSpPr>
        <p:spPr bwMode="auto">
          <a:xfrm rot="-5400000">
            <a:off x="4781550" y="5124450"/>
            <a:ext cx="1057275" cy="942975"/>
          </a:xfrm>
          <a:prstGeom prst="foldedCorner">
            <a:avLst>
              <a:gd name="adj" fmla="val 12500"/>
            </a:avLst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19" name="Text Box 23"/>
          <p:cNvSpPr txBox="1">
            <a:spLocks noChangeArrowheads="1"/>
          </p:cNvSpPr>
          <p:nvPr/>
        </p:nvSpPr>
        <p:spPr bwMode="auto">
          <a:xfrm rot="-2520055">
            <a:off x="4765675" y="5465763"/>
            <a:ext cx="10271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/>
              <a:t>identification</a:t>
            </a:r>
          </a:p>
        </p:txBody>
      </p:sp>
      <p:sp>
        <p:nvSpPr>
          <p:cNvPr id="2103320" name="AutoShape 24"/>
          <p:cNvSpPr>
            <a:spLocks noChangeArrowheads="1"/>
          </p:cNvSpPr>
          <p:nvPr/>
        </p:nvSpPr>
        <p:spPr bwMode="auto">
          <a:xfrm rot="-5400000">
            <a:off x="6073775" y="5130800"/>
            <a:ext cx="1057275" cy="942975"/>
          </a:xfrm>
          <a:prstGeom prst="foldedCorner">
            <a:avLst>
              <a:gd name="adj" fmla="val 12500"/>
            </a:avLst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21" name="Text Box 25"/>
          <p:cNvSpPr txBox="1">
            <a:spLocks noChangeArrowheads="1"/>
          </p:cNvSpPr>
          <p:nvPr/>
        </p:nvSpPr>
        <p:spPr bwMode="auto">
          <a:xfrm rot="-2520055">
            <a:off x="6130925" y="5486400"/>
            <a:ext cx="8921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/>
              <a:t>granularity</a:t>
            </a:r>
          </a:p>
        </p:txBody>
      </p:sp>
      <p:sp>
        <p:nvSpPr>
          <p:cNvPr id="2103322" name="AutoShape 26"/>
          <p:cNvSpPr>
            <a:spLocks noChangeArrowheads="1"/>
          </p:cNvSpPr>
          <p:nvPr/>
        </p:nvSpPr>
        <p:spPr bwMode="auto">
          <a:xfrm rot="-5400000">
            <a:off x="7416800" y="5130800"/>
            <a:ext cx="1057275" cy="942975"/>
          </a:xfrm>
          <a:prstGeom prst="foldedCorner">
            <a:avLst>
              <a:gd name="adj" fmla="val 12500"/>
            </a:avLst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23" name="Text Box 27"/>
          <p:cNvSpPr txBox="1">
            <a:spLocks noChangeArrowheads="1"/>
          </p:cNvSpPr>
          <p:nvPr/>
        </p:nvSpPr>
        <p:spPr bwMode="auto">
          <a:xfrm rot="-2520055">
            <a:off x="7440613" y="5475288"/>
            <a:ext cx="1009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/>
              <a:t>dependency</a:t>
            </a:r>
          </a:p>
        </p:txBody>
      </p:sp>
      <p:cxnSp>
        <p:nvCxnSpPr>
          <p:cNvPr id="2103324" name="AutoShape 28"/>
          <p:cNvCxnSpPr>
            <a:cxnSpLocks noChangeShapeType="1"/>
            <a:stCxn id="2103298" idx="1"/>
            <a:endCxn id="2103298" idx="1"/>
          </p:cNvCxnSpPr>
          <p:nvPr/>
        </p:nvCxnSpPr>
        <p:spPr bwMode="auto">
          <a:xfrm rot="10800000">
            <a:off x="4600575" y="3333750"/>
            <a:ext cx="158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103325" name="AutoShape 29"/>
          <p:cNvCxnSpPr>
            <a:cxnSpLocks noChangeShapeType="1"/>
            <a:stCxn id="2103328" idx="2"/>
            <a:endCxn id="2103338" idx="0"/>
          </p:cNvCxnSpPr>
          <p:nvPr/>
        </p:nvCxnSpPr>
        <p:spPr bwMode="auto">
          <a:xfrm rot="5400000">
            <a:off x="5756871" y="1551187"/>
            <a:ext cx="752079" cy="11549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103326" name="AutoShape 30"/>
          <p:cNvCxnSpPr>
            <a:cxnSpLocks noChangeShapeType="1"/>
            <a:stCxn id="2103340" idx="0"/>
            <a:endCxn id="2103328" idx="2"/>
          </p:cNvCxnSpPr>
          <p:nvPr/>
        </p:nvCxnSpPr>
        <p:spPr bwMode="auto">
          <a:xfrm rot="5400000" flipH="1">
            <a:off x="6966942" y="1496021"/>
            <a:ext cx="755254" cy="1268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103327" name="AutoShape 31"/>
          <p:cNvCxnSpPr>
            <a:cxnSpLocks noChangeShapeType="1"/>
            <a:stCxn id="2103339" idx="0"/>
            <a:endCxn id="2103315" idx="2"/>
          </p:cNvCxnSpPr>
          <p:nvPr/>
        </p:nvCxnSpPr>
        <p:spPr bwMode="auto">
          <a:xfrm rot="5400000" flipH="1">
            <a:off x="6310709" y="2036763"/>
            <a:ext cx="869157" cy="69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2103328" name="Rectangle 32"/>
          <p:cNvSpPr>
            <a:spLocks noChangeArrowheads="1"/>
          </p:cNvSpPr>
          <p:nvPr/>
        </p:nvSpPr>
        <p:spPr bwMode="auto">
          <a:xfrm>
            <a:off x="6624637" y="1590675"/>
            <a:ext cx="171450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29" name="Oval 33"/>
          <p:cNvSpPr>
            <a:spLocks noChangeArrowheads="1"/>
          </p:cNvSpPr>
          <p:nvPr/>
        </p:nvSpPr>
        <p:spPr bwMode="auto">
          <a:xfrm>
            <a:off x="5149850" y="23955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0" name="Oval 34"/>
          <p:cNvSpPr>
            <a:spLocks noChangeArrowheads="1"/>
          </p:cNvSpPr>
          <p:nvPr/>
        </p:nvSpPr>
        <p:spPr bwMode="auto">
          <a:xfrm>
            <a:off x="5475288" y="23955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1" name="Oval 35"/>
          <p:cNvSpPr>
            <a:spLocks noChangeArrowheads="1"/>
          </p:cNvSpPr>
          <p:nvPr/>
        </p:nvSpPr>
        <p:spPr bwMode="auto">
          <a:xfrm>
            <a:off x="5786438" y="2395538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2" name="Oval 36"/>
          <p:cNvSpPr>
            <a:spLocks noChangeArrowheads="1"/>
          </p:cNvSpPr>
          <p:nvPr/>
        </p:nvSpPr>
        <p:spPr bwMode="auto">
          <a:xfrm>
            <a:off x="7577138" y="2384425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3" name="Oval 37"/>
          <p:cNvSpPr>
            <a:spLocks noChangeArrowheads="1"/>
          </p:cNvSpPr>
          <p:nvPr/>
        </p:nvSpPr>
        <p:spPr bwMode="auto">
          <a:xfrm>
            <a:off x="7902575" y="2384425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4" name="Oval 38"/>
          <p:cNvSpPr>
            <a:spLocks noChangeArrowheads="1"/>
          </p:cNvSpPr>
          <p:nvPr/>
        </p:nvSpPr>
        <p:spPr bwMode="auto">
          <a:xfrm>
            <a:off x="8213725" y="2384425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5" name="Oval 39"/>
          <p:cNvSpPr>
            <a:spLocks noChangeArrowheads="1"/>
          </p:cNvSpPr>
          <p:nvPr/>
        </p:nvSpPr>
        <p:spPr bwMode="auto">
          <a:xfrm>
            <a:off x="6357938" y="2397125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6" name="Oval 40"/>
          <p:cNvSpPr>
            <a:spLocks noChangeArrowheads="1"/>
          </p:cNvSpPr>
          <p:nvPr/>
        </p:nvSpPr>
        <p:spPr bwMode="auto">
          <a:xfrm>
            <a:off x="6683375" y="2397125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7" name="Oval 41"/>
          <p:cNvSpPr>
            <a:spLocks noChangeArrowheads="1"/>
          </p:cNvSpPr>
          <p:nvPr/>
        </p:nvSpPr>
        <p:spPr bwMode="auto">
          <a:xfrm>
            <a:off x="6994525" y="2397125"/>
            <a:ext cx="161925" cy="161925"/>
          </a:xfrm>
          <a:prstGeom prst="ellipse">
            <a:avLst/>
          </a:prstGeom>
          <a:solidFill>
            <a:srgbClr val="339966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8" name="AutoShape 42"/>
          <p:cNvSpPr>
            <a:spLocks noChangeArrowheads="1"/>
          </p:cNvSpPr>
          <p:nvPr/>
        </p:nvSpPr>
        <p:spPr bwMode="auto">
          <a:xfrm>
            <a:off x="5018088" y="2408238"/>
            <a:ext cx="1074737" cy="385762"/>
          </a:xfrm>
          <a:prstGeom prst="horizontalScroll">
            <a:avLst>
              <a:gd name="adj" fmla="val 25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39" name="AutoShape 43"/>
          <p:cNvSpPr>
            <a:spLocks noChangeArrowheads="1"/>
          </p:cNvSpPr>
          <p:nvPr/>
        </p:nvSpPr>
        <p:spPr bwMode="auto">
          <a:xfrm>
            <a:off x="6259513" y="2409825"/>
            <a:ext cx="1041400" cy="385763"/>
          </a:xfrm>
          <a:prstGeom prst="horizontalScroll">
            <a:avLst>
              <a:gd name="adj" fmla="val 25000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40" name="AutoShape 44"/>
          <p:cNvSpPr>
            <a:spLocks noChangeArrowheads="1"/>
          </p:cNvSpPr>
          <p:nvPr/>
        </p:nvSpPr>
        <p:spPr bwMode="auto">
          <a:xfrm>
            <a:off x="7458075" y="2411413"/>
            <a:ext cx="1041400" cy="385762"/>
          </a:xfrm>
          <a:prstGeom prst="horizontalScroll">
            <a:avLst>
              <a:gd name="adj" fmla="val 25000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3341" name="Text Box 45"/>
          <p:cNvSpPr txBox="1">
            <a:spLocks noChangeArrowheads="1"/>
          </p:cNvSpPr>
          <p:nvPr/>
        </p:nvSpPr>
        <p:spPr bwMode="auto">
          <a:xfrm>
            <a:off x="5327650" y="2457450"/>
            <a:ext cx="4714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/>
              <a:t>type</a:t>
            </a:r>
          </a:p>
        </p:txBody>
      </p:sp>
      <p:sp>
        <p:nvSpPr>
          <p:cNvPr id="2103342" name="Text Box 46"/>
          <p:cNvSpPr txBox="1">
            <a:spLocks noChangeArrowheads="1"/>
          </p:cNvSpPr>
          <p:nvPr/>
        </p:nvSpPr>
        <p:spPr bwMode="auto">
          <a:xfrm>
            <a:off x="7772400" y="2468563"/>
            <a:ext cx="4714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/>
              <a:t>type</a:t>
            </a:r>
          </a:p>
        </p:txBody>
      </p:sp>
      <p:sp>
        <p:nvSpPr>
          <p:cNvPr id="2103343" name="Text Box 47"/>
          <p:cNvSpPr txBox="1">
            <a:spLocks noChangeArrowheads="1"/>
          </p:cNvSpPr>
          <p:nvPr/>
        </p:nvSpPr>
        <p:spPr bwMode="auto">
          <a:xfrm>
            <a:off x="6557963" y="2463800"/>
            <a:ext cx="4714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/>
              <a:t>type</a:t>
            </a:r>
          </a:p>
        </p:txBody>
      </p:sp>
      <p:cxnSp>
        <p:nvCxnSpPr>
          <p:cNvPr id="2103344" name="AutoShape 48"/>
          <p:cNvCxnSpPr>
            <a:cxnSpLocks noChangeShapeType="1"/>
            <a:stCxn id="2103338" idx="2"/>
            <a:endCxn id="2103317" idx="5"/>
          </p:cNvCxnSpPr>
          <p:nvPr/>
        </p:nvCxnSpPr>
        <p:spPr bwMode="auto">
          <a:xfrm flipH="1">
            <a:off x="5130800" y="2697163"/>
            <a:ext cx="425450" cy="942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03345" name="AutoShape 49"/>
          <p:cNvCxnSpPr>
            <a:cxnSpLocks noChangeShapeType="1"/>
            <a:stCxn id="2103339" idx="2"/>
            <a:endCxn id="2103300" idx="4"/>
          </p:cNvCxnSpPr>
          <p:nvPr/>
        </p:nvCxnSpPr>
        <p:spPr bwMode="auto">
          <a:xfrm flipH="1">
            <a:off x="6527800" y="2698750"/>
            <a:ext cx="252413" cy="1450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03346" name="AutoShape 50"/>
          <p:cNvCxnSpPr>
            <a:cxnSpLocks noChangeShapeType="1"/>
            <a:stCxn id="2103340" idx="2"/>
            <a:endCxn id="2103299" idx="2"/>
          </p:cNvCxnSpPr>
          <p:nvPr/>
        </p:nvCxnSpPr>
        <p:spPr bwMode="auto">
          <a:xfrm flipH="1">
            <a:off x="7932738" y="2700338"/>
            <a:ext cx="46037" cy="1331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03347" name="Text Box 51"/>
          <p:cNvSpPr txBox="1">
            <a:spLocks noChangeArrowheads="1"/>
          </p:cNvSpPr>
          <p:nvPr/>
        </p:nvSpPr>
        <p:spPr bwMode="auto">
          <a:xfrm>
            <a:off x="7029450" y="6257925"/>
            <a:ext cx="21145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i="1"/>
              <a:t>source:TietoEnator AB, Kurts Bilder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Need for SOA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>
            <a:normAutofit/>
          </a:bodyPr>
          <a:lstStyle/>
          <a:p>
            <a:r>
              <a:rPr lang="en-US" dirty="0"/>
              <a:t>Isolating business logic</a:t>
            </a:r>
          </a:p>
          <a:p>
            <a:pPr lvl="1"/>
            <a:r>
              <a:rPr lang="en-US" dirty="0"/>
              <a:t>The biggest problem in programming is often it is very difficult to keep the business logic  separated from the so called “computer logic”.</a:t>
            </a:r>
          </a:p>
          <a:p>
            <a:endParaRPr lang="en-US" dirty="0"/>
          </a:p>
          <a:p>
            <a:pPr lvl="1"/>
            <a:r>
              <a:rPr lang="en-US" dirty="0"/>
              <a:t>Non-IT folks can change the business logic any time, without understanding how a  small change could result in possibly disproportionate amount of work required by the IT folks  to implement the change.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SOA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Interoperability</a:t>
            </a:r>
          </a:p>
          <a:p>
            <a:endParaRPr lang="en-US" dirty="0"/>
          </a:p>
          <a:p>
            <a:r>
              <a:rPr lang="en-US" dirty="0"/>
              <a:t>Redundancies</a:t>
            </a:r>
          </a:p>
          <a:p>
            <a:pPr lvl="1"/>
            <a:r>
              <a:rPr lang="en-US" dirty="0"/>
              <a:t>There are many similar yet slightly  different applications that are used throughout the organization. </a:t>
            </a:r>
          </a:p>
          <a:p>
            <a:pPr lvl="1"/>
            <a:r>
              <a:rPr lang="en-US" dirty="0"/>
              <a:t>Each department usually  comes out with its own version of software components.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types of services used in SOA systems.</a:t>
            </a:r>
          </a:p>
          <a:p>
            <a:pPr lvl="1"/>
            <a:r>
              <a:rPr lang="en-US" dirty="0"/>
              <a:t>Business services</a:t>
            </a:r>
          </a:p>
          <a:p>
            <a:pPr lvl="1"/>
            <a:r>
              <a:rPr lang="en-US" dirty="0"/>
              <a:t>Entity services</a:t>
            </a:r>
          </a:p>
          <a:p>
            <a:pPr lvl="1"/>
            <a:r>
              <a:rPr lang="en-US" dirty="0"/>
              <a:t>Functional services</a:t>
            </a:r>
          </a:p>
          <a:p>
            <a:pPr lvl="1"/>
            <a:r>
              <a:rPr lang="en-US" dirty="0"/>
              <a:t>Utility services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services</a:t>
            </a:r>
          </a:p>
          <a:p>
            <a:pPr lvl="1"/>
            <a:r>
              <a:rPr lang="en-US" dirty="0"/>
              <a:t>Business service can be defined as the logical encapsulation of business functions. It has to be  relevant to the business the organization is running.</a:t>
            </a:r>
          </a:p>
          <a:p>
            <a:pPr lvl="1">
              <a:buNone/>
            </a:pPr>
            <a:r>
              <a:rPr lang="en-US" dirty="0"/>
              <a:t> </a:t>
            </a:r>
          </a:p>
          <a:p>
            <a:r>
              <a:rPr lang="en-US" dirty="0"/>
              <a:t>Entity  services</a:t>
            </a:r>
          </a:p>
          <a:p>
            <a:pPr lvl="1"/>
            <a:r>
              <a:rPr lang="en-US" dirty="0"/>
              <a:t>An entity service usually represents business entities (e.g. Employee, Customer, Product, Invoice etc.). Such entity service usually expose CRUD (create, read, update, delete) operations.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 services</a:t>
            </a:r>
          </a:p>
          <a:p>
            <a:pPr lvl="1"/>
            <a:r>
              <a:rPr lang="en-US" dirty="0"/>
              <a:t>It is usually a technology-oriented service and not a business oriented one. Task services can be thought of as controller of composition of services and hence its reusability is usually lower.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Utility services</a:t>
            </a:r>
          </a:p>
          <a:p>
            <a:pPr lvl="1"/>
            <a:r>
              <a:rPr lang="en-US" dirty="0"/>
              <a:t>Utility services offers common and reusable services that are usually not business centric. They might include event logging, notifications exception handling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88" y="396875"/>
            <a:ext cx="7681912" cy="822325"/>
          </a:xfrm>
        </p:spPr>
        <p:txBody>
          <a:bodyPr>
            <a:noAutofit/>
          </a:bodyPr>
          <a:lstStyle/>
          <a:p>
            <a:r>
              <a:rPr lang="en-US" sz="3600" b="1" dirty="0"/>
              <a:t>Service Architecture Organized by Layers</a:t>
            </a:r>
          </a:p>
        </p:txBody>
      </p:sp>
      <p:sp>
        <p:nvSpPr>
          <p:cNvPr id="2119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9075" y="1666875"/>
            <a:ext cx="4038600" cy="4525963"/>
          </a:xfrm>
        </p:spPr>
        <p:txBody>
          <a:bodyPr>
            <a:normAutofit/>
          </a:bodyPr>
          <a:lstStyle/>
          <a:p>
            <a:pPr marL="339725" indent="-339725">
              <a:buClr>
                <a:schemeClr val="tx1"/>
              </a:buClr>
              <a:buFontTx/>
              <a:buNone/>
            </a:pPr>
            <a:r>
              <a:rPr lang="en-US" sz="3600" dirty="0"/>
              <a:t>Reasons for Layering</a:t>
            </a:r>
          </a:p>
          <a:p>
            <a:pPr marL="339725" indent="-339725">
              <a:buClr>
                <a:schemeClr val="tx1"/>
              </a:buClr>
              <a:buFontTx/>
              <a:buAutoNum type="arabicPeriod"/>
            </a:pPr>
            <a:r>
              <a:rPr lang="en-US" sz="2400" b="1" dirty="0"/>
              <a:t>Flexible composition</a:t>
            </a:r>
            <a:r>
              <a:rPr lang="en-US" sz="2400" dirty="0"/>
              <a:t>. </a:t>
            </a:r>
          </a:p>
          <a:p>
            <a:pPr marL="339725" indent="-339725">
              <a:buClr>
                <a:schemeClr val="tx1"/>
              </a:buClr>
              <a:buFontTx/>
              <a:buAutoNum type="arabicPeriod"/>
            </a:pPr>
            <a:r>
              <a:rPr lang="en-US" sz="2400" b="1" dirty="0"/>
              <a:t>Reuse</a:t>
            </a:r>
            <a:r>
              <a:rPr lang="en-US" sz="2400" dirty="0"/>
              <a:t>. </a:t>
            </a:r>
          </a:p>
          <a:p>
            <a:pPr marL="339725" indent="-339725">
              <a:buClr>
                <a:schemeClr val="tx1"/>
              </a:buClr>
              <a:buFontTx/>
              <a:buAutoNum type="arabicPeriod"/>
            </a:pPr>
            <a:r>
              <a:rPr lang="en-US" sz="2400" b="1" dirty="0"/>
              <a:t>Functional standardization</a:t>
            </a:r>
            <a:r>
              <a:rPr lang="en-US" sz="2400" dirty="0"/>
              <a:t> in lower levels</a:t>
            </a:r>
          </a:p>
          <a:p>
            <a:pPr marL="339725" indent="-339725">
              <a:buClr>
                <a:schemeClr val="tx1"/>
              </a:buClr>
              <a:buFontTx/>
              <a:buAutoNum type="arabicPeriod"/>
            </a:pPr>
            <a:r>
              <a:rPr lang="en-US" sz="2400" b="1" dirty="0"/>
              <a:t>Customization</a:t>
            </a:r>
            <a:r>
              <a:rPr lang="en-US" sz="2400" dirty="0"/>
              <a:t> in higher layers</a:t>
            </a:r>
          </a:p>
          <a:p>
            <a:pPr marL="339725" indent="-339725">
              <a:buClr>
                <a:schemeClr val="tx1"/>
              </a:buClr>
              <a:buFontTx/>
              <a:buAutoNum type="arabicPeriod"/>
            </a:pPr>
            <a:r>
              <a:rPr lang="en-US" sz="2400" b="1" dirty="0"/>
              <a:t>Separation of Concerns.</a:t>
            </a:r>
            <a:r>
              <a:rPr lang="en-US" sz="2400" dirty="0"/>
              <a:t> </a:t>
            </a:r>
          </a:p>
          <a:p>
            <a:pPr marL="339725" indent="-339725">
              <a:buClr>
                <a:schemeClr val="tx1"/>
              </a:buClr>
              <a:buFontTx/>
              <a:buAutoNum type="arabicPeriod"/>
            </a:pPr>
            <a:r>
              <a:rPr lang="en-US" sz="2400" b="1" dirty="0"/>
              <a:t>Policies may vary by Layer</a:t>
            </a:r>
            <a:endParaRPr lang="en-US" sz="2400" dirty="0"/>
          </a:p>
        </p:txBody>
      </p:sp>
      <p:graphicFrame>
        <p:nvGraphicFramePr>
          <p:cNvPr id="2119715" name="Group 35"/>
          <p:cNvGraphicFramePr>
            <a:graphicFrameLocks noGrp="1"/>
          </p:cNvGraphicFramePr>
          <p:nvPr>
            <p:ph sz="half" idx="2"/>
          </p:nvPr>
        </p:nvGraphicFramePr>
        <p:xfrm>
          <a:off x="4152900" y="1876425"/>
          <a:ext cx="4810125" cy="3476625"/>
        </p:xfrm>
        <a:graphic>
          <a:graphicData uri="http://schemas.openxmlformats.org/drawingml/2006/table">
            <a:tbl>
              <a:tblPr/>
              <a:tblGrid>
                <a:gridCol w="169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19684" name="Oval 4"/>
          <p:cNvSpPr>
            <a:spLocks noChangeArrowheads="1"/>
          </p:cNvSpPr>
          <p:nvPr/>
        </p:nvSpPr>
        <p:spPr bwMode="auto">
          <a:xfrm>
            <a:off x="6153150" y="2900363"/>
            <a:ext cx="350838" cy="342900"/>
          </a:xfrm>
          <a:prstGeom prst="ellipse">
            <a:avLst/>
          </a:prstGeom>
          <a:solidFill>
            <a:srgbClr val="FFDBB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85" name="Oval 5"/>
          <p:cNvSpPr>
            <a:spLocks noChangeArrowheads="1"/>
          </p:cNvSpPr>
          <p:nvPr/>
        </p:nvSpPr>
        <p:spPr bwMode="auto">
          <a:xfrm>
            <a:off x="7037388" y="2898775"/>
            <a:ext cx="350837" cy="342900"/>
          </a:xfrm>
          <a:prstGeom prst="ellipse">
            <a:avLst/>
          </a:prstGeom>
          <a:solidFill>
            <a:srgbClr val="FFDBB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86" name="Oval 6"/>
          <p:cNvSpPr>
            <a:spLocks noChangeArrowheads="1"/>
          </p:cNvSpPr>
          <p:nvPr/>
        </p:nvSpPr>
        <p:spPr bwMode="auto">
          <a:xfrm>
            <a:off x="7951788" y="2898775"/>
            <a:ext cx="350837" cy="342900"/>
          </a:xfrm>
          <a:prstGeom prst="ellipse">
            <a:avLst/>
          </a:prstGeom>
          <a:solidFill>
            <a:srgbClr val="FFDBB7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87" name="Oval 7"/>
          <p:cNvSpPr>
            <a:spLocks noChangeArrowheads="1"/>
          </p:cNvSpPr>
          <p:nvPr/>
        </p:nvSpPr>
        <p:spPr bwMode="auto">
          <a:xfrm>
            <a:off x="6380163" y="3889375"/>
            <a:ext cx="350837" cy="342900"/>
          </a:xfrm>
          <a:prstGeom prst="ellipse">
            <a:avLst/>
          </a:prstGeom>
          <a:solidFill>
            <a:srgbClr val="66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88" name="Oval 8"/>
          <p:cNvSpPr>
            <a:spLocks noChangeArrowheads="1"/>
          </p:cNvSpPr>
          <p:nvPr/>
        </p:nvSpPr>
        <p:spPr bwMode="auto">
          <a:xfrm>
            <a:off x="7092950" y="3887788"/>
            <a:ext cx="350838" cy="342900"/>
          </a:xfrm>
          <a:prstGeom prst="ellipse">
            <a:avLst/>
          </a:prstGeom>
          <a:solidFill>
            <a:srgbClr val="66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89" name="Oval 9"/>
          <p:cNvSpPr>
            <a:spLocks noChangeArrowheads="1"/>
          </p:cNvSpPr>
          <p:nvPr/>
        </p:nvSpPr>
        <p:spPr bwMode="auto">
          <a:xfrm>
            <a:off x="7921625" y="3887788"/>
            <a:ext cx="350838" cy="342900"/>
          </a:xfrm>
          <a:prstGeom prst="ellipse">
            <a:avLst/>
          </a:prstGeom>
          <a:solidFill>
            <a:srgbClr val="6699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90" name="Oval 10"/>
          <p:cNvSpPr>
            <a:spLocks noChangeArrowheads="1"/>
          </p:cNvSpPr>
          <p:nvPr/>
        </p:nvSpPr>
        <p:spPr bwMode="auto">
          <a:xfrm>
            <a:off x="5988050" y="4792663"/>
            <a:ext cx="350838" cy="342900"/>
          </a:xfrm>
          <a:prstGeom prst="ellipse">
            <a:avLst/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91" name="Oval 11"/>
          <p:cNvSpPr>
            <a:spLocks noChangeArrowheads="1"/>
          </p:cNvSpPr>
          <p:nvPr/>
        </p:nvSpPr>
        <p:spPr bwMode="auto">
          <a:xfrm>
            <a:off x="6824663" y="4791075"/>
            <a:ext cx="350837" cy="342900"/>
          </a:xfrm>
          <a:prstGeom prst="ellipse">
            <a:avLst/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92" name="Oval 12"/>
          <p:cNvSpPr>
            <a:spLocks noChangeArrowheads="1"/>
          </p:cNvSpPr>
          <p:nvPr/>
        </p:nvSpPr>
        <p:spPr bwMode="auto">
          <a:xfrm>
            <a:off x="7510463" y="4791075"/>
            <a:ext cx="350837" cy="342900"/>
          </a:xfrm>
          <a:prstGeom prst="ellipse">
            <a:avLst/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19693" name="Oval 13"/>
          <p:cNvSpPr>
            <a:spLocks noChangeArrowheads="1"/>
          </p:cNvSpPr>
          <p:nvPr/>
        </p:nvSpPr>
        <p:spPr bwMode="auto">
          <a:xfrm>
            <a:off x="8339138" y="4791075"/>
            <a:ext cx="350837" cy="342900"/>
          </a:xfrm>
          <a:prstGeom prst="ellipse">
            <a:avLst/>
          </a:prstGeom>
          <a:solidFill>
            <a:srgbClr val="E1F4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2119694" name="AutoShape 14"/>
          <p:cNvCxnSpPr>
            <a:cxnSpLocks noChangeShapeType="1"/>
            <a:stCxn id="2119684" idx="4"/>
            <a:endCxn id="2119687" idx="0"/>
          </p:cNvCxnSpPr>
          <p:nvPr/>
        </p:nvCxnSpPr>
        <p:spPr bwMode="auto">
          <a:xfrm>
            <a:off x="6329363" y="3243263"/>
            <a:ext cx="227012" cy="6461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695" name="AutoShape 15"/>
          <p:cNvCxnSpPr>
            <a:cxnSpLocks noChangeShapeType="1"/>
            <a:stCxn id="2119685" idx="4"/>
            <a:endCxn id="2119687" idx="7"/>
          </p:cNvCxnSpPr>
          <p:nvPr/>
        </p:nvCxnSpPr>
        <p:spPr bwMode="auto">
          <a:xfrm flipH="1">
            <a:off x="6680200" y="3241675"/>
            <a:ext cx="533400" cy="6985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696" name="AutoShape 16"/>
          <p:cNvCxnSpPr>
            <a:cxnSpLocks noChangeShapeType="1"/>
            <a:stCxn id="2119685" idx="4"/>
            <a:endCxn id="2119688" idx="0"/>
          </p:cNvCxnSpPr>
          <p:nvPr/>
        </p:nvCxnSpPr>
        <p:spPr bwMode="auto">
          <a:xfrm>
            <a:off x="7213600" y="3241675"/>
            <a:ext cx="55563" cy="6461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697" name="AutoShape 17"/>
          <p:cNvCxnSpPr>
            <a:cxnSpLocks noChangeShapeType="1"/>
            <a:stCxn id="2119686" idx="4"/>
            <a:endCxn id="2119688" idx="7"/>
          </p:cNvCxnSpPr>
          <p:nvPr/>
        </p:nvCxnSpPr>
        <p:spPr bwMode="auto">
          <a:xfrm flipH="1">
            <a:off x="7392988" y="3241675"/>
            <a:ext cx="735012" cy="6969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698" name="AutoShape 18"/>
          <p:cNvCxnSpPr>
            <a:cxnSpLocks noChangeShapeType="1"/>
            <a:stCxn id="2119686" idx="4"/>
            <a:endCxn id="2119689" idx="0"/>
          </p:cNvCxnSpPr>
          <p:nvPr/>
        </p:nvCxnSpPr>
        <p:spPr bwMode="auto">
          <a:xfrm flipH="1">
            <a:off x="8097838" y="3241675"/>
            <a:ext cx="30162" cy="646113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699" name="AutoShape 19"/>
          <p:cNvCxnSpPr>
            <a:cxnSpLocks noChangeShapeType="1"/>
            <a:stCxn id="2119687" idx="4"/>
            <a:endCxn id="2119690" idx="0"/>
          </p:cNvCxnSpPr>
          <p:nvPr/>
        </p:nvCxnSpPr>
        <p:spPr bwMode="auto">
          <a:xfrm flipH="1">
            <a:off x="6164263" y="4232275"/>
            <a:ext cx="392112" cy="5603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00" name="AutoShape 20"/>
          <p:cNvCxnSpPr>
            <a:cxnSpLocks noChangeShapeType="1"/>
            <a:stCxn id="2119687" idx="4"/>
            <a:endCxn id="2119691" idx="0"/>
          </p:cNvCxnSpPr>
          <p:nvPr/>
        </p:nvCxnSpPr>
        <p:spPr bwMode="auto">
          <a:xfrm>
            <a:off x="6556375" y="4232275"/>
            <a:ext cx="444500" cy="5588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01" name="AutoShape 21"/>
          <p:cNvCxnSpPr>
            <a:cxnSpLocks noChangeShapeType="1"/>
            <a:stCxn id="2119688" idx="4"/>
            <a:endCxn id="2119692" idx="1"/>
          </p:cNvCxnSpPr>
          <p:nvPr/>
        </p:nvCxnSpPr>
        <p:spPr bwMode="auto">
          <a:xfrm>
            <a:off x="7269163" y="4230688"/>
            <a:ext cx="292100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02" name="AutoShape 22"/>
          <p:cNvCxnSpPr>
            <a:cxnSpLocks noChangeShapeType="1"/>
            <a:stCxn id="2119689" idx="4"/>
            <a:endCxn id="2119692" idx="7"/>
          </p:cNvCxnSpPr>
          <p:nvPr/>
        </p:nvCxnSpPr>
        <p:spPr bwMode="auto">
          <a:xfrm flipH="1">
            <a:off x="7810500" y="4230688"/>
            <a:ext cx="287338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03" name="AutoShape 23"/>
          <p:cNvCxnSpPr>
            <a:cxnSpLocks noChangeShapeType="1"/>
            <a:stCxn id="2119689" idx="4"/>
            <a:endCxn id="2119693" idx="1"/>
          </p:cNvCxnSpPr>
          <p:nvPr/>
        </p:nvCxnSpPr>
        <p:spPr bwMode="auto">
          <a:xfrm>
            <a:off x="8097838" y="4230688"/>
            <a:ext cx="292100" cy="61118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04" name="AutoShape 24"/>
          <p:cNvCxnSpPr>
            <a:cxnSpLocks noChangeShapeType="1"/>
            <a:stCxn id="2119684" idx="5"/>
            <a:endCxn id="2119688" idx="1"/>
          </p:cNvCxnSpPr>
          <p:nvPr/>
        </p:nvCxnSpPr>
        <p:spPr bwMode="auto">
          <a:xfrm>
            <a:off x="6453188" y="3192463"/>
            <a:ext cx="690562" cy="7461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sp>
        <p:nvSpPr>
          <p:cNvPr id="2119705" name="Text Box 25"/>
          <p:cNvSpPr txBox="1">
            <a:spLocks noChangeArrowheads="1"/>
          </p:cNvSpPr>
          <p:nvPr/>
        </p:nvSpPr>
        <p:spPr bwMode="auto">
          <a:xfrm>
            <a:off x="6797675" y="2109788"/>
            <a:ext cx="355600" cy="360362"/>
          </a:xfrm>
          <a:prstGeom prst="rect">
            <a:avLst/>
          </a:prstGeom>
          <a:solidFill>
            <a:srgbClr val="FFDBB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119706" name="Text Box 26"/>
          <p:cNvSpPr txBox="1">
            <a:spLocks noChangeArrowheads="1"/>
          </p:cNvSpPr>
          <p:nvPr/>
        </p:nvSpPr>
        <p:spPr bwMode="auto">
          <a:xfrm>
            <a:off x="7367588" y="2108200"/>
            <a:ext cx="355600" cy="360363"/>
          </a:xfrm>
          <a:prstGeom prst="rect">
            <a:avLst/>
          </a:prstGeom>
          <a:solidFill>
            <a:srgbClr val="E1F4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119707" name="Text Box 27"/>
          <p:cNvSpPr txBox="1">
            <a:spLocks noChangeArrowheads="1"/>
          </p:cNvSpPr>
          <p:nvPr/>
        </p:nvSpPr>
        <p:spPr bwMode="auto">
          <a:xfrm>
            <a:off x="7947025" y="2106613"/>
            <a:ext cx="355600" cy="360362"/>
          </a:xfrm>
          <a:prstGeom prst="rect">
            <a:avLst/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cxnSp>
        <p:nvCxnSpPr>
          <p:cNvPr id="2119708" name="AutoShape 28"/>
          <p:cNvCxnSpPr>
            <a:cxnSpLocks noChangeShapeType="1"/>
            <a:stCxn id="2119705" idx="2"/>
            <a:endCxn id="2119685" idx="0"/>
          </p:cNvCxnSpPr>
          <p:nvPr/>
        </p:nvCxnSpPr>
        <p:spPr bwMode="auto">
          <a:xfrm>
            <a:off x="6975475" y="2470150"/>
            <a:ext cx="238125" cy="4286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09" name="AutoShape 29"/>
          <p:cNvCxnSpPr>
            <a:cxnSpLocks noChangeShapeType="1"/>
            <a:stCxn id="2119705" idx="2"/>
            <a:endCxn id="2119686" idx="1"/>
          </p:cNvCxnSpPr>
          <p:nvPr/>
        </p:nvCxnSpPr>
        <p:spPr bwMode="auto">
          <a:xfrm>
            <a:off x="6975475" y="2470150"/>
            <a:ext cx="1027113" cy="4794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10" name="AutoShape 30"/>
          <p:cNvCxnSpPr>
            <a:cxnSpLocks noChangeShapeType="1"/>
            <a:stCxn id="2119706" idx="2"/>
            <a:endCxn id="2119686" idx="1"/>
          </p:cNvCxnSpPr>
          <p:nvPr/>
        </p:nvCxnSpPr>
        <p:spPr bwMode="auto">
          <a:xfrm>
            <a:off x="7545388" y="2468563"/>
            <a:ext cx="457200" cy="48101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11" name="AutoShape 31"/>
          <p:cNvCxnSpPr>
            <a:cxnSpLocks noChangeShapeType="1"/>
            <a:stCxn id="2119707" idx="2"/>
            <a:endCxn id="2119686" idx="0"/>
          </p:cNvCxnSpPr>
          <p:nvPr/>
        </p:nvCxnSpPr>
        <p:spPr bwMode="auto">
          <a:xfrm>
            <a:off x="8124825" y="2466975"/>
            <a:ext cx="3175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sp>
        <p:nvSpPr>
          <p:cNvPr id="2119712" name="Text Box 32"/>
          <p:cNvSpPr txBox="1">
            <a:spLocks noChangeArrowheads="1"/>
          </p:cNvSpPr>
          <p:nvPr/>
        </p:nvSpPr>
        <p:spPr bwMode="auto">
          <a:xfrm>
            <a:off x="6148388" y="2098675"/>
            <a:ext cx="3556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cxnSp>
        <p:nvCxnSpPr>
          <p:cNvPr id="2119713" name="AutoShape 33"/>
          <p:cNvCxnSpPr>
            <a:cxnSpLocks noChangeShapeType="1"/>
            <a:stCxn id="2119712" idx="2"/>
            <a:endCxn id="2119684" idx="0"/>
          </p:cNvCxnSpPr>
          <p:nvPr/>
        </p:nvCxnSpPr>
        <p:spPr bwMode="auto">
          <a:xfrm>
            <a:off x="6326188" y="2459038"/>
            <a:ext cx="3175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cxnSp>
        <p:nvCxnSpPr>
          <p:cNvPr id="2119714" name="AutoShape 34"/>
          <p:cNvCxnSpPr>
            <a:cxnSpLocks noChangeShapeType="1"/>
            <a:stCxn id="2119712" idx="2"/>
            <a:endCxn id="2119685" idx="1"/>
          </p:cNvCxnSpPr>
          <p:nvPr/>
        </p:nvCxnSpPr>
        <p:spPr bwMode="auto">
          <a:xfrm>
            <a:off x="6326188" y="2459038"/>
            <a:ext cx="762000" cy="490537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lg"/>
          </a:ln>
          <a:effectLst/>
        </p:spPr>
      </p:cxnSp>
      <p:sp>
        <p:nvSpPr>
          <p:cNvPr id="2119731" name="Text Box 51"/>
          <p:cNvSpPr txBox="1">
            <a:spLocks noChangeArrowheads="1"/>
          </p:cNvSpPr>
          <p:nvPr/>
        </p:nvSpPr>
        <p:spPr bwMode="auto">
          <a:xfrm>
            <a:off x="4108450" y="1604963"/>
            <a:ext cx="12731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200" i="1"/>
              <a:t>Example Layers</a:t>
            </a:r>
          </a:p>
        </p:txBody>
      </p:sp>
      <p:sp>
        <p:nvSpPr>
          <p:cNvPr id="2119732" name="Text Box 52"/>
          <p:cNvSpPr txBox="1">
            <a:spLocks noChangeArrowheads="1"/>
          </p:cNvSpPr>
          <p:nvPr/>
        </p:nvSpPr>
        <p:spPr bwMode="auto">
          <a:xfrm>
            <a:off x="4403725" y="2081213"/>
            <a:ext cx="140352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sv-SE" b="1" dirty="0"/>
              <a:t>Presentation</a:t>
            </a:r>
            <a:br>
              <a:rPr lang="sv-SE" b="1" dirty="0"/>
            </a:br>
            <a:r>
              <a:rPr lang="sv-SE" b="1" dirty="0"/>
              <a:t>&amp; workflow</a:t>
            </a:r>
          </a:p>
        </p:txBody>
      </p:sp>
      <p:sp>
        <p:nvSpPr>
          <p:cNvPr id="2119733" name="Text Box 53"/>
          <p:cNvSpPr txBox="1">
            <a:spLocks noChangeArrowheads="1"/>
          </p:cNvSpPr>
          <p:nvPr/>
        </p:nvSpPr>
        <p:spPr bwMode="auto">
          <a:xfrm>
            <a:off x="4402138" y="2946400"/>
            <a:ext cx="16176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sv-SE" b="1" dirty="0"/>
              <a:t>Composed Services</a:t>
            </a:r>
          </a:p>
        </p:txBody>
      </p:sp>
      <p:sp>
        <p:nvSpPr>
          <p:cNvPr id="2119734" name="Text Box 54"/>
          <p:cNvSpPr txBox="1">
            <a:spLocks noChangeArrowheads="1"/>
          </p:cNvSpPr>
          <p:nvPr/>
        </p:nvSpPr>
        <p:spPr bwMode="auto">
          <a:xfrm>
            <a:off x="4410075" y="3840163"/>
            <a:ext cx="15011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dirty="0"/>
              <a:t>Basic Services</a:t>
            </a:r>
          </a:p>
        </p:txBody>
      </p:sp>
      <p:sp>
        <p:nvSpPr>
          <p:cNvPr id="2119735" name="Text Box 55"/>
          <p:cNvSpPr txBox="1">
            <a:spLocks noChangeArrowheads="1"/>
          </p:cNvSpPr>
          <p:nvPr/>
        </p:nvSpPr>
        <p:spPr bwMode="auto">
          <a:xfrm>
            <a:off x="4408488" y="4705350"/>
            <a:ext cx="128592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b="1" dirty="0"/>
              <a:t>Underlying </a:t>
            </a:r>
            <a:br>
              <a:rPr lang="en-US" b="1" dirty="0"/>
            </a:br>
            <a:r>
              <a:rPr lang="en-US" b="1" dirty="0"/>
              <a:t>API</a:t>
            </a:r>
          </a:p>
        </p:txBody>
      </p:sp>
      <p:sp>
        <p:nvSpPr>
          <p:cNvPr id="2119736" name="Text Box 56"/>
          <p:cNvSpPr txBox="1">
            <a:spLocks noChangeArrowheads="1"/>
          </p:cNvSpPr>
          <p:nvPr/>
        </p:nvSpPr>
        <p:spPr bwMode="auto">
          <a:xfrm>
            <a:off x="6886575" y="6162675"/>
            <a:ext cx="21145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i="1"/>
              <a:t>according to:TietoEnator AB, Kurts Bilder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-55454"/>
            <a:ext cx="7543800" cy="1450757"/>
          </a:xfrm>
        </p:spPr>
        <p:txBody>
          <a:bodyPr/>
          <a:lstStyle/>
          <a:p>
            <a:r>
              <a:rPr lang="en-US" dirty="0"/>
              <a:t>SOA is an evolutionary step</a:t>
            </a:r>
          </a:p>
        </p:txBody>
      </p:sp>
      <p:pic>
        <p:nvPicPr>
          <p:cNvPr id="211558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39825" y="1860550"/>
            <a:ext cx="6743700" cy="4327525"/>
          </a:xfrm>
          <a:noFill/>
          <a:ln/>
        </p:spPr>
      </p:pic>
      <p:sp>
        <p:nvSpPr>
          <p:cNvPr id="2115588" name="Rectangle 4"/>
          <p:cNvSpPr>
            <a:spLocks noChangeArrowheads="1"/>
          </p:cNvSpPr>
          <p:nvPr/>
        </p:nvSpPr>
        <p:spPr bwMode="auto">
          <a:xfrm>
            <a:off x="533400" y="1146175"/>
            <a:ext cx="8153400" cy="50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342900" indent="-342900" algn="l">
              <a:spcBef>
                <a:spcPct val="10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sz="2400" dirty="0"/>
              <a:t>for architecture</a:t>
            </a:r>
          </a:p>
          <a:p>
            <a:pPr marL="342900" indent="-342900" algn="l">
              <a:spcBef>
                <a:spcPct val="10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en-US" sz="18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84996"/>
          </a:xfrm>
        </p:spPr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648200" cy="5105400"/>
          </a:xfrm>
        </p:spPr>
        <p:txBody>
          <a:bodyPr>
            <a:normAutofit/>
          </a:bodyPr>
          <a:lstStyle/>
          <a:p>
            <a:r>
              <a:rPr lang="en-US" dirty="0"/>
              <a:t>An online travel agency system</a:t>
            </a:r>
          </a:p>
          <a:p>
            <a:r>
              <a:rPr lang="en-US" dirty="0"/>
              <a:t>It consists of four existing web services: </a:t>
            </a:r>
          </a:p>
          <a:p>
            <a:pPr lvl="1"/>
            <a:r>
              <a:rPr lang="en-US" dirty="0"/>
              <a:t>airline reservation,	</a:t>
            </a:r>
          </a:p>
          <a:p>
            <a:pPr lvl="1"/>
            <a:r>
              <a:rPr lang="en-US" dirty="0"/>
              <a:t>car rental, </a:t>
            </a:r>
          </a:p>
          <a:p>
            <a:pPr lvl="1"/>
            <a:r>
              <a:rPr lang="en-US" dirty="0"/>
              <a:t>hotel reservation, </a:t>
            </a:r>
          </a:p>
          <a:p>
            <a:pPr lvl="1"/>
            <a:r>
              <a:rPr lang="en-US" dirty="0"/>
              <a:t>and attraction reservation.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4817" t="26042" r="16032" b="6250"/>
          <a:stretch>
            <a:fillRect/>
          </a:stretch>
        </p:blipFill>
        <p:spPr bwMode="auto">
          <a:xfrm>
            <a:off x="3962400" y="2330513"/>
            <a:ext cx="4953000" cy="3187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SOA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to build business applications faster and more easily</a:t>
            </a:r>
          </a:p>
          <a:p>
            <a:r>
              <a:rPr lang="fr-FR" dirty="0" err="1"/>
              <a:t>Easier</a:t>
            </a:r>
            <a:r>
              <a:rPr lang="fr-FR" dirty="0"/>
              <a:t> maintenance / update</a:t>
            </a:r>
          </a:p>
          <a:p>
            <a:r>
              <a:rPr lang="en-US" dirty="0"/>
              <a:t>Business agility and extensibility</a:t>
            </a:r>
          </a:p>
          <a:p>
            <a:r>
              <a:rPr lang="en-US" dirty="0"/>
              <a:t>Lower total cost of ownership</a:t>
            </a:r>
          </a:p>
          <a:p>
            <a:endParaRPr lang="en-US" dirty="0"/>
          </a:p>
          <a:p>
            <a:endParaRPr lang="fr-FR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architectures</a:t>
            </a:r>
          </a:p>
          <a:p>
            <a:pPr lvl="1"/>
            <a:r>
              <a:rPr lang="en-US" dirty="0"/>
              <a:t>Service Oriented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1100</TotalTime>
  <Words>967</Words>
  <Application>Microsoft Office PowerPoint</Application>
  <PresentationFormat>On-screen Show (4:3)</PresentationFormat>
  <Paragraphs>158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Retrospect</vt:lpstr>
      <vt:lpstr>SOFTWARE DESIGN AND ARCHITECTURE</vt:lpstr>
      <vt:lpstr>Review</vt:lpstr>
      <vt:lpstr>Outline</vt:lpstr>
      <vt:lpstr>Distributed Software Architecture </vt:lpstr>
      <vt:lpstr>Distributed Software Architecture</vt:lpstr>
      <vt:lpstr>Service Oriented Architecture</vt:lpstr>
      <vt:lpstr>Service</vt:lpstr>
      <vt:lpstr>Service Oriented Architecture (SOA)</vt:lpstr>
      <vt:lpstr>Service orientation</vt:lpstr>
      <vt:lpstr>Banking example</vt:lpstr>
      <vt:lpstr>SOA Defined</vt:lpstr>
      <vt:lpstr>Service Discovery</vt:lpstr>
      <vt:lpstr>Key aspects of services</vt:lpstr>
      <vt:lpstr>Key aspects of services</vt:lpstr>
      <vt:lpstr>What is Service Architecture?</vt:lpstr>
      <vt:lpstr>Need for SOA</vt:lpstr>
      <vt:lpstr>Need for SOA</vt:lpstr>
      <vt:lpstr>Types of Services</vt:lpstr>
      <vt:lpstr>Types of Services</vt:lpstr>
      <vt:lpstr>Types of Services</vt:lpstr>
      <vt:lpstr>Service Architecture Organized by Layers</vt:lpstr>
      <vt:lpstr>SOA is an evolutionary step</vt:lpstr>
      <vt:lpstr>Another example</vt:lpstr>
      <vt:lpstr>SOA Benefits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87</cp:revision>
  <dcterms:created xsi:type="dcterms:W3CDTF">2015-07-31T14:09:29Z</dcterms:created>
  <dcterms:modified xsi:type="dcterms:W3CDTF">2024-10-13T10:18:18Z</dcterms:modified>
</cp:coreProperties>
</file>