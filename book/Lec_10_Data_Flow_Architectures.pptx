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8"/>
  </p:notesMasterIdLst>
  <p:sldIdLst>
    <p:sldId id="320" r:id="rId2"/>
    <p:sldId id="367" r:id="rId3"/>
    <p:sldId id="390" r:id="rId4"/>
    <p:sldId id="376" r:id="rId5"/>
    <p:sldId id="391" r:id="rId6"/>
    <p:sldId id="409" r:id="rId7"/>
    <p:sldId id="410" r:id="rId8"/>
    <p:sldId id="411" r:id="rId9"/>
    <p:sldId id="408" r:id="rId10"/>
    <p:sldId id="392" r:id="rId11"/>
    <p:sldId id="393" r:id="rId12"/>
    <p:sldId id="412" r:id="rId13"/>
    <p:sldId id="413" r:id="rId14"/>
    <p:sldId id="414" r:id="rId15"/>
    <p:sldId id="394" r:id="rId16"/>
    <p:sldId id="415" r:id="rId17"/>
    <p:sldId id="395" r:id="rId18"/>
    <p:sldId id="416" r:id="rId19"/>
    <p:sldId id="424" r:id="rId20"/>
    <p:sldId id="420" r:id="rId21"/>
    <p:sldId id="417" r:id="rId22"/>
    <p:sldId id="418" r:id="rId23"/>
    <p:sldId id="397" r:id="rId24"/>
    <p:sldId id="419" r:id="rId25"/>
    <p:sldId id="399" r:id="rId26"/>
    <p:sldId id="400" r:id="rId27"/>
    <p:sldId id="401" r:id="rId28"/>
    <p:sldId id="402" r:id="rId29"/>
    <p:sldId id="403" r:id="rId30"/>
    <p:sldId id="404" r:id="rId31"/>
    <p:sldId id="405" r:id="rId32"/>
    <p:sldId id="421" r:id="rId33"/>
    <p:sldId id="422" r:id="rId34"/>
    <p:sldId id="423" r:id="rId35"/>
    <p:sldId id="407" r:id="rId36"/>
    <p:sldId id="328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0D3D8-FE8C-4948-89FA-4A31366A4612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87A72-AE6E-4F97-A386-96D2D976BC4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472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842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237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85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2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2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82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31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1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20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5674ED9-745F-4B40-A9C6-03AEE5B8ECEC}" type="datetimeFigureOut">
              <a:rPr lang="en-US" smtClean="0"/>
              <a:pPr/>
              <a:t>10/20/2024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67BDE92-96A6-471A-9FB7-29D1BE3A80D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20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SOFTWARE DESIGN AND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Instructor: M Faizan Khan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A6FFBB-41A3-3B95-80D4-FE9FF5D89A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297" y="375023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Architectures</a:t>
            </a:r>
          </a:p>
          <a:p>
            <a:pPr lvl="1"/>
            <a:r>
              <a:rPr lang="en-US" dirty="0"/>
              <a:t>Service Oriented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Flow Architectures</a:t>
            </a:r>
          </a:p>
          <a:p>
            <a:pPr lvl="1"/>
            <a:r>
              <a:rPr lang="en-US" dirty="0"/>
              <a:t>Batch Sequential</a:t>
            </a:r>
          </a:p>
          <a:p>
            <a:pPr lvl="1"/>
            <a:r>
              <a:rPr lang="en-US" dirty="0"/>
              <a:t>Pipe and Filter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flow Software Architecture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Flow Architectures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data flow software architecture style views the entire software system as a series of transformations on successive sets of data, where data and operations on it are independent of each other.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software system is decomposed into data processing elements where data directs and controls the order of data computation processing.</a:t>
            </a:r>
          </a:p>
        </p:txBody>
      </p:sp>
    </p:spTree>
    <p:extLst>
      <p:ext uri="{BB962C8B-B14F-4D97-AF65-F5344CB8AC3E}">
        <p14:creationId xmlns:p14="http://schemas.microsoft.com/office/powerpoint/2010/main" val="2015115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Flow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Each component in this architecture transforms its input data into corresponding output data.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connection between the subsystem components may be implemented as I/O streams, I/O files, buffers, piped streams, or other types of connections.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Flow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Regardless of the type of topology, the data moves from one subsystem to another.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general, there is no interaction between the modules except for the output and the input data connections between subsystems.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Flow Architectures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One subsystem can be substituted by another without affecting the rest of the system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Since each subsystem does not need to know the identity of any other subsystem, modifiability and reusability are important property attributes of the data flow architecture.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Batch sequential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Batch – Sequential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In batch sequential architecture, each data transformation subsystem or module cannot start its process until its previous subsystem completes its computation.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Data flow carries a batch of data as a whole from one subsystem to another.</a:t>
            </a:r>
          </a:p>
        </p:txBody>
      </p:sp>
    </p:spTree>
    <p:extLst>
      <p:ext uri="{BB962C8B-B14F-4D97-AF65-F5344CB8AC3E}">
        <p14:creationId xmlns:p14="http://schemas.microsoft.com/office/powerpoint/2010/main" val="383509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91200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First subsystem validates the transaction requests (insert, delete, and update) in their totality.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Next, the second subsystem sorts all transaction records in an ascending order on the primary key of data records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transaction update module updates the master file with the sorted transaction requests, and then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report module generates a new list.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architecture is in a linear data flow order.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2" t="42677" r="39568" b="34406"/>
          <a:stretch/>
        </p:blipFill>
        <p:spPr bwMode="auto">
          <a:xfrm>
            <a:off x="228600" y="3124200"/>
            <a:ext cx="8915400" cy="2167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5479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1" y="685800"/>
            <a:ext cx="7543800" cy="145075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Applicable domains of batch sequential architecture: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• Data are batched.</a:t>
            </a:r>
          </a:p>
          <a:p>
            <a:pPr>
              <a:buNone/>
            </a:pPr>
            <a:r>
              <a:rPr lang="en-US" dirty="0"/>
              <a:t>• Intermediate file is a sequential access file.</a:t>
            </a:r>
          </a:p>
          <a:p>
            <a:pPr>
              <a:buNone/>
            </a:pPr>
            <a:r>
              <a:rPr lang="en-US" dirty="0"/>
              <a:t>• Each subsystem reads related input files and writes output files.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• Simple divisions on subsystems.</a:t>
            </a:r>
          </a:p>
          <a:p>
            <a:pPr>
              <a:buNone/>
            </a:pPr>
            <a:r>
              <a:rPr lang="en-US" dirty="0"/>
              <a:t>• Each subsystem can be a stand-alone program working on input data and producing output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• Implementation requires external control.</a:t>
            </a:r>
          </a:p>
          <a:p>
            <a:pPr>
              <a:buNone/>
            </a:pPr>
            <a:r>
              <a:rPr lang="en-US" dirty="0"/>
              <a:t>• It does not provide interactive interface.</a:t>
            </a:r>
          </a:p>
          <a:p>
            <a:pPr>
              <a:buNone/>
            </a:pPr>
            <a:r>
              <a:rPr lang="en-US" dirty="0"/>
              <a:t>• Concurrency is not supported and hence throughput remains low</a:t>
            </a:r>
          </a:p>
          <a:p>
            <a:pPr>
              <a:buNone/>
            </a:pPr>
            <a:r>
              <a:rPr lang="en-US" dirty="0"/>
              <a:t>• High latency.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Pipes-and-Filters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 and Filter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This architecture decomposes the whole system into components of data source, filters, pipes, and data sinks.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connections between components are data streams.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particular property attribute of the pipe and filter architecture is its concurrent and incremented execution.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Pipes-and-Filters Style</a:t>
            </a:r>
          </a:p>
        </p:txBody>
      </p:sp>
      <p:sp>
        <p:nvSpPr>
          <p:cNvPr id="178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Suitable for applications that require a defined series of independent computations to be performed on data.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component has  a set of inputs and set of outputs.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A component reads a stream of data on its input and produces stream of data at its output.</a:t>
            </a:r>
          </a:p>
          <a:p>
            <a:pPr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Each filter is an independent data stream transformer; </a:t>
            </a:r>
          </a:p>
          <a:p>
            <a:pPr lvl="1" algn="just"/>
            <a:r>
              <a:rPr lang="en-US" dirty="0"/>
              <a:t>it reads data from its input data stream, transforms and processes it, and then</a:t>
            </a:r>
          </a:p>
          <a:p>
            <a:pPr lvl="1" algn="just"/>
            <a:r>
              <a:rPr lang="en-US" dirty="0"/>
              <a:t>writes the transformed data stream over a pipe for the next filter to process. </a:t>
            </a:r>
          </a:p>
          <a:p>
            <a:pPr lvl="1"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filter does not need to wait for batched data as a whole.</a:t>
            </a:r>
          </a:p>
          <a:p>
            <a:pPr lvl="1" algn="just"/>
            <a:r>
              <a:rPr lang="en-US" dirty="0"/>
              <a:t>As soon as the data arrives through the connected pipe, the filter can start working right away. </a:t>
            </a:r>
          </a:p>
          <a:p>
            <a:pPr lvl="1" algn="just"/>
            <a:endParaRPr lang="en-US" dirty="0"/>
          </a:p>
          <a:p>
            <a:pPr algn="just"/>
            <a:r>
              <a:rPr lang="en-US" dirty="0"/>
              <a:t>A filter does not even know the identity of data upstream or data downstream. </a:t>
            </a:r>
          </a:p>
          <a:p>
            <a:pPr lvl="1" algn="just"/>
            <a:r>
              <a:rPr lang="en-US" dirty="0"/>
              <a:t>A filter is just working in a local incremental mode.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Active and Passive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An active filter pulls in data and pushes out the transformed data (pull/push);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 passive filter lets connected pipes push data in and pull data out.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The connectors serve as channels for the streams, transmitting outputs of one filter to inputs of the other.</a:t>
            </a:r>
          </a:p>
          <a:p>
            <a:pPr lvl="1" algn="just"/>
            <a:r>
              <a:rPr lang="en-US" sz="2400" dirty="0"/>
              <a:t>This makes connectors act as </a:t>
            </a:r>
            <a:r>
              <a:rPr lang="en-US" sz="2400" b="1" dirty="0"/>
              <a:t>Pipes</a:t>
            </a:r>
            <a:r>
              <a:rPr lang="en-US" sz="2400" dirty="0"/>
              <a:t>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Pipes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pipe moves a data stream from one filter to another.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pipe can carry binary or character streams.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pipe is placed between two filters; these filters can run in separate threads of the same process.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Structure</a:t>
            </a:r>
          </a:p>
        </p:txBody>
      </p:sp>
      <p:pic>
        <p:nvPicPr>
          <p:cNvPr id="1802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62200"/>
            <a:ext cx="9144000" cy="231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three ways to make the data flow: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only (Write only)</a:t>
            </a:r>
          </a:p>
          <a:p>
            <a:pPr lvl="1"/>
            <a:r>
              <a:rPr lang="en-US" dirty="0"/>
              <a:t>A data source may push data in a downstream.</a:t>
            </a:r>
          </a:p>
          <a:p>
            <a:pPr lvl="1"/>
            <a:r>
              <a:rPr lang="en-US" dirty="0"/>
              <a:t>A filter may push data in a downstream.</a:t>
            </a:r>
          </a:p>
          <a:p>
            <a:endParaRPr lang="en-US" dirty="0"/>
          </a:p>
          <a:p>
            <a:r>
              <a:rPr lang="en-US" dirty="0"/>
              <a:t>Pull only (Read only)</a:t>
            </a:r>
          </a:p>
          <a:p>
            <a:pPr lvl="1"/>
            <a:r>
              <a:rPr lang="en-US" dirty="0"/>
              <a:t>A data sink may pull data from an upstream.</a:t>
            </a:r>
          </a:p>
          <a:p>
            <a:pPr lvl="1"/>
            <a:r>
              <a:rPr lang="en-US" dirty="0"/>
              <a:t>A filter may pull data from an upstream.</a:t>
            </a:r>
          </a:p>
          <a:p>
            <a:endParaRPr lang="en-US" dirty="0"/>
          </a:p>
          <a:p>
            <a:r>
              <a:rPr lang="en-US" dirty="0"/>
              <a:t>Pull/Push (Read/Write)</a:t>
            </a:r>
          </a:p>
          <a:p>
            <a:pPr lvl="1"/>
            <a:r>
              <a:rPr lang="en-US" dirty="0"/>
              <a:t>A filter may pull data from an upstream and push transformed data in a downstream.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Examples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306228" y="2133600"/>
            <a:ext cx="8577263" cy="42672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1" u="sng" dirty="0"/>
              <a:t>Traditional Compilers:</a:t>
            </a:r>
            <a:r>
              <a:rPr lang="en-US" dirty="0"/>
              <a:t>	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Compilation phases are pipelined, though the phases are not always incremental.  The phases in the pipeline include: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i="1" dirty="0"/>
              <a:t>lexical analysis + syntax analysis (parsing) + semantic analysis + code optimization + code generation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086600" cy="1219200"/>
          </a:xfrm>
        </p:spPr>
        <p:txBody>
          <a:bodyPr>
            <a:normAutofit/>
          </a:bodyPr>
          <a:lstStyle/>
          <a:p>
            <a:r>
              <a:rPr lang="en-US" sz="4000" b="1" dirty="0"/>
              <a:t>Example: </a:t>
            </a:r>
            <a:br>
              <a:rPr lang="en-US" sz="4000" b="1" dirty="0"/>
            </a:br>
            <a:r>
              <a:rPr lang="en-US" sz="4000" b="1" dirty="0"/>
              <a:t>Architecture of a Compiler</a:t>
            </a:r>
          </a:p>
        </p:txBody>
      </p:sp>
      <p:sp>
        <p:nvSpPr>
          <p:cNvPr id="183299" name="Rectangle 3"/>
          <p:cNvSpPr>
            <a:spLocks noGrp="1" noChangeArrowheads="1"/>
          </p:cNvSpPr>
          <p:nvPr>
            <p:ph idx="1"/>
          </p:nvPr>
        </p:nvSpPr>
        <p:spPr>
          <a:xfrm>
            <a:off x="566738" y="2514600"/>
            <a:ext cx="8272462" cy="35052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Compilation is regarded as a sequential (pipeline) process.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Every phase is dependent on some data on the preceding phase.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28600" y="4953000"/>
            <a:ext cx="8775700" cy="914400"/>
            <a:chOff x="192" y="2736"/>
            <a:chExt cx="5528" cy="576"/>
          </a:xfrm>
        </p:grpSpPr>
        <p:sp>
          <p:nvSpPr>
            <p:cNvPr id="183301" name="Rectangle 5"/>
            <p:cNvSpPr>
              <a:spLocks noChangeArrowheads="1"/>
            </p:cNvSpPr>
            <p:nvPr/>
          </p:nvSpPr>
          <p:spPr bwMode="auto">
            <a:xfrm>
              <a:off x="720" y="2736"/>
              <a:ext cx="624" cy="576"/>
            </a:xfrm>
            <a:prstGeom prst="rect">
              <a:avLst/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solidFill>
                    <a:schemeClr val="bg1"/>
                  </a:solidFill>
                  <a:latin typeface="Comic Sans MS" pitchFamily="66" charset="0"/>
                </a:rPr>
                <a:t>Lex</a:t>
              </a:r>
              <a:endParaRPr lang="en-US" sz="2400" b="1">
                <a:latin typeface="Comic Sans MS" pitchFamily="66" charset="0"/>
              </a:endParaRPr>
            </a:p>
          </p:txBody>
        </p:sp>
        <p:sp>
          <p:nvSpPr>
            <p:cNvPr id="183302" name="Rectangle 6"/>
            <p:cNvSpPr>
              <a:spLocks noChangeArrowheads="1"/>
            </p:cNvSpPr>
            <p:nvPr/>
          </p:nvSpPr>
          <p:spPr bwMode="auto">
            <a:xfrm>
              <a:off x="1680" y="2736"/>
              <a:ext cx="624" cy="576"/>
            </a:xfrm>
            <a:prstGeom prst="rect">
              <a:avLst/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solidFill>
                    <a:schemeClr val="bg1"/>
                  </a:solidFill>
                  <a:latin typeface="Comic Sans MS" pitchFamily="66" charset="0"/>
                </a:rPr>
                <a:t>Syn</a:t>
              </a:r>
              <a:endParaRPr lang="en-US" sz="2400" b="1">
                <a:latin typeface="Comic Sans MS" pitchFamily="66" charset="0"/>
              </a:endParaRPr>
            </a:p>
          </p:txBody>
        </p:sp>
        <p:sp>
          <p:nvSpPr>
            <p:cNvPr id="183303" name="Rectangle 7"/>
            <p:cNvSpPr>
              <a:spLocks noChangeArrowheads="1"/>
            </p:cNvSpPr>
            <p:nvPr/>
          </p:nvSpPr>
          <p:spPr bwMode="auto">
            <a:xfrm>
              <a:off x="2640" y="2736"/>
              <a:ext cx="624" cy="576"/>
            </a:xfrm>
            <a:prstGeom prst="rect">
              <a:avLst/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solidFill>
                    <a:schemeClr val="bg1"/>
                  </a:solidFill>
                  <a:latin typeface="Comic Sans MS" pitchFamily="66" charset="0"/>
                </a:rPr>
                <a:t>Sem</a:t>
              </a:r>
              <a:endParaRPr lang="en-US" sz="2400" b="1">
                <a:latin typeface="Comic Sans MS" pitchFamily="66" charset="0"/>
              </a:endParaRPr>
            </a:p>
          </p:txBody>
        </p:sp>
        <p:sp>
          <p:nvSpPr>
            <p:cNvPr id="183304" name="Rectangle 8"/>
            <p:cNvSpPr>
              <a:spLocks noChangeArrowheads="1"/>
            </p:cNvSpPr>
            <p:nvPr/>
          </p:nvSpPr>
          <p:spPr bwMode="auto">
            <a:xfrm>
              <a:off x="3600" y="2736"/>
              <a:ext cx="624" cy="576"/>
            </a:xfrm>
            <a:prstGeom prst="rect">
              <a:avLst/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solidFill>
                    <a:schemeClr val="bg1"/>
                  </a:solidFill>
                  <a:latin typeface="Comic Sans MS" pitchFamily="66" charset="0"/>
                </a:rPr>
                <a:t>Opt</a:t>
              </a:r>
              <a:endParaRPr lang="en-US" sz="2400" b="1">
                <a:latin typeface="Comic Sans MS" pitchFamily="66" charset="0"/>
              </a:endParaRPr>
            </a:p>
          </p:txBody>
        </p:sp>
        <p:sp>
          <p:nvSpPr>
            <p:cNvPr id="183305" name="Rectangle 9"/>
            <p:cNvSpPr>
              <a:spLocks noChangeArrowheads="1"/>
            </p:cNvSpPr>
            <p:nvPr/>
          </p:nvSpPr>
          <p:spPr bwMode="auto">
            <a:xfrm>
              <a:off x="4560" y="2736"/>
              <a:ext cx="624" cy="576"/>
            </a:xfrm>
            <a:prstGeom prst="rect">
              <a:avLst/>
            </a:prstGeom>
            <a:solidFill>
              <a:srgbClr val="00808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algn="ctr" eaLnBrk="0" hangingPunct="0"/>
              <a:r>
                <a:rPr lang="en-US" sz="2400" b="1">
                  <a:solidFill>
                    <a:schemeClr val="bg1"/>
                  </a:solidFill>
                  <a:latin typeface="Comic Sans MS" pitchFamily="66" charset="0"/>
                </a:rPr>
                <a:t>CGen</a:t>
              </a:r>
              <a:endParaRPr lang="en-US" sz="2400" b="1">
                <a:latin typeface="Comic Sans MS" pitchFamily="66" charset="0"/>
              </a:endParaRPr>
            </a:p>
          </p:txBody>
        </p:sp>
        <p:sp>
          <p:nvSpPr>
            <p:cNvPr id="183306" name="Text Box 10"/>
            <p:cNvSpPr txBox="1">
              <a:spLocks noChangeArrowheads="1"/>
            </p:cNvSpPr>
            <p:nvPr/>
          </p:nvSpPr>
          <p:spPr bwMode="auto">
            <a:xfrm>
              <a:off x="192" y="2761"/>
              <a:ext cx="51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400" b="1">
                  <a:latin typeface="Comic Sans MS" pitchFamily="66" charset="0"/>
                </a:rPr>
                <a:t>text</a:t>
              </a:r>
            </a:p>
          </p:txBody>
        </p:sp>
        <p:sp>
          <p:nvSpPr>
            <p:cNvPr id="183307" name="Text Box 11"/>
            <p:cNvSpPr txBox="1">
              <a:spLocks noChangeArrowheads="1"/>
            </p:cNvSpPr>
            <p:nvPr/>
          </p:nvSpPr>
          <p:spPr bwMode="auto">
            <a:xfrm>
              <a:off x="5184" y="2736"/>
              <a:ext cx="536" cy="288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400" b="1">
                  <a:latin typeface="Comic Sans MS" pitchFamily="66" charset="0"/>
                </a:rPr>
                <a:t>code</a:t>
              </a:r>
            </a:p>
          </p:txBody>
        </p:sp>
        <p:sp>
          <p:nvSpPr>
            <p:cNvPr id="183308" name="Line 12"/>
            <p:cNvSpPr>
              <a:spLocks noChangeShapeType="1"/>
            </p:cNvSpPr>
            <p:nvPr/>
          </p:nvSpPr>
          <p:spPr bwMode="auto">
            <a:xfrm>
              <a:off x="384" y="3049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309" name="Line 13"/>
            <p:cNvSpPr>
              <a:spLocks noChangeShapeType="1"/>
            </p:cNvSpPr>
            <p:nvPr/>
          </p:nvSpPr>
          <p:spPr bwMode="auto">
            <a:xfrm>
              <a:off x="1344" y="3024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310" name="Line 14"/>
            <p:cNvSpPr>
              <a:spLocks noChangeShapeType="1"/>
            </p:cNvSpPr>
            <p:nvPr/>
          </p:nvSpPr>
          <p:spPr bwMode="auto">
            <a:xfrm>
              <a:off x="2304" y="3017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311" name="Line 15"/>
            <p:cNvSpPr>
              <a:spLocks noChangeShapeType="1"/>
            </p:cNvSpPr>
            <p:nvPr/>
          </p:nvSpPr>
          <p:spPr bwMode="auto">
            <a:xfrm>
              <a:off x="3264" y="3025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312" name="Line 16"/>
            <p:cNvSpPr>
              <a:spLocks noChangeShapeType="1"/>
            </p:cNvSpPr>
            <p:nvPr/>
          </p:nvSpPr>
          <p:spPr bwMode="auto">
            <a:xfrm>
              <a:off x="4224" y="3017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3313" name="Line 17"/>
            <p:cNvSpPr>
              <a:spLocks noChangeShapeType="1"/>
            </p:cNvSpPr>
            <p:nvPr/>
          </p:nvSpPr>
          <p:spPr bwMode="auto">
            <a:xfrm>
              <a:off x="5184" y="3025"/>
              <a:ext cx="3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system might consist of a pipeline of processing elements similar to the following: </a:t>
            </a:r>
          </a:p>
          <a:p>
            <a:pPr lvl="1" algn="just"/>
            <a:r>
              <a:rPr lang="en-US" dirty="0"/>
              <a:t>A </a:t>
            </a:r>
            <a:r>
              <a:rPr lang="en-US" b="1" i="1" dirty="0"/>
              <a:t>source</a:t>
            </a:r>
            <a:r>
              <a:rPr lang="en-US" dirty="0"/>
              <a:t> element reads the program text (i.e., source code) from a file (or perhaps a sequence of files) as a stream of characters.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 </a:t>
            </a:r>
            <a:r>
              <a:rPr lang="en-US" b="1" i="1" dirty="0"/>
              <a:t>lexical analyzer</a:t>
            </a:r>
            <a:r>
              <a:rPr lang="en-US" dirty="0"/>
              <a:t> converts the stream of characters into a stream of lexical tokens for the language--keywords, identifier symbols, operator symbols, etc.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 </a:t>
            </a:r>
            <a:r>
              <a:rPr lang="en-US" b="1" i="1" dirty="0"/>
              <a:t>parser</a:t>
            </a:r>
            <a:r>
              <a:rPr lang="en-US" dirty="0"/>
              <a:t> recognizes a sequence of tokens that conforms to the language grammar and translates the sequence to an abstract syntax tree. 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dirty="0"/>
              <a:t>A </a:t>
            </a:r>
            <a:r>
              <a:rPr lang="en-US" b="1" i="1" dirty="0"/>
              <a:t>"semantic" analyzer</a:t>
            </a:r>
            <a:r>
              <a:rPr lang="en-US" dirty="0"/>
              <a:t> reads the abstract syntax tree and writes an appropriately augmented abstract syntax tree.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 A </a:t>
            </a:r>
            <a:r>
              <a:rPr lang="en-US" b="1" i="1" dirty="0"/>
              <a:t>global optimizer</a:t>
            </a:r>
            <a:r>
              <a:rPr lang="en-US" dirty="0"/>
              <a:t> (usually optionally invoked) reads an augmented syntax tree and outputs one that is equivalent but corresponds to program that is more efficient in space and time resource usage. 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An </a:t>
            </a:r>
            <a:r>
              <a:rPr lang="en-US" b="1" i="1" dirty="0"/>
              <a:t>intermediate code generator</a:t>
            </a:r>
            <a:r>
              <a:rPr lang="en-US" dirty="0"/>
              <a:t> translates the augmented syntax tree to a sequence of instructions for a virtual machine.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algn="just"/>
            <a:r>
              <a:rPr lang="en-US" dirty="0"/>
              <a:t>A </a:t>
            </a:r>
            <a:r>
              <a:rPr lang="en-US" b="1" i="1" dirty="0"/>
              <a:t>local optimizer</a:t>
            </a:r>
            <a:r>
              <a:rPr lang="en-US" dirty="0"/>
              <a:t> converts the sequence of intermediate code (i.e., virtual machine) instructions into a more efficient sequence. 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A </a:t>
            </a:r>
            <a:r>
              <a:rPr lang="en-US" b="1" i="1" dirty="0"/>
              <a:t>backend code generator</a:t>
            </a:r>
            <a:r>
              <a:rPr lang="en-US" dirty="0"/>
              <a:t> translates the sequence of virtual machine instructions into a sequence of instructions for some real machine platform (i.e., for some particular hardware processor augmented by operating system calls and a runtime library).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If the previous step generated symbolic assembly code, then an </a:t>
            </a:r>
            <a:r>
              <a:rPr lang="en-US" sz="2400" b="1" i="1" dirty="0"/>
              <a:t>assembler</a:t>
            </a:r>
            <a:r>
              <a:rPr lang="en-US" sz="2400" dirty="0"/>
              <a:t> is needed to translate the sequence of symbolic instructions into a </a:t>
            </a:r>
            <a:r>
              <a:rPr lang="en-US" sz="2400" dirty="0" err="1"/>
              <a:t>relocatable</a:t>
            </a:r>
            <a:r>
              <a:rPr lang="en-US" sz="2400" dirty="0"/>
              <a:t> binary module.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If the previous steps of the pipeline generated a sequence of separate binary modules, then a </a:t>
            </a:r>
            <a:r>
              <a:rPr lang="en-US" sz="2400" b="1" i="1" dirty="0"/>
              <a:t>linker</a:t>
            </a:r>
            <a:r>
              <a:rPr lang="en-US" sz="2400" dirty="0"/>
              <a:t> might be needed to bind the separate modules with library modules to form a single executable (i.e., object code) module.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A </a:t>
            </a:r>
            <a:r>
              <a:rPr lang="en-US" sz="2400" b="1" i="1" dirty="0"/>
              <a:t>sink</a:t>
            </a:r>
            <a:r>
              <a:rPr lang="en-US" sz="2400" dirty="0"/>
              <a:t> element outputs the resulting binary module into a file.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l="9956" t="27100" r="9224" b="26287"/>
          <a:stretch>
            <a:fillRect/>
          </a:stretch>
        </p:blipFill>
        <p:spPr bwMode="auto">
          <a:xfrm>
            <a:off x="609600" y="2209800"/>
            <a:ext cx="77724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Applicable domains of pipe and filter architecture: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37360"/>
            <a:ext cx="8458200" cy="4815839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system can be broken into a series of processing steps over data streams, and at each step filters consume and move data incrementally.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The data format on the data streams is simple, stable, and adaptable if necessary.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Significant work can be pipelined to gain increased performance.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Producer or consumer-related problems are being addressed.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Concurrency: It provides high overall throughput for excessive data processing.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Reusability: Encapsulation of filters makes it easy to plug and play, and to substitute.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Flexibility: It supports both sequential and parallel execution.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Benefits</a:t>
            </a:r>
            <a:r>
              <a:rPr 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Modifiability: It features low coupling between filters, less impact from adding new filters, and modifying the implementation of any existing filters as long as the I/O interfaces are unchanged.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Simplicity: It offers clear division between any two filters connected by a pipe.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Disadvantages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idx="1"/>
          </p:nvPr>
        </p:nvSpPr>
        <p:spPr>
          <a:xfrm>
            <a:off x="822960" y="1828800"/>
            <a:ext cx="7543801" cy="402336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Not good choice for </a:t>
            </a:r>
            <a:r>
              <a:rPr lang="en-US" b="1" dirty="0"/>
              <a:t>interactive systems</a:t>
            </a:r>
            <a:r>
              <a:rPr lang="en-US" dirty="0"/>
              <a:t>, because of their transformational characteristic.</a:t>
            </a:r>
          </a:p>
        </p:txBody>
      </p:sp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flow architectures</a:t>
            </a:r>
          </a:p>
          <a:p>
            <a:pPr lvl="1"/>
            <a:r>
              <a:rPr lang="en-US" dirty="0"/>
              <a:t>Batch Sequential</a:t>
            </a:r>
          </a:p>
          <a:p>
            <a:pPr lvl="1"/>
            <a:r>
              <a:rPr lang="en-US" dirty="0"/>
              <a:t>Pipe and Filter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1327</TotalTime>
  <Words>1406</Words>
  <Application>Microsoft Office PowerPoint</Application>
  <PresentationFormat>On-screen Show (4:3)</PresentationFormat>
  <Paragraphs>167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Comic Sans MS</vt:lpstr>
      <vt:lpstr>Retrospect</vt:lpstr>
      <vt:lpstr>SOFTWARE DESIGN AND ARCHITECTURE</vt:lpstr>
      <vt:lpstr>Review</vt:lpstr>
      <vt:lpstr>Outline</vt:lpstr>
      <vt:lpstr>Data flow Software Architecture </vt:lpstr>
      <vt:lpstr>Data Flow Architectures</vt:lpstr>
      <vt:lpstr>Data Flow Architectures</vt:lpstr>
      <vt:lpstr>Data Flow Architectures</vt:lpstr>
      <vt:lpstr>Data Flow Architectures</vt:lpstr>
      <vt:lpstr>Batch sequential</vt:lpstr>
      <vt:lpstr>Batch – Sequential </vt:lpstr>
      <vt:lpstr>PowerPoint Presentation</vt:lpstr>
      <vt:lpstr>Applicable domains of batch sequential architecture: </vt:lpstr>
      <vt:lpstr>Benefits:</vt:lpstr>
      <vt:lpstr>Limitations:</vt:lpstr>
      <vt:lpstr>Pipes-and-Filters Style</vt:lpstr>
      <vt:lpstr>Pipe and Filter</vt:lpstr>
      <vt:lpstr>Pipes-and-Filters Style</vt:lpstr>
      <vt:lpstr>Filter</vt:lpstr>
      <vt:lpstr>Filter</vt:lpstr>
      <vt:lpstr>Active and Passive filters</vt:lpstr>
      <vt:lpstr>Pipes</vt:lpstr>
      <vt:lpstr>Pipes</vt:lpstr>
      <vt:lpstr>Structure</vt:lpstr>
      <vt:lpstr>There are three ways to make the data flow:</vt:lpstr>
      <vt:lpstr>Examples</vt:lpstr>
      <vt:lpstr>Example:  Architecture of a Compiler</vt:lpstr>
      <vt:lpstr>Compiler</vt:lpstr>
      <vt:lpstr>Compiler</vt:lpstr>
      <vt:lpstr>Compiler</vt:lpstr>
      <vt:lpstr>Compiler</vt:lpstr>
      <vt:lpstr>Sales System</vt:lpstr>
      <vt:lpstr>Applicable domains of pipe and filter architecture:</vt:lpstr>
      <vt:lpstr>Benefits:</vt:lpstr>
      <vt:lpstr>Benefits:</vt:lpstr>
      <vt:lpstr>Disadvantages</vt:lpstr>
      <vt:lpstr>Summary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Shehla</dc:creator>
  <cp:lastModifiedBy>Faizan Niazi</cp:lastModifiedBy>
  <cp:revision>103</cp:revision>
  <dcterms:created xsi:type="dcterms:W3CDTF">2015-07-31T14:09:29Z</dcterms:created>
  <dcterms:modified xsi:type="dcterms:W3CDTF">2024-10-20T15:55:14Z</dcterms:modified>
</cp:coreProperties>
</file>