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33"/>
  </p:notesMasterIdLst>
  <p:sldIdLst>
    <p:sldId id="258" r:id="rId2"/>
    <p:sldId id="313" r:id="rId3"/>
    <p:sldId id="314" r:id="rId4"/>
    <p:sldId id="315" r:id="rId5"/>
    <p:sldId id="301" r:id="rId6"/>
    <p:sldId id="316" r:id="rId7"/>
    <p:sldId id="303" r:id="rId8"/>
    <p:sldId id="317" r:id="rId9"/>
    <p:sldId id="304" r:id="rId10"/>
    <p:sldId id="305" r:id="rId11"/>
    <p:sldId id="306" r:id="rId12"/>
    <p:sldId id="307" r:id="rId13"/>
    <p:sldId id="318" r:id="rId14"/>
    <p:sldId id="308" r:id="rId15"/>
    <p:sldId id="319" r:id="rId16"/>
    <p:sldId id="309" r:id="rId17"/>
    <p:sldId id="310" r:id="rId18"/>
    <p:sldId id="320" r:id="rId19"/>
    <p:sldId id="321" r:id="rId20"/>
    <p:sldId id="263" r:id="rId21"/>
    <p:sldId id="264" r:id="rId22"/>
    <p:sldId id="322" r:id="rId23"/>
    <p:sldId id="324" r:id="rId24"/>
    <p:sldId id="325" r:id="rId25"/>
    <p:sldId id="326" r:id="rId26"/>
    <p:sldId id="327" r:id="rId27"/>
    <p:sldId id="328" r:id="rId28"/>
    <p:sldId id="329" r:id="rId29"/>
    <p:sldId id="330" r:id="rId30"/>
    <p:sldId id="331" r:id="rId31"/>
    <p:sldId id="323"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95C640E-7988-46E2-B92C-91FBB94F4F99}" type="datetimeFigureOut">
              <a:rPr lang="en-US" smtClean="0"/>
              <a:t>9/13/2024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FD04D6-9924-4921-B29D-3F16002500F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For example, the interoperation of a word processor with an image processing system requires that the result of one software system, such as</a:t>
            </a:r>
          </a:p>
          <a:p>
            <a:r>
              <a:rPr lang="en-US" dirty="0"/>
              <a:t>image processing of a photo, can be used in another so that a document can contain both text and image contents. </a:t>
            </a:r>
          </a:p>
        </p:txBody>
      </p:sp>
      <p:sp>
        <p:nvSpPr>
          <p:cNvPr id="4" name="Slide Number Placeholder 3"/>
          <p:cNvSpPr>
            <a:spLocks noGrp="1"/>
          </p:cNvSpPr>
          <p:nvPr>
            <p:ph type="sldNum" sz="quarter" idx="10"/>
          </p:nvPr>
        </p:nvSpPr>
        <p:spPr/>
        <p:txBody>
          <a:bodyPr/>
          <a:lstStyle/>
          <a:p>
            <a:fld id="{77FD04D6-9924-4921-B29D-3F16002500F7}" type="slidenum">
              <a:rPr lang="en-US" smtClean="0"/>
              <a:t>12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p:sp>
      <p:sp>
        <p:nvSpPr>
          <p:cNvPr id="31747" name="Notes Placeholder 2"/>
          <p:cNvSpPr>
            <a:spLocks noGrp="1"/>
          </p:cNvSpPr>
          <p:nvPr>
            <p:ph type="body" idx="1"/>
          </p:nvPr>
        </p:nvSpPr>
        <p:spPr>
          <a:noFill/>
        </p:spPr>
        <p:txBody>
          <a:bodyPr/>
          <a:lstStyle/>
          <a:p>
            <a:r>
              <a:rPr lang="en-GB"/>
              <a:t>Some key concepts to be kept in mind.. These are the concepts that will be followed to ensure a “good design"</a:t>
            </a:r>
            <a:endParaRPr lang="en-GB" dirty="0"/>
          </a:p>
        </p:txBody>
      </p:sp>
      <p:sp>
        <p:nvSpPr>
          <p:cNvPr id="31748" name="Slide Number Placeholder 3"/>
          <p:cNvSpPr>
            <a:spLocks noGrp="1"/>
          </p:cNvSpPr>
          <p:nvPr>
            <p:ph type="sldNum" sz="quarter" idx="5"/>
          </p:nvPr>
        </p:nvSpPr>
        <p:spPr>
          <a:noFill/>
        </p:spPr>
        <p:txBody>
          <a:bodyPr/>
          <a:lstStyle/>
          <a:p>
            <a:fld id="{742B483F-4148-4E17-AF51-9C1D3C7A8BD1}" type="slidenum">
              <a:rPr lang="en-US" smtClean="0"/>
              <a:t>24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p:sp>
      <p:sp>
        <p:nvSpPr>
          <p:cNvPr id="32771" name="Notes Placeholder 2"/>
          <p:cNvSpPr>
            <a:spLocks noGrp="1"/>
          </p:cNvSpPr>
          <p:nvPr>
            <p:ph type="body" idx="1"/>
          </p:nvPr>
        </p:nvSpPr>
        <p:spPr>
          <a:noFill/>
        </p:spPr>
        <p:txBody>
          <a:bodyPr/>
          <a:lstStyle/>
          <a:p>
            <a:pPr eaLnBrk="1" hangingPunct="1"/>
            <a:r>
              <a:rPr lang="en-GB"/>
              <a:t>Modular Decomposition is an approach that subdivides a system into smaller parts (modules) that can be independently created and then used in different systems to drive multiple functionalities. Besides reduction in cost (due to lesser customization, and less learning time), and flexibility in design, modularity offers other benefits such as augmentation (adding new solution by merely plugging in a new module)</a:t>
            </a:r>
          </a:p>
          <a:p>
            <a:pPr eaLnBrk="1" hangingPunct="1"/>
            <a:endParaRPr lang="en-GB"/>
          </a:p>
          <a:p>
            <a:pPr eaLnBrk="1" hangingPunct="1"/>
            <a:r>
              <a:rPr lang="en-GB"/>
              <a:t>Fault isolation: Providing more robust failover support through a configuration that includes a degree of fault isolation, reduces the potential for failure of one module to affect other modules. Configurations that provide simple failover support are concerned only with individual module failures that have no effect on the performance of other modules</a:t>
            </a:r>
            <a:endParaRPr lang="en-GB" dirty="0"/>
          </a:p>
        </p:txBody>
      </p:sp>
      <p:sp>
        <p:nvSpPr>
          <p:cNvPr id="32772" name="Slide Number Placeholder 3"/>
          <p:cNvSpPr>
            <a:spLocks noGrp="1"/>
          </p:cNvSpPr>
          <p:nvPr>
            <p:ph type="sldNum" sz="quarter" idx="5"/>
          </p:nvPr>
        </p:nvSpPr>
        <p:spPr>
          <a:noFill/>
        </p:spPr>
        <p:txBody>
          <a:bodyPr/>
          <a:lstStyle/>
          <a:p>
            <a:fld id="{0A364EC6-144B-4FF0-9B11-3B11DD0663A1}" type="slidenum">
              <a:rPr lang="en-US" smtClean="0"/>
              <a:t>25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p:sp>
      <p:sp>
        <p:nvSpPr>
          <p:cNvPr id="3" name="Notes Placeholder 2"/>
          <p:cNvSpPr>
            <a:spLocks noGrp="1"/>
          </p:cNvSpPr>
          <p:nvPr>
            <p:ph type="body" idx="1"/>
          </p:nvPr>
        </p:nvSpPr>
        <p:spPr/>
        <p:txBody>
          <a:bodyPr>
            <a:normAutofit lnSpcReduction="10000"/>
          </a:bodyPr>
          <a:lstStyle/>
          <a:p>
            <a:pPr eaLnBrk="1" hangingPunct="1">
              <a:lnSpc>
                <a:spcPct val="90000"/>
              </a:lnSpc>
            </a:pPr>
            <a:r>
              <a:rPr lang="en-GB" dirty="0"/>
              <a:t>The benefits of modularity do not follow automatically from the act of subdividing a program. The way in which a program is decomposed can make an enormous difference to how easily the program can be implemented and modified. Experience shows that each module should encapsulate information that is not available to the rest of a program. This </a:t>
            </a:r>
            <a:r>
              <a:rPr lang="en-GB" i="1" dirty="0"/>
              <a:t>information hiding </a:t>
            </a:r>
            <a:r>
              <a:rPr lang="en-GB" dirty="0"/>
              <a:t>reduces the cost of subsequent design changes. For example, a module may encapsulate </a:t>
            </a:r>
          </a:p>
          <a:p>
            <a:pPr eaLnBrk="1" hangingPunct="1">
              <a:lnSpc>
                <a:spcPct val="90000"/>
              </a:lnSpc>
            </a:pPr>
            <a:r>
              <a:rPr lang="en-GB" dirty="0"/>
              <a:t>related functions that can benefit from a common implementation or that are used in many parts of a system, </a:t>
            </a:r>
          </a:p>
          <a:p>
            <a:pPr eaLnBrk="1" hangingPunct="1">
              <a:lnSpc>
                <a:spcPct val="90000"/>
              </a:lnSpc>
            </a:pPr>
            <a:r>
              <a:rPr lang="en-GB" dirty="0"/>
              <a:t>functionality that is likely to change during later design or deployment, </a:t>
            </a:r>
          </a:p>
          <a:p>
            <a:pPr eaLnBrk="1" hangingPunct="1">
              <a:lnSpc>
                <a:spcPct val="90000"/>
              </a:lnSpc>
            </a:pPr>
            <a:r>
              <a:rPr lang="en-GB" dirty="0"/>
              <a:t>aspects of a problem that are particularly complex, and/or </a:t>
            </a:r>
          </a:p>
          <a:p>
            <a:pPr eaLnBrk="1" hangingPunct="1">
              <a:lnSpc>
                <a:spcPct val="90000"/>
              </a:lnSpc>
            </a:pPr>
            <a:r>
              <a:rPr lang="en-GB" dirty="0"/>
              <a:t>code that is expected to be reused in other programs. </a:t>
            </a:r>
          </a:p>
          <a:p>
            <a:pPr eaLnBrk="1" hangingPunct="1">
              <a:lnSpc>
                <a:spcPct val="90000"/>
              </a:lnSpc>
            </a:pPr>
            <a:endParaRPr lang="en-GB" dirty="0"/>
          </a:p>
          <a:p>
            <a:pPr eaLnBrk="1" hangingPunct="1">
              <a:lnSpc>
                <a:spcPct val="90000"/>
              </a:lnSpc>
            </a:pPr>
            <a:r>
              <a:rPr lang="en-US" u="sng" dirty="0"/>
              <a:t>Information hiding:</a:t>
            </a:r>
            <a:endParaRPr lang="en-US" dirty="0"/>
          </a:p>
          <a:p>
            <a:pPr eaLnBrk="1" hangingPunct="1">
              <a:lnSpc>
                <a:spcPct val="90000"/>
              </a:lnSpc>
            </a:pPr>
            <a:r>
              <a:rPr lang="en-US" dirty="0"/>
              <a:t>	Modules should be specified and designed so that the internal details of </a:t>
            </a:r>
          </a:p>
          <a:p>
            <a:pPr eaLnBrk="1" hangingPunct="1">
              <a:lnSpc>
                <a:spcPct val="90000"/>
              </a:lnSpc>
            </a:pPr>
            <a:r>
              <a:rPr lang="en-US" dirty="0"/>
              <a:t>	modules should be invisible or inaccessible to other modules.</a:t>
            </a:r>
          </a:p>
          <a:p>
            <a:pPr eaLnBrk="1" hangingPunct="1">
              <a:lnSpc>
                <a:spcPct val="90000"/>
              </a:lnSpc>
            </a:pPr>
            <a:endParaRPr lang="en-US" dirty="0"/>
          </a:p>
          <a:p>
            <a:pPr eaLnBrk="1" hangingPunct="1">
              <a:lnSpc>
                <a:spcPct val="90000"/>
              </a:lnSpc>
            </a:pPr>
            <a:r>
              <a:rPr lang="en-US" dirty="0"/>
              <a:t>Major benefits: 	reduce the change impacts in testing and maintenance</a:t>
            </a:r>
          </a:p>
          <a:p>
            <a:pPr eaLnBrk="1" hangingPunct="1">
              <a:lnSpc>
                <a:spcPct val="90000"/>
              </a:lnSpc>
            </a:pPr>
            <a:endParaRPr lang="en-US" dirty="0"/>
          </a:p>
          <a:p>
            <a:pPr eaLnBrk="1" hangingPunct="1">
              <a:lnSpc>
                <a:spcPct val="90000"/>
              </a:lnSpc>
            </a:pPr>
            <a:r>
              <a:rPr lang="en-US" u="sng" dirty="0"/>
              <a:t>Coupling:</a:t>
            </a:r>
            <a:r>
              <a:rPr lang="en-US" dirty="0"/>
              <a:t>	(Figure 13.8)</a:t>
            </a:r>
          </a:p>
          <a:p>
            <a:pPr eaLnBrk="1" hangingPunct="1">
              <a:lnSpc>
                <a:spcPct val="90000"/>
              </a:lnSpc>
            </a:pPr>
            <a:r>
              <a:rPr lang="en-US" dirty="0"/>
              <a:t>	A measure of interconnection among modules in a program structure.</a:t>
            </a:r>
          </a:p>
          <a:p>
            <a:pPr eaLnBrk="1" hangingPunct="1">
              <a:lnSpc>
                <a:spcPct val="90000"/>
              </a:lnSpc>
            </a:pPr>
            <a:r>
              <a:rPr lang="en-US" dirty="0"/>
              <a:t>	Coupling depends on the interface complexity between modules.</a:t>
            </a:r>
          </a:p>
          <a:p>
            <a:pPr eaLnBrk="1" hangingPunct="1">
              <a:lnSpc>
                <a:spcPct val="90000"/>
              </a:lnSpc>
            </a:pPr>
            <a:endParaRPr lang="en-US" dirty="0"/>
          </a:p>
          <a:p>
            <a:pPr eaLnBrk="1" hangingPunct="1">
              <a:lnSpc>
                <a:spcPct val="90000"/>
              </a:lnSpc>
            </a:pPr>
            <a:r>
              <a:rPr lang="en-US" dirty="0"/>
              <a:t>Goal: 	to strive for lowest possible coupling among modules.</a:t>
            </a:r>
          </a:p>
          <a:p>
            <a:pPr eaLnBrk="1" hangingPunct="1">
              <a:lnSpc>
                <a:spcPct val="90000"/>
              </a:lnSpc>
            </a:pPr>
            <a:endParaRPr lang="en-US" dirty="0"/>
          </a:p>
          <a:p>
            <a:pPr eaLnBrk="1" hangingPunct="1">
              <a:lnSpc>
                <a:spcPct val="90000"/>
              </a:lnSpc>
            </a:pPr>
            <a:r>
              <a:rPr lang="en-US" dirty="0"/>
              <a:t>Good coupling ---&gt; reduce or avoid change impact and ripple effects.</a:t>
            </a:r>
          </a:p>
          <a:p>
            <a:pPr eaLnBrk="1" hangingPunct="1">
              <a:lnSpc>
                <a:spcPct val="90000"/>
              </a:lnSpc>
            </a:pPr>
            <a:r>
              <a:rPr lang="en-US" dirty="0"/>
              <a:t>	---&gt; reduce the cost in program changes, testing, maintenance</a:t>
            </a:r>
          </a:p>
          <a:p>
            <a:pPr eaLnBrk="1" hangingPunct="1">
              <a:lnSpc>
                <a:spcPct val="90000"/>
              </a:lnSpc>
            </a:pPr>
            <a:endParaRPr lang="en-GB" dirty="0"/>
          </a:p>
          <a:p>
            <a:pPr eaLnBrk="1" hangingPunct="1">
              <a:lnSpc>
                <a:spcPct val="90000"/>
              </a:lnSpc>
            </a:pPr>
            <a:endParaRPr lang="en-GB" dirty="0"/>
          </a:p>
        </p:txBody>
      </p:sp>
      <p:sp>
        <p:nvSpPr>
          <p:cNvPr id="33796" name="Slide Number Placeholder 3"/>
          <p:cNvSpPr>
            <a:spLocks noGrp="1"/>
          </p:cNvSpPr>
          <p:nvPr>
            <p:ph type="sldNum" sz="quarter" idx="5"/>
          </p:nvPr>
        </p:nvSpPr>
        <p:spPr>
          <a:noFill/>
        </p:spPr>
        <p:txBody>
          <a:bodyPr/>
          <a:lstStyle/>
          <a:p>
            <a:fld id="{981555F2-0DB9-44A3-B99A-08EB1EF779CB}" type="slidenum">
              <a:rPr lang="en-US" smtClean="0"/>
              <a:t>26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p:sp>
      <p:sp>
        <p:nvSpPr>
          <p:cNvPr id="34819" name="Notes Placeholder 2"/>
          <p:cNvSpPr>
            <a:spLocks noGrp="1"/>
          </p:cNvSpPr>
          <p:nvPr>
            <p:ph type="body" idx="1"/>
          </p:nvPr>
        </p:nvSpPr>
        <p:spPr>
          <a:noFill/>
        </p:spPr>
        <p:txBody>
          <a:bodyPr/>
          <a:lstStyle/>
          <a:p>
            <a:endParaRPr lang="en-GB" sz="1100">
              <a:latin typeface="Times New Roman" panose="02020603050405020304" pitchFamily="18" charset="0"/>
              <a:cs typeface="Times New Roman" panose="02020603050405020304" pitchFamily="18" charset="0"/>
            </a:endParaRPr>
          </a:p>
          <a:p>
            <a:pPr>
              <a:buFontTx/>
              <a:buChar char="•"/>
            </a:pPr>
            <a:r>
              <a:rPr lang="en-GB" sz="1100">
                <a:latin typeface="Times New Roman" panose="02020603050405020304" pitchFamily="18" charset="0"/>
                <a:cs typeface="Times New Roman" panose="02020603050405020304" pitchFamily="18" charset="0"/>
              </a:rPr>
              <a:t>Error isolation: Functional independence reduces error propagation. The reason behind this is that if a module is functionally independent, its degree of interaction with the other modules is less. Therefore, any error existing in a module would not directly effect the other modules. </a:t>
            </a:r>
          </a:p>
          <a:p>
            <a:r>
              <a:rPr lang="en-GB" sz="1100">
                <a:latin typeface="Times New Roman" panose="02020603050405020304" pitchFamily="18" charset="0"/>
                <a:cs typeface="Times New Roman" panose="02020603050405020304" pitchFamily="18" charset="0"/>
              </a:rPr>
              <a:t>• Scope of reuse: Reuse of a module becomes possible. Because each module does some well-defined and precise function (which is cohesive property), and the interaction of the module with the other modules is simple and minimal. Therefore, a cohesive module can be easily taken out and reused in a different program. </a:t>
            </a:r>
          </a:p>
          <a:p>
            <a:r>
              <a:rPr lang="en-GB" sz="1100">
                <a:latin typeface="Times New Roman" panose="02020603050405020304" pitchFamily="18" charset="0"/>
                <a:cs typeface="Times New Roman" panose="02020603050405020304" pitchFamily="18" charset="0"/>
              </a:rPr>
              <a:t>• Understandability: Complexity of the design is reduced, because different modules can be understood in isolation as modules are more or less independent of each other. </a:t>
            </a:r>
          </a:p>
          <a:p>
            <a:endParaRPr lang="en-GB" sz="1100">
              <a:latin typeface="Times New Roman" panose="02020603050405020304" pitchFamily="18" charset="0"/>
              <a:cs typeface="Times New Roman" panose="02020603050405020304" pitchFamily="18" charset="0"/>
            </a:endParaRPr>
          </a:p>
        </p:txBody>
      </p:sp>
      <p:sp>
        <p:nvSpPr>
          <p:cNvPr id="34820" name="Slide Number Placeholder 3"/>
          <p:cNvSpPr>
            <a:spLocks noGrp="1"/>
          </p:cNvSpPr>
          <p:nvPr>
            <p:ph type="sldNum" sz="quarter" idx="5"/>
          </p:nvPr>
        </p:nvSpPr>
        <p:spPr>
          <a:noFill/>
        </p:spPr>
        <p:txBody>
          <a:bodyPr/>
          <a:lstStyle/>
          <a:p>
            <a:fld id="{FAC2D574-6BA3-43D4-AA19-4B386DD5062D}" type="slidenum">
              <a:rPr lang="en-US" smtClean="0"/>
              <a:t>30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0F6FF2-1C5E-44C6-B292-5894AC284FD8}" type="datetimeFigureOut">
              <a:rPr lang="en-US" smtClean="0"/>
              <a:t>9/13/2024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D2CEB-90FE-48B7-8B92-04B30B6191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1232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0F6FF2-1C5E-44C6-B292-5894AC284FD8}" type="datetimeFigureOut">
              <a:rPr lang="en-US" smtClean="0"/>
              <a:t>9/13/2024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D2CEB-90FE-48B7-8B92-04B30B6191BF}" type="slidenum">
              <a:rPr lang="en-US" smtClean="0"/>
              <a:t>‹#›</a:t>
            </a:fld>
            <a:endParaRPr lang="en-US"/>
          </a:p>
        </p:txBody>
      </p:sp>
    </p:spTree>
    <p:extLst>
      <p:ext uri="{BB962C8B-B14F-4D97-AF65-F5344CB8AC3E}">
        <p14:creationId xmlns:p14="http://schemas.microsoft.com/office/powerpoint/2010/main" val="707712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linds(horizontal)">
                                      <p:cBhvr>
                                        <p:cTn id="16" dur="500"/>
                                        <p:tgtEl>
                                          <p:spTgt spid="3">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linds(horizontal)">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0F6FF2-1C5E-44C6-B292-5894AC284FD8}" type="datetimeFigureOut">
              <a:rPr lang="en-US" smtClean="0"/>
              <a:t>9/13/2024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D2CEB-90FE-48B7-8B92-04B30B6191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1985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0F6FF2-1C5E-44C6-B292-5894AC284FD8}" type="datetimeFigureOut">
              <a:rPr lang="en-US" smtClean="0"/>
              <a:t>9/13/2024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6D2CEB-90FE-48B7-8B92-04B30B6191BF}" type="slidenum">
              <a:rPr lang="en-US" smtClean="0"/>
              <a:t>‹#›</a:t>
            </a:fld>
            <a:endParaRPr lang="en-US"/>
          </a:p>
        </p:txBody>
      </p:sp>
    </p:spTree>
    <p:extLst>
      <p:ext uri="{BB962C8B-B14F-4D97-AF65-F5344CB8AC3E}">
        <p14:creationId xmlns:p14="http://schemas.microsoft.com/office/powerpoint/2010/main" val="2987021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0F6FF2-1C5E-44C6-B292-5894AC284FD8}" type="datetimeFigureOut">
              <a:rPr lang="en-US" smtClean="0"/>
              <a:t>9/13/2024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26D2CEB-90FE-48B7-8B92-04B30B6191BF}" type="slidenum">
              <a:rPr lang="en-US" smtClean="0"/>
              <a:t>‹#›</a:t>
            </a:fld>
            <a:endParaRPr lang="en-US"/>
          </a:p>
        </p:txBody>
      </p:sp>
    </p:spTree>
    <p:extLst>
      <p:ext uri="{BB962C8B-B14F-4D97-AF65-F5344CB8AC3E}">
        <p14:creationId xmlns:p14="http://schemas.microsoft.com/office/powerpoint/2010/main" val="1230128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0F6FF2-1C5E-44C6-B292-5894AC284FD8}" type="datetimeFigureOut">
              <a:rPr lang="en-US" smtClean="0"/>
              <a:t>9/13/2024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26D2CEB-90FE-48B7-8B92-04B30B6191BF}" type="slidenum">
              <a:rPr lang="en-US" smtClean="0"/>
              <a:t>‹#›</a:t>
            </a:fld>
            <a:endParaRPr lang="en-US"/>
          </a:p>
        </p:txBody>
      </p:sp>
    </p:spTree>
    <p:extLst>
      <p:ext uri="{BB962C8B-B14F-4D97-AF65-F5344CB8AC3E}">
        <p14:creationId xmlns:p14="http://schemas.microsoft.com/office/powerpoint/2010/main" val="400882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0F6FF2-1C5E-44C6-B292-5894AC284FD8}" type="datetimeFigureOut">
              <a:rPr lang="en-US" smtClean="0"/>
              <a:t>9/13/2024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D26D2CEB-90FE-48B7-8B92-04B30B6191BF}" type="slidenum">
              <a:rPr lang="en-US" smtClean="0"/>
              <a:t>‹#›</a:t>
            </a:fld>
            <a:endParaRPr lang="en-US"/>
          </a:p>
        </p:txBody>
      </p:sp>
    </p:spTree>
    <p:extLst>
      <p:ext uri="{BB962C8B-B14F-4D97-AF65-F5344CB8AC3E}">
        <p14:creationId xmlns:p14="http://schemas.microsoft.com/office/powerpoint/2010/main" val="3874483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160F6FF2-1C5E-44C6-B292-5894AC284FD8}" type="datetimeFigureOut">
              <a:rPr lang="en-US" smtClean="0"/>
              <a:t>9/13/2024</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26D2CEB-90FE-48B7-8B92-04B30B6191BF}" type="slidenum">
              <a:rPr lang="en-US" smtClean="0"/>
              <a:t>‹#›</a:t>
            </a:fld>
            <a:endParaRPr lang="en-US"/>
          </a:p>
        </p:txBody>
      </p:sp>
    </p:spTree>
    <p:extLst>
      <p:ext uri="{BB962C8B-B14F-4D97-AF65-F5344CB8AC3E}">
        <p14:creationId xmlns:p14="http://schemas.microsoft.com/office/powerpoint/2010/main" val="1213664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0F6FF2-1C5E-44C6-B292-5894AC284FD8}" type="datetimeFigureOut">
              <a:rPr lang="en-US" smtClean="0"/>
              <a:t>9/13/2024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6D2CEB-90FE-48B7-8B92-04B30B6191BF}" type="slidenum">
              <a:rPr lang="en-US" smtClean="0"/>
              <a:t>‹#›</a:t>
            </a:fld>
            <a:endParaRPr lang="en-US"/>
          </a:p>
        </p:txBody>
      </p:sp>
    </p:spTree>
    <p:extLst>
      <p:ext uri="{BB962C8B-B14F-4D97-AF65-F5344CB8AC3E}">
        <p14:creationId xmlns:p14="http://schemas.microsoft.com/office/powerpoint/2010/main" val="4155850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0F6FF2-1C5E-44C6-B292-5894AC284FD8}" type="datetimeFigureOut">
              <a:rPr lang="en-US" smtClean="0"/>
              <a:t>9/13/2024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D2CEB-90FE-48B7-8B92-04B30B6191BF}" type="slidenum">
              <a:rPr lang="en-US" smtClean="0"/>
              <a:t>‹#›</a:t>
            </a:fld>
            <a:endParaRPr lang="en-US"/>
          </a:p>
        </p:txBody>
      </p:sp>
    </p:spTree>
    <p:extLst>
      <p:ext uri="{BB962C8B-B14F-4D97-AF65-F5344CB8AC3E}">
        <p14:creationId xmlns:p14="http://schemas.microsoft.com/office/powerpoint/2010/main" val="14899914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0F6FF2-1C5E-44C6-B292-5894AC284FD8}" type="datetimeFigureOut">
              <a:rPr lang="en-US" smtClean="0"/>
              <a:t>9/13/2024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D2CEB-90FE-48B7-8B92-04B30B6191BF}" type="slidenum">
              <a:rPr lang="en-US" smtClean="0"/>
              <a:t>‹#›</a:t>
            </a:fld>
            <a:endParaRPr lang="en-US"/>
          </a:p>
        </p:txBody>
      </p:sp>
    </p:spTree>
    <p:extLst>
      <p:ext uri="{BB962C8B-B14F-4D97-AF65-F5344CB8AC3E}">
        <p14:creationId xmlns:p14="http://schemas.microsoft.com/office/powerpoint/2010/main" val="249527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160F6FF2-1C5E-44C6-B292-5894AC284FD8}" type="datetimeFigureOut">
              <a:rPr lang="en-US" smtClean="0"/>
              <a:t>9/13/2024</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D26D2CEB-90FE-48B7-8B92-04B30B6191B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20033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400" b="1" dirty="0"/>
              <a:t>20H58665– Software Design and Architecture</a:t>
            </a:r>
            <a:endParaRPr lang="en-US" b="1" dirty="0"/>
          </a:p>
        </p:txBody>
      </p:sp>
      <p:sp>
        <p:nvSpPr>
          <p:cNvPr id="3" name="Subtitle 2"/>
          <p:cNvSpPr>
            <a:spLocks noGrp="1"/>
          </p:cNvSpPr>
          <p:nvPr>
            <p:ph type="subTitle" idx="1"/>
          </p:nvPr>
        </p:nvSpPr>
        <p:spPr/>
        <p:txBody>
          <a:bodyPr/>
          <a:lstStyle/>
          <a:p>
            <a:r>
              <a:rPr lang="en-US" b="1" dirty="0">
                <a:solidFill>
                  <a:schemeClr val="tx1"/>
                </a:solidFill>
              </a:rPr>
              <a:t>LECTURE 02 and 03</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0437" y="398907"/>
            <a:ext cx="2143125" cy="21431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Previous Lecture</a:t>
            </a:r>
          </a:p>
        </p:txBody>
      </p:sp>
      <p:sp>
        <p:nvSpPr>
          <p:cNvPr id="3" name="Content Placeholder 2"/>
          <p:cNvSpPr>
            <a:spLocks noGrp="1"/>
          </p:cNvSpPr>
          <p:nvPr>
            <p:ph idx="1"/>
          </p:nvPr>
        </p:nvSpPr>
        <p:spPr/>
        <p:txBody>
          <a:bodyPr/>
          <a:lstStyle/>
          <a:p>
            <a:r>
              <a:rPr lang="en-US" dirty="0"/>
              <a:t>Design phase in SDLC – architecture and detailed design</a:t>
            </a:r>
          </a:p>
          <a:p>
            <a:r>
              <a:rPr lang="en-US" dirty="0"/>
              <a:t>Factors that affect design</a:t>
            </a:r>
          </a:p>
          <a:p>
            <a:r>
              <a:rPr lang="en-US" dirty="0"/>
              <a:t>Quality Models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Outline</a:t>
            </a:r>
          </a:p>
        </p:txBody>
      </p:sp>
      <p:sp>
        <p:nvSpPr>
          <p:cNvPr id="3" name="Content Placeholder 2"/>
          <p:cNvSpPr>
            <a:spLocks noGrp="1"/>
          </p:cNvSpPr>
          <p:nvPr>
            <p:ph idx="1"/>
          </p:nvPr>
        </p:nvSpPr>
        <p:spPr/>
        <p:txBody>
          <a:bodyPr/>
          <a:lstStyle/>
          <a:p>
            <a:r>
              <a:rPr lang="en-US" dirty="0"/>
              <a:t>Good design</a:t>
            </a:r>
          </a:p>
          <a:p>
            <a:r>
              <a:rPr lang="en-US" dirty="0"/>
              <a:t>Quality attributes of software design</a:t>
            </a:r>
          </a:p>
          <a:p>
            <a:r>
              <a:rPr lang="en-US" dirty="0"/>
              <a:t>Software design principles</a:t>
            </a:r>
          </a:p>
          <a:p>
            <a:r>
              <a:rPr lang="en-US" dirty="0"/>
              <a:t> Concepts in design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Good Design</a:t>
            </a:r>
          </a:p>
        </p:txBody>
      </p:sp>
      <p:sp>
        <p:nvSpPr>
          <p:cNvPr id="5" name="Text Placeholder 4"/>
          <p:cNvSpPr>
            <a:spLocks noGrp="1"/>
          </p:cNvSpPr>
          <p:nvPr>
            <p:ph type="body" idx="1"/>
          </p:nvPr>
        </p:nvSpPr>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Efficiency</a:t>
            </a:r>
          </a:p>
        </p:txBody>
      </p:sp>
      <p:sp>
        <p:nvSpPr>
          <p:cNvPr id="3" name="Content Placeholder 2"/>
          <p:cNvSpPr>
            <a:spLocks noGrp="1"/>
          </p:cNvSpPr>
          <p:nvPr>
            <p:ph idx="1"/>
          </p:nvPr>
        </p:nvSpPr>
        <p:spPr/>
        <p:txBody>
          <a:bodyPr>
            <a:normAutofit/>
          </a:bodyPr>
          <a:lstStyle/>
          <a:p>
            <a:pPr algn="just"/>
            <a:r>
              <a:rPr lang="en-US" dirty="0"/>
              <a:t>Efficiency refers to the responsiveness of the system, </a:t>
            </a:r>
          </a:p>
          <a:p>
            <a:pPr lvl="1"/>
            <a:r>
              <a:rPr lang="en-US" dirty="0"/>
              <a:t>i.e. the time required to respond to stimuli (events), </a:t>
            </a:r>
          </a:p>
          <a:p>
            <a:pPr lvl="1" algn="just"/>
            <a:r>
              <a:rPr lang="en-US" dirty="0"/>
              <a:t>or the number of events processed in some interval of time. </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Efficiency</a:t>
            </a:r>
          </a:p>
        </p:txBody>
      </p:sp>
      <p:sp>
        <p:nvSpPr>
          <p:cNvPr id="3" name="Content Placeholder 2"/>
          <p:cNvSpPr>
            <a:spLocks noGrp="1"/>
          </p:cNvSpPr>
          <p:nvPr>
            <p:ph idx="1"/>
          </p:nvPr>
        </p:nvSpPr>
        <p:spPr/>
        <p:txBody>
          <a:bodyPr>
            <a:normAutofit lnSpcReduction="10000"/>
          </a:bodyPr>
          <a:lstStyle/>
          <a:p>
            <a:pPr>
              <a:buFont typeface="Arial" panose="020B0604020202020204" pitchFamily="34" charset="0"/>
              <a:buChar char="•"/>
            </a:pPr>
            <a:r>
              <a:rPr lang="en-US" dirty="0"/>
              <a:t>The time to process a sequence of events can be divided into three parts.</a:t>
            </a:r>
          </a:p>
          <a:p>
            <a:pPr>
              <a:buFont typeface="Arial" panose="020B0604020202020204" pitchFamily="34" charset="0"/>
              <a:buChar char="•"/>
            </a:pPr>
            <a:endParaRPr lang="en-US" dirty="0"/>
          </a:p>
          <a:p>
            <a:pPr algn="just">
              <a:buFont typeface="Arial" panose="020B0604020202020204" pitchFamily="34" charset="0"/>
              <a:buChar char="•"/>
            </a:pPr>
            <a:r>
              <a:rPr lang="en-US" dirty="0"/>
              <a:t>First, time is needed to communicate between different software components that collaborate to process an event. </a:t>
            </a:r>
          </a:p>
          <a:p>
            <a:pPr lvl="1">
              <a:buFont typeface="Arial" panose="020B0604020202020204" pitchFamily="34" charset="0"/>
              <a:buChar char="•"/>
            </a:pPr>
            <a:endParaRPr lang="en-US" dirty="0"/>
          </a:p>
          <a:p>
            <a:pPr>
              <a:buFont typeface="Arial" panose="020B0604020202020204" pitchFamily="34" charset="0"/>
              <a:buChar char="•"/>
            </a:pPr>
            <a:r>
              <a:rPr lang="en-US" dirty="0"/>
              <a:t>Second, the computation times that components executed may have overlaps or gaps between them.</a:t>
            </a:r>
          </a:p>
          <a:p>
            <a:pPr>
              <a:buFont typeface="Arial" panose="020B0604020202020204" pitchFamily="34" charset="0"/>
              <a:buChar char="•"/>
            </a:pPr>
            <a:endParaRPr lang="en-US" dirty="0"/>
          </a:p>
          <a:p>
            <a:pPr>
              <a:buFont typeface="Arial" panose="020B0604020202020204" pitchFamily="34" charset="0"/>
              <a:buChar char="•"/>
            </a:pPr>
            <a:r>
              <a:rPr lang="en-US" dirty="0"/>
              <a:t>Third, the times are needed for each component to complete its computation.</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Correctness</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dirty="0"/>
              <a:t>Correctness is the property that software implements the specified users’ requirements. </a:t>
            </a:r>
          </a:p>
          <a:p>
            <a:pPr>
              <a:buFont typeface="Arial" panose="020B0604020202020204" pitchFamily="34" charset="0"/>
              <a:buChar char="•"/>
            </a:pPr>
            <a:endParaRPr lang="en-US" dirty="0"/>
          </a:p>
          <a:p>
            <a:pPr algn="just">
              <a:buFont typeface="Arial" panose="020B0604020202020204" pitchFamily="34" charset="0"/>
              <a:buChar char="•"/>
            </a:pPr>
            <a:r>
              <a:rPr lang="en-US" dirty="0"/>
              <a:t>It is impossible that a design at any level that does not correctly implement the specified requirements would lead to a correct implementation.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Reliability</a:t>
            </a:r>
          </a:p>
        </p:txBody>
      </p:sp>
      <p:sp>
        <p:nvSpPr>
          <p:cNvPr id="3" name="Content Placeholder 2"/>
          <p:cNvSpPr>
            <a:spLocks noGrp="1"/>
          </p:cNvSpPr>
          <p:nvPr>
            <p:ph idx="1"/>
          </p:nvPr>
        </p:nvSpPr>
        <p:spPr/>
        <p:txBody>
          <a:bodyPr/>
          <a:lstStyle/>
          <a:p>
            <a:pPr algn="just"/>
            <a:r>
              <a:rPr lang="en-US" dirty="0"/>
              <a:t>Reliability can be defined as the probability that a system performs user required functionality correctly </a:t>
            </a:r>
          </a:p>
          <a:p>
            <a:pPr lvl="1"/>
            <a:r>
              <a:rPr lang="en-US" dirty="0"/>
              <a:t>at a specified environment in a given period of time.</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Portability</a:t>
            </a:r>
          </a:p>
        </p:txBody>
      </p:sp>
      <p:sp>
        <p:nvSpPr>
          <p:cNvPr id="3" name="Content Placeholder 2"/>
          <p:cNvSpPr>
            <a:spLocks noGrp="1"/>
          </p:cNvSpPr>
          <p:nvPr>
            <p:ph idx="1"/>
          </p:nvPr>
        </p:nvSpPr>
        <p:spPr/>
        <p:txBody>
          <a:bodyPr>
            <a:normAutofit/>
          </a:bodyPr>
          <a:lstStyle/>
          <a:p>
            <a:pPr algn="just"/>
            <a:r>
              <a:rPr lang="en-US" dirty="0"/>
              <a:t>Portability is the property of a software system that can be easily transported from one hardware/software platform to another,</a:t>
            </a:r>
          </a:p>
          <a:p>
            <a:pPr algn="just"/>
            <a:endParaRPr lang="en-US" dirty="0"/>
          </a:p>
          <a:p>
            <a:pPr lvl="1"/>
            <a:r>
              <a:rPr lang="en-US" dirty="0"/>
              <a:t>for example, from a PC/Windows environment to a Sun/Unix environment or a Macintosh environment.</a:t>
            </a:r>
          </a:p>
          <a:p>
            <a:pPr lvl="1"/>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63527"/>
            <a:ext cx="7543800" cy="1450757"/>
          </a:xfrm>
        </p:spPr>
        <p:txBody>
          <a:bodyPr>
            <a:normAutofit/>
          </a:bodyPr>
          <a:lstStyle/>
          <a:p>
            <a:r>
              <a:rPr lang="en-US" b="1" dirty="0"/>
              <a:t>Maintainability</a:t>
            </a:r>
          </a:p>
        </p:txBody>
      </p:sp>
      <p:sp>
        <p:nvSpPr>
          <p:cNvPr id="3" name="Content Placeholder 2"/>
          <p:cNvSpPr>
            <a:spLocks noGrp="1"/>
          </p:cNvSpPr>
          <p:nvPr>
            <p:ph idx="1"/>
          </p:nvPr>
        </p:nvSpPr>
        <p:spPr/>
        <p:txBody>
          <a:bodyPr>
            <a:normAutofit/>
          </a:bodyPr>
          <a:lstStyle/>
          <a:p>
            <a:pPr algn="just"/>
            <a:r>
              <a:rPr lang="en-US" b="1" dirty="0"/>
              <a:t>Maintainability refers to the easiness of maintaining a software system. </a:t>
            </a:r>
          </a:p>
          <a:p>
            <a:pPr algn="just"/>
            <a:endParaRPr lang="en-US" b="1" dirty="0"/>
          </a:p>
          <a:p>
            <a:pPr algn="just"/>
            <a:r>
              <a:rPr lang="en-US" b="1" dirty="0"/>
              <a:t>There are two types of software maintenance operations. </a:t>
            </a:r>
          </a:p>
          <a:p>
            <a:pPr lvl="1" algn="just"/>
            <a:r>
              <a:rPr lang="en-US" b="1" dirty="0"/>
              <a:t>corrective maintenance. </a:t>
            </a:r>
          </a:p>
          <a:p>
            <a:pPr lvl="1" algn="just"/>
            <a:r>
              <a:rPr lang="en-US" b="1" dirty="0"/>
              <a:t>adaptive maintenance.</a:t>
            </a:r>
          </a:p>
          <a:p>
            <a:pPr lvl="1" algn="just"/>
            <a:endParaRPr lang="en-US" b="1" dirty="0"/>
          </a:p>
          <a:p>
            <a:pPr algn="just"/>
            <a:r>
              <a:rPr lang="en-US" b="1" dirty="0"/>
              <a:t>Well-structured design helps software engineers to understand the system.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3172" y="1066800"/>
            <a:ext cx="7543800" cy="778934"/>
          </a:xfrm>
        </p:spPr>
        <p:txBody>
          <a:bodyPr>
            <a:normAutofit fontScale="90000"/>
          </a:bodyPr>
          <a:lstStyle/>
          <a:p>
            <a:r>
              <a:rPr lang="en-US" b="1" dirty="0"/>
              <a:t>Reusability</a:t>
            </a:r>
            <a:br>
              <a:rPr lang="en-US" b="1" dirty="0"/>
            </a:br>
            <a:endParaRPr lang="en-US" b="1" dirty="0"/>
          </a:p>
        </p:txBody>
      </p:sp>
      <p:sp>
        <p:nvSpPr>
          <p:cNvPr id="3" name="Content Placeholder 2"/>
          <p:cNvSpPr>
            <a:spLocks noGrp="1"/>
          </p:cNvSpPr>
          <p:nvPr>
            <p:ph idx="1"/>
          </p:nvPr>
        </p:nvSpPr>
        <p:spPr/>
        <p:txBody>
          <a:bodyPr>
            <a:normAutofit/>
          </a:bodyPr>
          <a:lstStyle/>
          <a:p>
            <a:pPr algn="just"/>
            <a:r>
              <a:rPr lang="en-US" dirty="0"/>
              <a:t>Reusability is the property of a software system that its components can be easily reused in the development of other software systems.</a:t>
            </a:r>
          </a:p>
          <a:p>
            <a:pPr algn="just"/>
            <a:endParaRPr lang="en-US" dirty="0"/>
          </a:p>
          <a:p>
            <a:pPr lvl="1" algn="just"/>
            <a:r>
              <a:rPr lang="en-US" dirty="0"/>
              <a:t>Reusability depends on the generality of the components in a given application domain and the extent to which the components are </a:t>
            </a:r>
            <a:r>
              <a:rPr lang="en-US" dirty="0" err="1"/>
              <a:t>parameterised</a:t>
            </a:r>
            <a:r>
              <a:rPr lang="en-US" dirty="0"/>
              <a:t> and configurable.</a:t>
            </a:r>
          </a:p>
          <a:p>
            <a:pPr algn="just"/>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Interoperability</a:t>
            </a:r>
          </a:p>
        </p:txBody>
      </p:sp>
      <p:sp>
        <p:nvSpPr>
          <p:cNvPr id="3" name="Content Placeholder 2"/>
          <p:cNvSpPr>
            <a:spLocks noGrp="1"/>
          </p:cNvSpPr>
          <p:nvPr>
            <p:ph idx="1"/>
          </p:nvPr>
        </p:nvSpPr>
        <p:spPr/>
        <p:txBody>
          <a:bodyPr>
            <a:normAutofit/>
          </a:bodyPr>
          <a:lstStyle/>
          <a:p>
            <a:pPr algn="just"/>
            <a:r>
              <a:rPr lang="en-US" dirty="0"/>
              <a:t>Interoperability is the property of how easy a software system can be used with other software systems.</a:t>
            </a:r>
          </a:p>
          <a:p>
            <a:pPr algn="just"/>
            <a:endParaRPr lang="en-US" dirty="0"/>
          </a:p>
          <a:p>
            <a:pPr algn="just"/>
            <a:r>
              <a:rPr lang="en-US" dirty="0"/>
              <a:t>Interoperability mostly depends on the interface between a software system and its environment. </a:t>
            </a:r>
          </a:p>
          <a:p>
            <a:pPr algn="just"/>
            <a:endParaRPr lang="en-US" dirty="0"/>
          </a:p>
          <a:p>
            <a:pPr algn="just"/>
            <a:r>
              <a:rPr lang="en-US" dirty="0"/>
              <a:t>It requires that the implementation of the software follow certain standard interface and coding conventions.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QUALITY ATTRIBUTES OF SOFTWARE DESIGN</a:t>
            </a:r>
          </a:p>
        </p:txBody>
      </p:sp>
      <p:sp>
        <p:nvSpPr>
          <p:cNvPr id="4" name="Text Placeholder 3"/>
          <p:cNvSpPr>
            <a:spLocks noGrp="1"/>
          </p:cNvSpPr>
          <p:nvPr>
            <p:ph type="body" idx="1"/>
          </p:nvPr>
        </p:nvSpPr>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Quality Attributes – Design Objectives</a:t>
            </a:r>
          </a:p>
        </p:txBody>
      </p:sp>
      <p:sp>
        <p:nvSpPr>
          <p:cNvPr id="3" name="Content Placeholder 2"/>
          <p:cNvSpPr>
            <a:spLocks noGrp="1"/>
          </p:cNvSpPr>
          <p:nvPr>
            <p:ph idx="1"/>
          </p:nvPr>
        </p:nvSpPr>
        <p:spPr/>
        <p:txBody>
          <a:bodyPr>
            <a:normAutofit/>
          </a:bodyPr>
          <a:lstStyle/>
          <a:p>
            <a:pPr algn="just"/>
            <a:r>
              <a:rPr lang="en-US" dirty="0"/>
              <a:t>Modularity: </a:t>
            </a:r>
          </a:p>
          <a:p>
            <a:pPr lvl="1" algn="just"/>
            <a:r>
              <a:rPr lang="en-US" dirty="0"/>
              <a:t>The design should be composed of replaceable, self-contained assemblies of elementary parts, </a:t>
            </a:r>
          </a:p>
          <a:p>
            <a:pPr lvl="1" algn="just"/>
            <a:r>
              <a:rPr lang="en-US" dirty="0"/>
              <a:t>thereby aiding both the initial development and the later maintenance.</a:t>
            </a:r>
          </a:p>
          <a:p>
            <a:pPr algn="just"/>
            <a:endParaRPr lang="en-US" dirty="0"/>
          </a:p>
          <a:p>
            <a:pPr algn="just"/>
            <a:r>
              <a:rPr lang="en-US" dirty="0"/>
              <a:t>Portability: </a:t>
            </a:r>
          </a:p>
          <a:p>
            <a:pPr lvl="1" algn="just"/>
            <a:r>
              <a:rPr lang="en-US" dirty="0"/>
              <a:t>The designed product should be able to be moved unchanged </a:t>
            </a:r>
          </a:p>
          <a:p>
            <a:pPr lvl="2" algn="just"/>
            <a:r>
              <a:rPr lang="en-US" dirty="0"/>
              <a:t>from test environments to operational environments and </a:t>
            </a:r>
          </a:p>
          <a:p>
            <a:pPr lvl="2" algn="just"/>
            <a:r>
              <a:rPr lang="en-US" dirty="0"/>
              <a:t>from one operational environment to another.</a:t>
            </a:r>
          </a:p>
          <a:p>
            <a:pPr algn="just"/>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Quality Attributes – Design Objectives</a:t>
            </a:r>
          </a:p>
        </p:txBody>
      </p:sp>
      <p:sp>
        <p:nvSpPr>
          <p:cNvPr id="3" name="Content Placeholder 2"/>
          <p:cNvSpPr>
            <a:spLocks noGrp="1"/>
          </p:cNvSpPr>
          <p:nvPr>
            <p:ph idx="1"/>
          </p:nvPr>
        </p:nvSpPr>
        <p:spPr>
          <a:xfrm>
            <a:off x="457200" y="1905000"/>
            <a:ext cx="8229600" cy="4267200"/>
          </a:xfrm>
        </p:spPr>
        <p:txBody>
          <a:bodyPr>
            <a:normAutofit/>
          </a:bodyPr>
          <a:lstStyle/>
          <a:p>
            <a:pPr algn="just"/>
            <a:r>
              <a:rPr lang="en-US" dirty="0"/>
              <a:t>Flexibility or Modifiability: </a:t>
            </a:r>
          </a:p>
          <a:p>
            <a:pPr lvl="1" algn="just"/>
            <a:r>
              <a:rPr lang="en-US" dirty="0"/>
              <a:t>The design should facilitate adaptation to changing end-user requirements, </a:t>
            </a:r>
          </a:p>
          <a:p>
            <a:pPr lvl="2" algn="just"/>
            <a:r>
              <a:rPr lang="en-US" dirty="0"/>
              <a:t>changes based on new problems in the end users’ world</a:t>
            </a:r>
          </a:p>
          <a:p>
            <a:pPr algn="just"/>
            <a:endParaRPr lang="en-US" dirty="0"/>
          </a:p>
          <a:p>
            <a:pPr algn="just"/>
            <a:r>
              <a:rPr lang="en-US" dirty="0"/>
              <a:t>Conceptual Integrity: </a:t>
            </a:r>
          </a:p>
          <a:p>
            <a:pPr lvl="1" algn="just"/>
            <a:r>
              <a:rPr lang="en-US" dirty="0"/>
              <a:t>The design should exhibit harmony, symmetry and predictability. </a:t>
            </a:r>
          </a:p>
          <a:p>
            <a:pPr lvl="1" algn="just"/>
            <a:endParaRPr lang="en-US" dirty="0"/>
          </a:p>
          <a:p>
            <a:pPr algn="just"/>
            <a:r>
              <a:rPr lang="en-US" dirty="0"/>
              <a:t>Well Structured: </a:t>
            </a:r>
          </a:p>
          <a:p>
            <a:pPr lvl="1" algn="just"/>
            <a:r>
              <a:rPr lang="en-US" dirty="0"/>
              <a:t>The design should be consistent with chosen design principles, such as information hiding, to organize the structure of the design.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Quality Attributes – Design Objectives</a:t>
            </a:r>
          </a:p>
        </p:txBody>
      </p:sp>
      <p:sp>
        <p:nvSpPr>
          <p:cNvPr id="3" name="Content Placeholder 2"/>
          <p:cNvSpPr>
            <a:spLocks noGrp="1"/>
          </p:cNvSpPr>
          <p:nvPr>
            <p:ph idx="1"/>
          </p:nvPr>
        </p:nvSpPr>
        <p:spPr/>
        <p:txBody>
          <a:bodyPr>
            <a:normAutofit/>
          </a:bodyPr>
          <a:lstStyle/>
          <a:p>
            <a:pPr algn="just"/>
            <a:r>
              <a:rPr lang="en-US" dirty="0"/>
              <a:t>Simple: </a:t>
            </a:r>
          </a:p>
          <a:p>
            <a:pPr lvl="1" algn="just"/>
            <a:r>
              <a:rPr lang="en-US" dirty="0"/>
              <a:t>The design should be ‘as simple as possible, but no simpler’.</a:t>
            </a:r>
          </a:p>
          <a:p>
            <a:pPr algn="just"/>
            <a:endParaRPr lang="en-US" dirty="0"/>
          </a:p>
          <a:p>
            <a:pPr algn="just"/>
            <a:r>
              <a:rPr lang="en-US" dirty="0"/>
              <a:t>Efficient: </a:t>
            </a:r>
          </a:p>
          <a:p>
            <a:pPr lvl="1" algn="just"/>
            <a:r>
              <a:rPr lang="en-US" dirty="0"/>
              <a:t>The functions provided by the design should be computable by using the available resources.</a:t>
            </a:r>
          </a:p>
          <a:p>
            <a:pPr algn="just"/>
            <a:endParaRPr lang="en-US" dirty="0"/>
          </a:p>
          <a:p>
            <a:pPr algn="just"/>
            <a:r>
              <a:rPr lang="en-US" dirty="0"/>
              <a:t>Adequate: </a:t>
            </a:r>
          </a:p>
          <a:p>
            <a:pPr lvl="1" algn="just"/>
            <a:r>
              <a:rPr lang="en-US" dirty="0"/>
              <a:t>The design should meet the stated requirements.</a:t>
            </a:r>
          </a:p>
          <a:p>
            <a:pPr algn="just"/>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Quality Attributes – Design Objectives</a:t>
            </a:r>
          </a:p>
        </p:txBody>
      </p:sp>
      <p:sp>
        <p:nvSpPr>
          <p:cNvPr id="3" name="Content Placeholder 2"/>
          <p:cNvSpPr>
            <a:spLocks noGrp="1"/>
          </p:cNvSpPr>
          <p:nvPr>
            <p:ph idx="1"/>
          </p:nvPr>
        </p:nvSpPr>
        <p:spPr/>
        <p:txBody>
          <a:bodyPr>
            <a:normAutofit/>
          </a:bodyPr>
          <a:lstStyle/>
          <a:p>
            <a:pPr algn="just"/>
            <a:r>
              <a:rPr lang="en-US" dirty="0"/>
              <a:t>Flexible: </a:t>
            </a:r>
          </a:p>
          <a:p>
            <a:pPr lvl="1" algn="just"/>
            <a:r>
              <a:rPr lang="en-US" dirty="0"/>
              <a:t>The design should be able to accommodate likely changes in the requirements, however these might arise.</a:t>
            </a:r>
          </a:p>
          <a:p>
            <a:pPr lvl="1" algn="just"/>
            <a:endParaRPr lang="en-US" dirty="0"/>
          </a:p>
          <a:p>
            <a:pPr algn="just"/>
            <a:r>
              <a:rPr lang="en-US" dirty="0"/>
              <a:t>Implementable: </a:t>
            </a:r>
          </a:p>
          <a:p>
            <a:pPr lvl="1" algn="just"/>
            <a:r>
              <a:rPr lang="en-US" dirty="0"/>
              <a:t>The functions offered by the design should be theoretically computable with the information available and achievable using currently available software and hardware technology.</a:t>
            </a:r>
          </a:p>
          <a:p>
            <a:pPr lvl="1" algn="just"/>
            <a:endParaRPr lang="en-US" dirty="0"/>
          </a:p>
          <a:p>
            <a:pPr algn="just"/>
            <a:r>
              <a:rPr lang="en-US" dirty="0" err="1"/>
              <a:t>Standardised</a:t>
            </a:r>
            <a:r>
              <a:rPr lang="en-US" dirty="0"/>
              <a:t>: </a:t>
            </a:r>
          </a:p>
          <a:p>
            <a:pPr lvl="1" algn="just"/>
            <a:r>
              <a:rPr lang="en-US" dirty="0"/>
              <a:t>The design should be represented using standard or well defined and familiar notation for any documentation.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prstClr val="black"/>
                </a:solidFill>
              </a:rPr>
              <a:t>Quality Attributes – Design Objectives</a:t>
            </a:r>
            <a:endParaRPr lang="en-US" b="1" dirty="0"/>
          </a:p>
        </p:txBody>
      </p:sp>
      <p:sp>
        <p:nvSpPr>
          <p:cNvPr id="3" name="Content Placeholder 2"/>
          <p:cNvSpPr>
            <a:spLocks noGrp="1"/>
          </p:cNvSpPr>
          <p:nvPr>
            <p:ph idx="1"/>
          </p:nvPr>
        </p:nvSpPr>
        <p:spPr/>
        <p:txBody>
          <a:bodyPr>
            <a:normAutofit/>
          </a:bodyPr>
          <a:lstStyle/>
          <a:p>
            <a:pPr algn="just"/>
            <a:r>
              <a:rPr lang="en-US" dirty="0"/>
              <a:t>Feasibility: </a:t>
            </a:r>
          </a:p>
          <a:p>
            <a:pPr lvl="1" algn="just"/>
            <a:r>
              <a:rPr lang="en-US" dirty="0"/>
              <a:t>The designed process of bringing about the product should be executable.</a:t>
            </a:r>
          </a:p>
          <a:p>
            <a:pPr algn="just"/>
            <a:endParaRPr lang="en-US" dirty="0"/>
          </a:p>
          <a:p>
            <a:pPr algn="just"/>
            <a:r>
              <a:rPr lang="en-US" dirty="0"/>
              <a:t>Simplicity: </a:t>
            </a:r>
          </a:p>
          <a:p>
            <a:pPr lvl="1" algn="just"/>
            <a:r>
              <a:rPr lang="en-US" dirty="0"/>
              <a:t>The production (i.e. the development) of the designed software should be as simple and straightforward as possible without unnecessary complication.</a:t>
            </a:r>
          </a:p>
          <a:p>
            <a:pPr lvl="1" algn="just"/>
            <a:endParaRPr lang="en-US" dirty="0"/>
          </a:p>
          <a:p>
            <a:pPr algn="just"/>
            <a:r>
              <a:rPr lang="en-US" dirty="0"/>
              <a:t>Reliability: </a:t>
            </a:r>
          </a:p>
          <a:p>
            <a:pPr lvl="1" algn="just"/>
            <a:r>
              <a:rPr lang="en-US" dirty="0"/>
              <a:t>The designed development process should with high probability be successful rather than fail to achieve its goal.</a:t>
            </a:r>
          </a:p>
          <a:p>
            <a:pPr algn="just"/>
            <a:endParaRPr lang="en-US" dirty="0"/>
          </a:p>
          <a:p>
            <a:pPr lvl="1" algn="just"/>
            <a:endParaRPr lang="en-US" dirty="0"/>
          </a:p>
          <a:p>
            <a:pPr algn="just"/>
            <a:endParaRPr lang="en-US" dirty="0"/>
          </a:p>
          <a:p>
            <a:pPr lvl="1" algn="just"/>
            <a:endParaRPr lang="en-US" dirty="0"/>
          </a:p>
          <a:p>
            <a:pPr lvl="1" algn="just"/>
            <a:endParaRPr lang="en-US" dirty="0"/>
          </a:p>
          <a:p>
            <a:pPr lvl="1" algn="just"/>
            <a:endParaRPr lang="en-US" dirty="0"/>
          </a:p>
          <a:p>
            <a:pPr algn="just"/>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Software design principles</a:t>
            </a:r>
          </a:p>
        </p:txBody>
      </p:sp>
      <p:sp>
        <p:nvSpPr>
          <p:cNvPr id="5" name="Text Placeholder 4"/>
          <p:cNvSpPr>
            <a:spLocks noGrp="1"/>
          </p:cNvSpPr>
          <p:nvPr>
            <p:ph type="body" idx="1"/>
          </p:nvPr>
        </p:nvSpPr>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en-US" b="1" dirty="0"/>
              <a:t>Software Design Principles</a:t>
            </a:r>
            <a:endParaRPr lang="en-GB" b="1" dirty="0"/>
          </a:p>
        </p:txBody>
      </p:sp>
      <p:sp>
        <p:nvSpPr>
          <p:cNvPr id="78851" name="Rectangle 3"/>
          <p:cNvSpPr>
            <a:spLocks noGrp="1" noChangeArrowheads="1"/>
          </p:cNvSpPr>
          <p:nvPr>
            <p:ph idx="1"/>
          </p:nvPr>
        </p:nvSpPr>
        <p:spPr/>
        <p:txBody>
          <a:bodyPr>
            <a:normAutofit fontScale="92500"/>
          </a:bodyPr>
          <a:lstStyle/>
          <a:p>
            <a:pPr algn="just">
              <a:buFont typeface="Arial" panose="020B0604020202020204" pitchFamily="34" charset="0"/>
              <a:buChar char="•"/>
            </a:pPr>
            <a:r>
              <a:rPr lang="en-GB" sz="2600" dirty="0"/>
              <a:t>Always consider alternative approaches</a:t>
            </a:r>
          </a:p>
          <a:p>
            <a:pPr marL="0" indent="0" algn="just">
              <a:buNone/>
            </a:pPr>
            <a:endParaRPr lang="en-GB" sz="2600" dirty="0"/>
          </a:p>
          <a:p>
            <a:pPr algn="just">
              <a:buFont typeface="Arial" panose="020B0604020202020204" pitchFamily="34" charset="0"/>
              <a:buChar char="•"/>
            </a:pPr>
            <a:r>
              <a:rPr lang="en-GB" sz="2600" dirty="0"/>
              <a:t>The design should be traceable to the analysis model</a:t>
            </a:r>
          </a:p>
          <a:p>
            <a:pPr algn="just">
              <a:buFont typeface="Arial" panose="020B0604020202020204" pitchFamily="34" charset="0"/>
              <a:buChar char="•"/>
            </a:pPr>
            <a:endParaRPr lang="en-GB" sz="2600" dirty="0"/>
          </a:p>
          <a:p>
            <a:pPr algn="just">
              <a:buFont typeface="Arial" panose="020B0604020202020204" pitchFamily="34" charset="0"/>
              <a:buChar char="•"/>
            </a:pPr>
            <a:r>
              <a:rPr lang="en-GB" sz="2600" dirty="0"/>
              <a:t>The design should not reinvent the wheel</a:t>
            </a:r>
          </a:p>
          <a:p>
            <a:pPr algn="just">
              <a:buFont typeface="Arial" panose="020B0604020202020204" pitchFamily="34" charset="0"/>
              <a:buChar char="•"/>
            </a:pPr>
            <a:endParaRPr lang="en-GB" sz="2600" dirty="0"/>
          </a:p>
          <a:p>
            <a:pPr algn="just">
              <a:buFont typeface="Arial" panose="020B0604020202020204" pitchFamily="34" charset="0"/>
              <a:buChar char="•"/>
            </a:pPr>
            <a:r>
              <a:rPr lang="en-GB" sz="2600" dirty="0"/>
              <a:t>The design should minimise intellectual distance between the software and the problem as it exists in the real world.</a:t>
            </a:r>
          </a:p>
          <a:p>
            <a:pPr algn="just">
              <a:lnSpc>
                <a:spcPct val="90000"/>
              </a:lnSpc>
            </a:pPr>
            <a:endParaRPr lang="en-GB" sz="2600" dirty="0"/>
          </a:p>
          <a:p>
            <a:pPr algn="just">
              <a:lnSpc>
                <a:spcPct val="90000"/>
              </a:lnSpc>
            </a:pPr>
            <a:endParaRPr lang="en-GB"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8851">
                                            <p:txEl>
                                              <p:pRg st="0" end="0"/>
                                            </p:txEl>
                                          </p:spTgt>
                                        </p:tgtEl>
                                        <p:attrNameLst>
                                          <p:attrName>style.visibility</p:attrName>
                                        </p:attrNameLst>
                                      </p:cBhvr>
                                      <p:to>
                                        <p:strVal val="visible"/>
                                      </p:to>
                                    </p:set>
                                    <p:animEffect transition="in" filter="blinds(horizontal)">
                                      <p:cBhvr>
                                        <p:cTn id="7" dur="500"/>
                                        <p:tgtEl>
                                          <p:spTgt spid="788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8851">
                                            <p:txEl>
                                              <p:pRg st="2" end="2"/>
                                            </p:txEl>
                                          </p:spTgt>
                                        </p:tgtEl>
                                        <p:attrNameLst>
                                          <p:attrName>style.visibility</p:attrName>
                                        </p:attrNameLst>
                                      </p:cBhvr>
                                      <p:to>
                                        <p:strVal val="visible"/>
                                      </p:to>
                                    </p:set>
                                    <p:animEffect transition="in" filter="blinds(horizontal)">
                                      <p:cBhvr>
                                        <p:cTn id="12" dur="500"/>
                                        <p:tgtEl>
                                          <p:spTgt spid="7885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8851">
                                            <p:txEl>
                                              <p:pRg st="4" end="4"/>
                                            </p:txEl>
                                          </p:spTgt>
                                        </p:tgtEl>
                                        <p:attrNameLst>
                                          <p:attrName>style.visibility</p:attrName>
                                        </p:attrNameLst>
                                      </p:cBhvr>
                                      <p:to>
                                        <p:strVal val="visible"/>
                                      </p:to>
                                    </p:set>
                                    <p:animEffect transition="in" filter="blinds(horizontal)">
                                      <p:cBhvr>
                                        <p:cTn id="17" dur="500"/>
                                        <p:tgtEl>
                                          <p:spTgt spid="78851">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8851">
                                            <p:txEl>
                                              <p:pRg st="6" end="6"/>
                                            </p:txEl>
                                          </p:spTgt>
                                        </p:tgtEl>
                                        <p:attrNameLst>
                                          <p:attrName>style.visibility</p:attrName>
                                        </p:attrNameLst>
                                      </p:cBhvr>
                                      <p:to>
                                        <p:strVal val="visible"/>
                                      </p:to>
                                    </p:set>
                                    <p:animEffect transition="in" filter="blinds(horizontal)">
                                      <p:cBhvr>
                                        <p:cTn id="22" dur="500"/>
                                        <p:tgtEl>
                                          <p:spTgt spid="7885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normAutofit/>
          </a:bodyPr>
          <a:lstStyle/>
          <a:p>
            <a:r>
              <a:rPr lang="en-US" b="1" dirty="0"/>
              <a:t>Software Design Principles </a:t>
            </a:r>
            <a:r>
              <a:rPr lang="en-US" b="1" dirty="0" err="1"/>
              <a:t>contd</a:t>
            </a:r>
            <a:r>
              <a:rPr lang="en-US" b="1" dirty="0"/>
              <a:t>…</a:t>
            </a:r>
            <a:endParaRPr lang="en-GB" b="1" dirty="0"/>
          </a:p>
        </p:txBody>
      </p:sp>
      <p:sp>
        <p:nvSpPr>
          <p:cNvPr id="79875" name="Rectangle 3"/>
          <p:cNvSpPr>
            <a:spLocks noGrp="1" noChangeArrowheads="1"/>
          </p:cNvSpPr>
          <p:nvPr>
            <p:ph idx="1"/>
          </p:nvPr>
        </p:nvSpPr>
        <p:spPr/>
        <p:txBody>
          <a:bodyPr>
            <a:normAutofit/>
          </a:bodyPr>
          <a:lstStyle/>
          <a:p>
            <a:pPr algn="just">
              <a:lnSpc>
                <a:spcPct val="90000"/>
              </a:lnSpc>
            </a:pPr>
            <a:r>
              <a:rPr lang="en-GB" sz="2600" dirty="0"/>
              <a:t>The design should exhibit uniformity and integration</a:t>
            </a:r>
          </a:p>
          <a:p>
            <a:pPr lvl="1" algn="just">
              <a:lnSpc>
                <a:spcPct val="90000"/>
              </a:lnSpc>
            </a:pPr>
            <a:r>
              <a:rPr lang="en-GB" sz="2400" dirty="0"/>
              <a:t>A design is uniform if it appears that one person developed the whole thing. </a:t>
            </a:r>
          </a:p>
          <a:p>
            <a:pPr lvl="1" algn="just">
              <a:lnSpc>
                <a:spcPct val="90000"/>
              </a:lnSpc>
            </a:pPr>
            <a:r>
              <a:rPr lang="en-GB" sz="2400" dirty="0"/>
              <a:t>A design is integrated if care is taken in defining interfaces between design components. </a:t>
            </a:r>
            <a:endParaRPr lang="en-US" sz="2400" dirty="0"/>
          </a:p>
          <a:p>
            <a:pPr algn="just"/>
            <a:endParaRPr lang="en-GB" sz="2600" dirty="0"/>
          </a:p>
          <a:p>
            <a:pPr algn="just"/>
            <a:r>
              <a:rPr lang="en-GB" sz="2600" dirty="0"/>
              <a:t>The design should be reviewed to minimize conceptual (semantic) errors </a:t>
            </a:r>
          </a:p>
          <a:p>
            <a:pPr algn="just"/>
            <a:endParaRPr lang="en-GB"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9875">
                                            <p:txEl>
                                              <p:pRg st="0" end="0"/>
                                            </p:txEl>
                                          </p:spTgt>
                                        </p:tgtEl>
                                        <p:attrNameLst>
                                          <p:attrName>style.visibility</p:attrName>
                                        </p:attrNameLst>
                                      </p:cBhvr>
                                      <p:to>
                                        <p:strVal val="visible"/>
                                      </p:to>
                                    </p:set>
                                    <p:animEffect transition="in" filter="blinds(horizontal)">
                                      <p:cBhvr>
                                        <p:cTn id="7" dur="500"/>
                                        <p:tgtEl>
                                          <p:spTgt spid="79875">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9875">
                                            <p:txEl>
                                              <p:pRg st="1" end="1"/>
                                            </p:txEl>
                                          </p:spTgt>
                                        </p:tgtEl>
                                        <p:attrNameLst>
                                          <p:attrName>style.visibility</p:attrName>
                                        </p:attrNameLst>
                                      </p:cBhvr>
                                      <p:to>
                                        <p:strVal val="visible"/>
                                      </p:to>
                                    </p:set>
                                    <p:animEffect transition="in" filter="blinds(horizontal)">
                                      <p:cBhvr>
                                        <p:cTn id="10" dur="500"/>
                                        <p:tgtEl>
                                          <p:spTgt spid="79875">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79875">
                                            <p:txEl>
                                              <p:pRg st="2" end="2"/>
                                            </p:txEl>
                                          </p:spTgt>
                                        </p:tgtEl>
                                        <p:attrNameLst>
                                          <p:attrName>style.visibility</p:attrName>
                                        </p:attrNameLst>
                                      </p:cBhvr>
                                      <p:to>
                                        <p:strVal val="visible"/>
                                      </p:to>
                                    </p:set>
                                    <p:animEffect transition="in" filter="blinds(horizontal)">
                                      <p:cBhvr>
                                        <p:cTn id="13" dur="500"/>
                                        <p:tgtEl>
                                          <p:spTgt spid="7987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79875">
                                            <p:txEl>
                                              <p:pRg st="4" end="4"/>
                                            </p:txEl>
                                          </p:spTgt>
                                        </p:tgtEl>
                                        <p:attrNameLst>
                                          <p:attrName>style.visibility</p:attrName>
                                        </p:attrNameLst>
                                      </p:cBhvr>
                                      <p:to>
                                        <p:strVal val="visible"/>
                                      </p:to>
                                    </p:set>
                                    <p:animEffect transition="in" filter="blinds(horizontal)">
                                      <p:cBhvr>
                                        <p:cTn id="18" dur="500"/>
                                        <p:tgtEl>
                                          <p:spTgt spid="7987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normAutofit/>
          </a:bodyPr>
          <a:lstStyle/>
          <a:p>
            <a:r>
              <a:rPr lang="en-US" b="1" dirty="0"/>
              <a:t>Software Design Principles </a:t>
            </a:r>
            <a:r>
              <a:rPr lang="en-US" b="1" dirty="0" err="1"/>
              <a:t>contd</a:t>
            </a:r>
            <a:r>
              <a:rPr lang="en-US" b="1" dirty="0"/>
              <a:t>…</a:t>
            </a:r>
            <a:endParaRPr lang="en-GB" b="1" dirty="0"/>
          </a:p>
        </p:txBody>
      </p:sp>
      <p:sp>
        <p:nvSpPr>
          <p:cNvPr id="79875" name="Rectangle 3"/>
          <p:cNvSpPr>
            <a:spLocks noGrp="1" noChangeArrowheads="1"/>
          </p:cNvSpPr>
          <p:nvPr>
            <p:ph idx="1"/>
          </p:nvPr>
        </p:nvSpPr>
        <p:spPr/>
        <p:txBody>
          <a:bodyPr>
            <a:normAutofit lnSpcReduction="10000"/>
          </a:bodyPr>
          <a:lstStyle/>
          <a:p>
            <a:pPr algn="just"/>
            <a:r>
              <a:rPr lang="en-GB" sz="2600" dirty="0"/>
              <a:t>Design is not coding, coding is not design </a:t>
            </a:r>
          </a:p>
          <a:p>
            <a:pPr lvl="1" algn="just"/>
            <a:r>
              <a:rPr lang="en-GB" sz="2400" dirty="0"/>
              <a:t>Even when detailed designs are created for program components, the level of abstraction of the design model is higher than source code. </a:t>
            </a:r>
          </a:p>
          <a:p>
            <a:pPr lvl="1" algn="just"/>
            <a:endParaRPr lang="en-GB" sz="2400" dirty="0"/>
          </a:p>
          <a:p>
            <a:pPr algn="just"/>
            <a:r>
              <a:rPr lang="en-GB" sz="2600" dirty="0"/>
              <a:t>The design  should be structured to accommodate change </a:t>
            </a:r>
          </a:p>
          <a:p>
            <a:pPr algn="just"/>
            <a:endParaRPr lang="en-GB" sz="2600" dirty="0"/>
          </a:p>
          <a:p>
            <a:pPr algn="just"/>
            <a:r>
              <a:rPr lang="en-GB" sz="2600" dirty="0"/>
              <a:t>The design should be assessed for quality as it is being created </a:t>
            </a:r>
            <a:endParaRPr lang="en-US" sz="2600" dirty="0"/>
          </a:p>
          <a:p>
            <a:pPr algn="just"/>
            <a:endParaRPr lang="en-GB"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9875">
                                            <p:txEl>
                                              <p:pRg st="0" end="0"/>
                                            </p:txEl>
                                          </p:spTgt>
                                        </p:tgtEl>
                                        <p:attrNameLst>
                                          <p:attrName>style.visibility</p:attrName>
                                        </p:attrNameLst>
                                      </p:cBhvr>
                                      <p:to>
                                        <p:strVal val="visible"/>
                                      </p:to>
                                    </p:set>
                                    <p:animEffect transition="in" filter="blinds(horizontal)">
                                      <p:cBhvr>
                                        <p:cTn id="7" dur="500"/>
                                        <p:tgtEl>
                                          <p:spTgt spid="79875">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9875">
                                            <p:txEl>
                                              <p:pRg st="1" end="1"/>
                                            </p:txEl>
                                          </p:spTgt>
                                        </p:tgtEl>
                                        <p:attrNameLst>
                                          <p:attrName>style.visibility</p:attrName>
                                        </p:attrNameLst>
                                      </p:cBhvr>
                                      <p:to>
                                        <p:strVal val="visible"/>
                                      </p:to>
                                    </p:set>
                                    <p:animEffect transition="in" filter="blinds(horizontal)">
                                      <p:cBhvr>
                                        <p:cTn id="10" dur="500"/>
                                        <p:tgtEl>
                                          <p:spTgt spid="7987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79875">
                                            <p:txEl>
                                              <p:pRg st="3" end="3"/>
                                            </p:txEl>
                                          </p:spTgt>
                                        </p:tgtEl>
                                        <p:attrNameLst>
                                          <p:attrName>style.visibility</p:attrName>
                                        </p:attrNameLst>
                                      </p:cBhvr>
                                      <p:to>
                                        <p:strVal val="visible"/>
                                      </p:to>
                                    </p:set>
                                    <p:animEffect transition="in" filter="blinds(horizontal)">
                                      <p:cBhvr>
                                        <p:cTn id="15" dur="500"/>
                                        <p:tgtEl>
                                          <p:spTgt spid="79875">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79875">
                                            <p:txEl>
                                              <p:pRg st="5" end="5"/>
                                            </p:txEl>
                                          </p:spTgt>
                                        </p:tgtEl>
                                        <p:attrNameLst>
                                          <p:attrName>style.visibility</p:attrName>
                                        </p:attrNameLst>
                                      </p:cBhvr>
                                      <p:to>
                                        <p:strVal val="visible"/>
                                      </p:to>
                                    </p:set>
                                    <p:animEffect transition="in" filter="blinds(horizontal)">
                                      <p:cBhvr>
                                        <p:cTn id="20" dur="500"/>
                                        <p:tgtEl>
                                          <p:spTgt spid="798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a:t>CONCEPTS IN DESIGN</a:t>
            </a:r>
          </a:p>
        </p:txBody>
      </p:sp>
      <p:sp>
        <p:nvSpPr>
          <p:cNvPr id="4" name="Text Placeholder 3"/>
          <p:cNvSpPr>
            <a:spLocks noGrp="1"/>
          </p:cNvSpPr>
          <p:nvPr>
            <p:ph type="body" idx="1"/>
          </p:nvPr>
        </p:nvSpPr>
        <p:spPr/>
        <p:txBody>
          <a:bodyPr/>
          <a:lstStyle/>
          <a:p>
            <a:endParaRPr lang="en-US"/>
          </a:p>
        </p:txBody>
      </p:sp>
      <p:sp>
        <p:nvSpPr>
          <p:cNvPr id="2" name="Slide Number Placeholder 1"/>
          <p:cNvSpPr>
            <a:spLocks noGrp="1"/>
          </p:cNvSpPr>
          <p:nvPr>
            <p:ph type="sldNum" sz="quarter" idx="12"/>
          </p:nvPr>
        </p:nvSpPr>
        <p:spPr/>
        <p:txBody>
          <a:bodyPr/>
          <a:lstStyle/>
          <a:p>
            <a:fld id="{6954DADF-C1B8-4324-946D-E39590F244A5}"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idx="4294967295"/>
          </p:nvPr>
        </p:nvSpPr>
        <p:spPr>
          <a:xfrm>
            <a:off x="1184275" y="304800"/>
            <a:ext cx="7959725" cy="1216025"/>
          </a:xfrm>
        </p:spPr>
        <p:txBody>
          <a:bodyPr anchor="b"/>
          <a:lstStyle/>
          <a:p>
            <a:r>
              <a:rPr lang="en-US" sz="4000" b="1" dirty="0"/>
              <a:t>Concepts in Software Design Process</a:t>
            </a:r>
          </a:p>
        </p:txBody>
      </p:sp>
      <p:sp>
        <p:nvSpPr>
          <p:cNvPr id="4099" name="Rectangle 3"/>
          <p:cNvSpPr>
            <a:spLocks noGrp="1" noChangeArrowheads="1"/>
          </p:cNvSpPr>
          <p:nvPr>
            <p:ph type="body" idx="4294967295"/>
          </p:nvPr>
        </p:nvSpPr>
        <p:spPr>
          <a:xfrm>
            <a:off x="0" y="1719263"/>
            <a:ext cx="8229600" cy="4910137"/>
          </a:xfrm>
        </p:spPr>
        <p:txBody>
          <a:bodyPr/>
          <a:lstStyle/>
          <a:p>
            <a:pPr algn="just">
              <a:lnSpc>
                <a:spcPct val="80000"/>
              </a:lnSpc>
            </a:pPr>
            <a:r>
              <a:rPr lang="en-US" sz="2800" dirty="0"/>
              <a:t>Abstraction</a:t>
            </a:r>
          </a:p>
          <a:p>
            <a:pPr lvl="1" algn="just">
              <a:lnSpc>
                <a:spcPct val="80000"/>
              </a:lnSpc>
            </a:pPr>
            <a:r>
              <a:rPr lang="en-US" sz="2400" dirty="0"/>
              <a:t>Concentrate on a problem at some level of generalization without regard to irrelevant low level details.</a:t>
            </a:r>
          </a:p>
          <a:p>
            <a:pPr algn="just">
              <a:lnSpc>
                <a:spcPct val="80000"/>
              </a:lnSpc>
            </a:pPr>
            <a:r>
              <a:rPr lang="en-US" sz="2800" dirty="0"/>
              <a:t>Modularity</a:t>
            </a:r>
          </a:p>
          <a:p>
            <a:pPr lvl="1" algn="just">
              <a:lnSpc>
                <a:spcPct val="80000"/>
              </a:lnSpc>
            </a:pPr>
            <a:r>
              <a:rPr lang="en-US" sz="2400" dirty="0"/>
              <a:t>Divide the software into separately named and addressable components, that are integrated to satisfy the problem requirements.</a:t>
            </a:r>
          </a:p>
          <a:p>
            <a:pPr algn="just">
              <a:lnSpc>
                <a:spcPct val="80000"/>
              </a:lnSpc>
            </a:pPr>
            <a:r>
              <a:rPr lang="en-US" sz="2800" dirty="0"/>
              <a:t>Refinement</a:t>
            </a:r>
          </a:p>
          <a:p>
            <a:pPr lvl="1" algn="just">
              <a:lnSpc>
                <a:spcPct val="80000"/>
              </a:lnSpc>
            </a:pPr>
            <a:r>
              <a:rPr lang="en-US" sz="2400" dirty="0"/>
              <a:t>Top down design strategy that successively refines the levels of procedural details.</a:t>
            </a:r>
          </a:p>
          <a:p>
            <a:pPr lvl="1" algn="just">
              <a:lnSpc>
                <a:spcPct val="80000"/>
              </a:lnSpc>
            </a:pPr>
            <a:r>
              <a:rPr lang="en-US" sz="2400" dirty="0"/>
              <a:t>Every refinement step involves </a:t>
            </a:r>
            <a:r>
              <a:rPr lang="en-US" sz="2400" i="1" dirty="0"/>
              <a:t>Design Decisions.</a:t>
            </a:r>
          </a:p>
          <a:p>
            <a:pPr lvl="1" algn="just">
              <a:lnSpc>
                <a:spcPct val="80000"/>
              </a:lnSpc>
            </a:pPr>
            <a:endParaRPr lang="en-US"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blinds(horizontal)">
                                      <p:cBhvr>
                                        <p:cTn id="7" dur="500"/>
                                        <p:tgtEl>
                                          <p:spTgt spid="409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099">
                                            <p:txEl>
                                              <p:pRg st="1" end="1"/>
                                            </p:txEl>
                                          </p:spTgt>
                                        </p:tgtEl>
                                        <p:attrNameLst>
                                          <p:attrName>style.visibility</p:attrName>
                                        </p:attrNameLst>
                                      </p:cBhvr>
                                      <p:to>
                                        <p:strVal val="visible"/>
                                      </p:to>
                                    </p:set>
                                    <p:animEffect transition="in" filter="blinds(horizontal)">
                                      <p:cBhvr>
                                        <p:cTn id="10" dur="500"/>
                                        <p:tgtEl>
                                          <p:spTgt spid="409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4099">
                                            <p:txEl>
                                              <p:pRg st="2" end="2"/>
                                            </p:txEl>
                                          </p:spTgt>
                                        </p:tgtEl>
                                        <p:attrNameLst>
                                          <p:attrName>style.visibility</p:attrName>
                                        </p:attrNameLst>
                                      </p:cBhvr>
                                      <p:to>
                                        <p:strVal val="visible"/>
                                      </p:to>
                                    </p:set>
                                    <p:animEffect transition="in" filter="blinds(horizontal)">
                                      <p:cBhvr>
                                        <p:cTn id="15" dur="500"/>
                                        <p:tgtEl>
                                          <p:spTgt spid="4099">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4099">
                                            <p:txEl>
                                              <p:pRg st="3" end="3"/>
                                            </p:txEl>
                                          </p:spTgt>
                                        </p:tgtEl>
                                        <p:attrNameLst>
                                          <p:attrName>style.visibility</p:attrName>
                                        </p:attrNameLst>
                                      </p:cBhvr>
                                      <p:to>
                                        <p:strVal val="visible"/>
                                      </p:to>
                                    </p:set>
                                    <p:animEffect transition="in" filter="blinds(horizontal)">
                                      <p:cBhvr>
                                        <p:cTn id="18" dur="500"/>
                                        <p:tgtEl>
                                          <p:spTgt spid="4099">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4099">
                                            <p:txEl>
                                              <p:pRg st="4" end="4"/>
                                            </p:txEl>
                                          </p:spTgt>
                                        </p:tgtEl>
                                        <p:attrNameLst>
                                          <p:attrName>style.visibility</p:attrName>
                                        </p:attrNameLst>
                                      </p:cBhvr>
                                      <p:to>
                                        <p:strVal val="visible"/>
                                      </p:to>
                                    </p:set>
                                    <p:animEffect transition="in" filter="blinds(horizontal)">
                                      <p:cBhvr>
                                        <p:cTn id="23" dur="500"/>
                                        <p:tgtEl>
                                          <p:spTgt spid="4099">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4099">
                                            <p:txEl>
                                              <p:pRg st="5" end="5"/>
                                            </p:txEl>
                                          </p:spTgt>
                                        </p:tgtEl>
                                        <p:attrNameLst>
                                          <p:attrName>style.visibility</p:attrName>
                                        </p:attrNameLst>
                                      </p:cBhvr>
                                      <p:to>
                                        <p:strVal val="visible"/>
                                      </p:to>
                                    </p:set>
                                    <p:animEffect transition="in" filter="blinds(horizontal)">
                                      <p:cBhvr>
                                        <p:cTn id="26" dur="500"/>
                                        <p:tgtEl>
                                          <p:spTgt spid="4099">
                                            <p:txEl>
                                              <p:pRg st="5" end="5"/>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4099">
                                            <p:txEl>
                                              <p:pRg st="6" end="6"/>
                                            </p:txEl>
                                          </p:spTgt>
                                        </p:tgtEl>
                                        <p:attrNameLst>
                                          <p:attrName>style.visibility</p:attrName>
                                        </p:attrNameLst>
                                      </p:cBhvr>
                                      <p:to>
                                        <p:strVal val="visible"/>
                                      </p:to>
                                    </p:set>
                                    <p:animEffect transition="in" filter="blinds(horizontal)">
                                      <p:cBhvr>
                                        <p:cTn id="29" dur="500"/>
                                        <p:tgtEl>
                                          <p:spTgt spid="409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0" y="274638"/>
            <a:ext cx="8229600" cy="1143000"/>
          </a:xfrm>
        </p:spPr>
        <p:txBody>
          <a:bodyPr anchor="b"/>
          <a:lstStyle/>
          <a:p>
            <a:r>
              <a:rPr lang="en-US" b="1" dirty="0"/>
              <a:t>Modular Design</a:t>
            </a:r>
          </a:p>
        </p:txBody>
      </p:sp>
      <p:sp>
        <p:nvSpPr>
          <p:cNvPr id="5123" name="Rectangle 3"/>
          <p:cNvSpPr>
            <a:spLocks noGrp="1" noChangeArrowheads="1"/>
          </p:cNvSpPr>
          <p:nvPr>
            <p:ph type="body" idx="4294967295"/>
          </p:nvPr>
        </p:nvSpPr>
        <p:spPr>
          <a:xfrm>
            <a:off x="381000" y="1600200"/>
            <a:ext cx="7848600" cy="4876800"/>
          </a:xfrm>
        </p:spPr>
        <p:txBody>
          <a:bodyPr/>
          <a:lstStyle/>
          <a:p>
            <a:pPr algn="just">
              <a:buFont typeface="Wingdings" panose="05000000000000000000" pitchFamily="2" charset="2"/>
              <a:buChar char="v"/>
            </a:pPr>
            <a:r>
              <a:rPr lang="en-US" dirty="0"/>
              <a:t>Easier to manage</a:t>
            </a:r>
          </a:p>
          <a:p>
            <a:pPr algn="just">
              <a:buFont typeface="Wingdings" panose="05000000000000000000" pitchFamily="2" charset="2"/>
              <a:buChar char="v"/>
            </a:pPr>
            <a:r>
              <a:rPr lang="en-US" dirty="0"/>
              <a:t>Easier to understand</a:t>
            </a:r>
          </a:p>
          <a:p>
            <a:pPr algn="just">
              <a:buFont typeface="Wingdings" panose="05000000000000000000" pitchFamily="2" charset="2"/>
              <a:buChar char="v"/>
            </a:pPr>
            <a:r>
              <a:rPr lang="en-US" dirty="0"/>
              <a:t>Reduces complexity</a:t>
            </a:r>
          </a:p>
          <a:p>
            <a:pPr algn="just">
              <a:buFont typeface="Wingdings" panose="05000000000000000000" pitchFamily="2" charset="2"/>
              <a:buChar char="v"/>
            </a:pPr>
            <a:r>
              <a:rPr lang="en-US" dirty="0"/>
              <a:t>Delegation / division of work</a:t>
            </a:r>
          </a:p>
          <a:p>
            <a:pPr algn="just">
              <a:buFont typeface="Wingdings" panose="05000000000000000000" pitchFamily="2" charset="2"/>
              <a:buChar char="v"/>
            </a:pPr>
            <a:r>
              <a:rPr lang="en-US" dirty="0"/>
              <a:t>Fault isolation</a:t>
            </a:r>
          </a:p>
          <a:p>
            <a:pPr algn="just">
              <a:buFont typeface="Wingdings" panose="05000000000000000000" pitchFamily="2" charset="2"/>
              <a:buChar char="v"/>
            </a:pPr>
            <a:r>
              <a:rPr lang="en-US" dirty="0"/>
              <a:t>Independent development</a:t>
            </a:r>
          </a:p>
          <a:p>
            <a:pPr algn="just">
              <a:buFont typeface="Wingdings" panose="05000000000000000000" pitchFamily="2" charset="2"/>
              <a:buChar char="v"/>
            </a:pPr>
            <a:r>
              <a:rPr lang="en-US" dirty="0"/>
              <a:t>Separation of concerns</a:t>
            </a:r>
          </a:p>
          <a:p>
            <a:pPr algn="just">
              <a:buFont typeface="Wingdings" panose="05000000000000000000" pitchFamily="2" charset="2"/>
              <a:buChar char="v"/>
            </a:pPr>
            <a:r>
              <a:rPr lang="en-US" dirty="0"/>
              <a:t>Reuse</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0" y="274638"/>
            <a:ext cx="8229600" cy="1143000"/>
          </a:xfrm>
        </p:spPr>
        <p:txBody>
          <a:bodyPr anchor="b"/>
          <a:lstStyle/>
          <a:p>
            <a:r>
              <a:rPr lang="en-US" b="1" dirty="0"/>
              <a:t>Effective Modular Design</a:t>
            </a:r>
          </a:p>
        </p:txBody>
      </p:sp>
      <p:sp>
        <p:nvSpPr>
          <p:cNvPr id="6147" name="Rectangle 3"/>
          <p:cNvSpPr>
            <a:spLocks noGrp="1" noChangeArrowheads="1"/>
          </p:cNvSpPr>
          <p:nvPr>
            <p:ph type="body" idx="4294967295"/>
          </p:nvPr>
        </p:nvSpPr>
        <p:spPr>
          <a:xfrm>
            <a:off x="0" y="1600200"/>
            <a:ext cx="8229600" cy="4525963"/>
          </a:xfrm>
        </p:spPr>
        <p:txBody>
          <a:bodyPr/>
          <a:lstStyle/>
          <a:p>
            <a:r>
              <a:rPr lang="en-US"/>
              <a:t>How to decompose a software system into best set of modules?</a:t>
            </a:r>
          </a:p>
          <a:p>
            <a:pPr lvl="1"/>
            <a:r>
              <a:rPr lang="en-US"/>
              <a:t>Information hiding</a:t>
            </a:r>
          </a:p>
          <a:p>
            <a:pPr lvl="1"/>
            <a:r>
              <a:rPr lang="en-US"/>
              <a:t>Cohesion</a:t>
            </a:r>
          </a:p>
          <a:p>
            <a:pPr lvl="1"/>
            <a:r>
              <a:rPr lang="en-US"/>
              <a:t>Coupling</a:t>
            </a:r>
          </a:p>
          <a:p>
            <a:pPr lvl="1"/>
            <a:r>
              <a:rPr lang="en-US"/>
              <a:t>Functional independence</a:t>
            </a:r>
          </a:p>
          <a:p>
            <a:pPr lvl="1"/>
            <a:endParaRPr 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0" y="274638"/>
            <a:ext cx="8229600" cy="1143000"/>
          </a:xfrm>
        </p:spPr>
        <p:txBody>
          <a:bodyPr anchor="b"/>
          <a:lstStyle/>
          <a:p>
            <a:r>
              <a:rPr lang="en-US" b="1" dirty="0"/>
              <a:t>Information</a:t>
            </a:r>
            <a:r>
              <a:rPr lang="en-US" dirty="0"/>
              <a:t> Hiding</a:t>
            </a:r>
          </a:p>
        </p:txBody>
      </p:sp>
      <p:sp>
        <p:nvSpPr>
          <p:cNvPr id="7171" name="Rectangle 3"/>
          <p:cNvSpPr>
            <a:spLocks noGrp="1" noChangeArrowheads="1"/>
          </p:cNvSpPr>
          <p:nvPr>
            <p:ph type="body" idx="4294967295"/>
          </p:nvPr>
        </p:nvSpPr>
        <p:spPr>
          <a:xfrm>
            <a:off x="76200" y="1600200"/>
            <a:ext cx="8153400" cy="4525963"/>
          </a:xfrm>
        </p:spPr>
        <p:txBody>
          <a:bodyPr/>
          <a:lstStyle/>
          <a:p>
            <a:pPr algn="just">
              <a:lnSpc>
                <a:spcPct val="90000"/>
              </a:lnSpc>
              <a:buFont typeface="Arial" panose="020B0604020202020204" pitchFamily="34" charset="0"/>
              <a:buChar char="•"/>
            </a:pPr>
            <a:r>
              <a:rPr lang="en-US" sz="2800" dirty="0"/>
              <a:t>Design the modules in such a way that information (data &amp; procedures) contained in one module is inaccessible to other modules that have no need for such information.</a:t>
            </a:r>
          </a:p>
          <a:p>
            <a:pPr algn="just">
              <a:lnSpc>
                <a:spcPct val="90000"/>
              </a:lnSpc>
            </a:pPr>
            <a:endParaRPr lang="en-US" sz="2800" dirty="0"/>
          </a:p>
          <a:p>
            <a:pPr algn="just">
              <a:buFont typeface="Arial" panose="020B0604020202020204" pitchFamily="34" charset="0"/>
              <a:buChar char="•"/>
            </a:pPr>
            <a:r>
              <a:rPr lang="en-US" sz="2800" b="1" dirty="0"/>
              <a:t>Independent modules.</a:t>
            </a:r>
          </a:p>
          <a:p>
            <a:pPr algn="just">
              <a:lnSpc>
                <a:spcPct val="90000"/>
              </a:lnSpc>
            </a:pPr>
            <a:r>
              <a:rPr lang="en-US" sz="2800" dirty="0"/>
              <a:t>Benefits:</a:t>
            </a:r>
          </a:p>
          <a:p>
            <a:pPr lvl="1" algn="just">
              <a:lnSpc>
                <a:spcPct val="90000"/>
              </a:lnSpc>
            </a:pPr>
            <a:r>
              <a:rPr lang="en-US" sz="2600" dirty="0"/>
              <a:t>when modifications are required, it reduces the chances of propagating to other modules. </a:t>
            </a:r>
          </a:p>
          <a:p>
            <a:pPr algn="just">
              <a:lnSpc>
                <a:spcPct val="90000"/>
              </a:lnSpc>
            </a:pPr>
            <a:endParaRPr lang="en-US" sz="26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blinds(horizontal)">
                                      <p:cBhvr>
                                        <p:cTn id="7" dur="500"/>
                                        <p:tgtEl>
                                          <p:spTgt spid="7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171">
                                            <p:txEl>
                                              <p:pRg st="2" end="2"/>
                                            </p:txEl>
                                          </p:spTgt>
                                        </p:tgtEl>
                                        <p:attrNameLst>
                                          <p:attrName>style.visibility</p:attrName>
                                        </p:attrNameLst>
                                      </p:cBhvr>
                                      <p:to>
                                        <p:strVal val="visible"/>
                                      </p:to>
                                    </p:set>
                                    <p:animEffect transition="in" filter="blinds(horizontal)">
                                      <p:cBhvr>
                                        <p:cTn id="12" dur="500"/>
                                        <p:tgtEl>
                                          <p:spTgt spid="717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171">
                                            <p:txEl>
                                              <p:pRg st="3" end="3"/>
                                            </p:txEl>
                                          </p:spTgt>
                                        </p:tgtEl>
                                        <p:attrNameLst>
                                          <p:attrName>style.visibility</p:attrName>
                                        </p:attrNameLst>
                                      </p:cBhvr>
                                      <p:to>
                                        <p:strVal val="visible"/>
                                      </p:to>
                                    </p:set>
                                    <p:animEffect transition="in" filter="blinds(horizontal)">
                                      <p:cBhvr>
                                        <p:cTn id="17" dur="500"/>
                                        <p:tgtEl>
                                          <p:spTgt spid="7171">
                                            <p:txEl>
                                              <p:pRg st="3" end="3"/>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7171">
                                            <p:txEl>
                                              <p:pRg st="4" end="4"/>
                                            </p:txEl>
                                          </p:spTgt>
                                        </p:tgtEl>
                                        <p:attrNameLst>
                                          <p:attrName>style.visibility</p:attrName>
                                        </p:attrNameLst>
                                      </p:cBhvr>
                                      <p:to>
                                        <p:strVal val="visible"/>
                                      </p:to>
                                    </p:set>
                                    <p:animEffect transition="in" filter="blinds(horizontal)">
                                      <p:cBhvr>
                                        <p:cTn id="20" dur="500"/>
                                        <p:tgtEl>
                                          <p:spTgt spid="71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0" y="274638"/>
            <a:ext cx="8229600" cy="1143000"/>
          </a:xfrm>
        </p:spPr>
        <p:txBody>
          <a:bodyPr anchor="b"/>
          <a:lstStyle/>
          <a:p>
            <a:r>
              <a:rPr lang="en-US" b="1" dirty="0"/>
              <a:t>Cohesion</a:t>
            </a:r>
          </a:p>
        </p:txBody>
      </p:sp>
      <p:sp>
        <p:nvSpPr>
          <p:cNvPr id="8195" name="Rectangle 3"/>
          <p:cNvSpPr>
            <a:spLocks noGrp="1" noChangeArrowheads="1"/>
          </p:cNvSpPr>
          <p:nvPr>
            <p:ph type="body" idx="4294967295"/>
          </p:nvPr>
        </p:nvSpPr>
        <p:spPr>
          <a:xfrm>
            <a:off x="152400" y="1600200"/>
            <a:ext cx="8077200" cy="4525963"/>
          </a:xfrm>
        </p:spPr>
        <p:txBody>
          <a:bodyPr/>
          <a:lstStyle/>
          <a:p>
            <a:pPr marL="0" indent="0" algn="just">
              <a:buNone/>
            </a:pPr>
            <a:r>
              <a:rPr lang="en-US" sz="2800" dirty="0"/>
              <a:t>“A module should ideally do one thing.”</a:t>
            </a:r>
          </a:p>
          <a:p>
            <a:pPr algn="just">
              <a:buFont typeface="Arial" panose="020B0604020202020204" pitchFamily="34" charset="0"/>
              <a:buChar char="•"/>
            </a:pPr>
            <a:r>
              <a:rPr lang="en-US" sz="2800" dirty="0"/>
              <a:t>Each module performs a single task requiring little interaction with other modules. </a:t>
            </a:r>
          </a:p>
          <a:p>
            <a:pPr algn="just">
              <a:buFont typeface="Arial" panose="020B0604020202020204" pitchFamily="34" charset="0"/>
              <a:buChar char="•"/>
            </a:pPr>
            <a:r>
              <a:rPr lang="en-US" sz="2800" dirty="0"/>
              <a:t>A cohesive module since accomplished neatly defined single task so it can be re-used in other projects</a:t>
            </a:r>
          </a:p>
          <a:p>
            <a:pPr algn="just">
              <a:buFont typeface="Arial" panose="020B0604020202020204" pitchFamily="34" charset="0"/>
              <a:buChar char="•"/>
            </a:pPr>
            <a:r>
              <a:rPr lang="en-US" sz="2800" dirty="0"/>
              <a:t>High cohesion is good</a:t>
            </a:r>
          </a:p>
          <a:p>
            <a:pPr lvl="1" algn="just">
              <a:buFont typeface="Arial" panose="020B0604020202020204" pitchFamily="34" charset="0"/>
              <a:buChar char="•"/>
            </a:pPr>
            <a:r>
              <a:rPr lang="en-US" sz="2600" dirty="0"/>
              <a:t>Changes are likely to be local to a module</a:t>
            </a:r>
          </a:p>
          <a:p>
            <a:pPr lvl="1" algn="just">
              <a:buFont typeface="Arial" panose="020B0604020202020204" pitchFamily="34" charset="0"/>
              <a:buChar char="•"/>
            </a:pPr>
            <a:r>
              <a:rPr lang="en-US" sz="2600" dirty="0"/>
              <a:t>Easier to understand a module in isolation</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linds(horizontal)">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blinds(horizontal)">
                                      <p:cBhvr>
                                        <p:cTn id="12" dur="5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blinds(horizontal)">
                                      <p:cBhvr>
                                        <p:cTn id="17" dur="500"/>
                                        <p:tgtEl>
                                          <p:spTgt spid="81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blinds(horizontal)">
                                      <p:cBhvr>
                                        <p:cTn id="22" dur="500"/>
                                        <p:tgtEl>
                                          <p:spTgt spid="8195">
                                            <p:txEl>
                                              <p:pRg st="3" end="3"/>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8195">
                                            <p:txEl>
                                              <p:pRg st="4" end="4"/>
                                            </p:txEl>
                                          </p:spTgt>
                                        </p:tgtEl>
                                        <p:attrNameLst>
                                          <p:attrName>style.visibility</p:attrName>
                                        </p:attrNameLst>
                                      </p:cBhvr>
                                      <p:to>
                                        <p:strVal val="visible"/>
                                      </p:to>
                                    </p:set>
                                    <p:animEffect transition="in" filter="blinds(horizontal)">
                                      <p:cBhvr>
                                        <p:cTn id="25" dur="500"/>
                                        <p:tgtEl>
                                          <p:spTgt spid="8195">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8195">
                                            <p:txEl>
                                              <p:pRg st="5" end="5"/>
                                            </p:txEl>
                                          </p:spTgt>
                                        </p:tgtEl>
                                        <p:attrNameLst>
                                          <p:attrName>style.visibility</p:attrName>
                                        </p:attrNameLst>
                                      </p:cBhvr>
                                      <p:to>
                                        <p:strVal val="visible"/>
                                      </p:to>
                                    </p:set>
                                    <p:animEffect transition="in" filter="blinds(horizontal)">
                                      <p:cBhvr>
                                        <p:cTn id="28" dur="500"/>
                                        <p:tgtEl>
                                          <p:spTgt spid="81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0" y="381000"/>
            <a:ext cx="8229600" cy="503238"/>
          </a:xfrm>
        </p:spPr>
        <p:txBody>
          <a:bodyPr anchor="b">
            <a:normAutofit fontScale="90000"/>
          </a:bodyPr>
          <a:lstStyle/>
          <a:p>
            <a:r>
              <a:rPr lang="en-US" sz="4000" b="1" dirty="0"/>
              <a:t>Coupling</a:t>
            </a:r>
          </a:p>
        </p:txBody>
      </p:sp>
      <p:sp>
        <p:nvSpPr>
          <p:cNvPr id="9219" name="Rectangle 3"/>
          <p:cNvSpPr>
            <a:spLocks noGrp="1" noChangeArrowheads="1"/>
          </p:cNvSpPr>
          <p:nvPr>
            <p:ph type="body" idx="4294967295"/>
          </p:nvPr>
        </p:nvSpPr>
        <p:spPr>
          <a:xfrm>
            <a:off x="0" y="1143000"/>
            <a:ext cx="8229600" cy="4983163"/>
          </a:xfrm>
        </p:spPr>
        <p:txBody>
          <a:bodyPr>
            <a:normAutofit/>
          </a:bodyPr>
          <a:lstStyle/>
          <a:p>
            <a:pPr algn="just">
              <a:buFont typeface="Arial" panose="020B0604020202020204" pitchFamily="34" charset="0"/>
              <a:buChar char="•"/>
            </a:pPr>
            <a:r>
              <a:rPr lang="en-US" sz="2600" dirty="0"/>
              <a:t>A measure of interconnection among modules in a software structure</a:t>
            </a:r>
          </a:p>
          <a:p>
            <a:pPr algn="just">
              <a:buFont typeface="Arial" panose="020B0604020202020204" pitchFamily="34" charset="0"/>
              <a:buChar char="•"/>
            </a:pPr>
            <a:r>
              <a:rPr lang="en-US" sz="2600" dirty="0"/>
              <a:t>Depends on the interface complexity between the modules</a:t>
            </a:r>
          </a:p>
          <a:p>
            <a:pPr algn="just">
              <a:buFont typeface="Arial" panose="020B0604020202020204" pitchFamily="34" charset="0"/>
              <a:buChar char="•"/>
            </a:pPr>
            <a:r>
              <a:rPr lang="en-US" sz="2600" dirty="0"/>
              <a:t>High coupling causes problems</a:t>
            </a:r>
          </a:p>
          <a:p>
            <a:pPr lvl="1" algn="just">
              <a:buFont typeface="Arial" panose="020B0604020202020204" pitchFamily="34" charset="0"/>
              <a:buChar char="•"/>
            </a:pPr>
            <a:r>
              <a:rPr lang="en-US" sz="2600" dirty="0"/>
              <a:t>Change propagation- ripple effect</a:t>
            </a:r>
          </a:p>
          <a:p>
            <a:pPr lvl="1" algn="just">
              <a:buFont typeface="Arial" panose="020B0604020202020204" pitchFamily="34" charset="0"/>
              <a:buChar char="•"/>
            </a:pPr>
            <a:r>
              <a:rPr lang="en-US" sz="2600" dirty="0"/>
              <a:t>Difficulty in understanding</a:t>
            </a:r>
          </a:p>
          <a:p>
            <a:pPr lvl="1" algn="just">
              <a:buFont typeface="Arial" panose="020B0604020202020204" pitchFamily="34" charset="0"/>
              <a:buChar char="•"/>
            </a:pPr>
            <a:r>
              <a:rPr lang="en-US" sz="2600" dirty="0"/>
              <a:t>Difficult reuse</a:t>
            </a:r>
          </a:p>
          <a:p>
            <a:pPr algn="just"/>
            <a:endParaRPr lang="en-US" sz="2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linds(horizontal)">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blinds(horizontal)">
                                      <p:cBhvr>
                                        <p:cTn id="12" dur="500"/>
                                        <p:tgtEl>
                                          <p:spTgt spid="92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animEffect transition="in" filter="blinds(horizontal)">
                                      <p:cBhvr>
                                        <p:cTn id="17" dur="500"/>
                                        <p:tgtEl>
                                          <p:spTgt spid="9219">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9219">
                                            <p:txEl>
                                              <p:pRg st="3" end="3"/>
                                            </p:txEl>
                                          </p:spTgt>
                                        </p:tgtEl>
                                        <p:attrNameLst>
                                          <p:attrName>style.visibility</p:attrName>
                                        </p:attrNameLst>
                                      </p:cBhvr>
                                      <p:to>
                                        <p:strVal val="visible"/>
                                      </p:to>
                                    </p:set>
                                    <p:animEffect transition="in" filter="blinds(horizontal)">
                                      <p:cBhvr>
                                        <p:cTn id="20" dur="500"/>
                                        <p:tgtEl>
                                          <p:spTgt spid="9219">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9219">
                                            <p:txEl>
                                              <p:pRg st="4" end="4"/>
                                            </p:txEl>
                                          </p:spTgt>
                                        </p:tgtEl>
                                        <p:attrNameLst>
                                          <p:attrName>style.visibility</p:attrName>
                                        </p:attrNameLst>
                                      </p:cBhvr>
                                      <p:to>
                                        <p:strVal val="visible"/>
                                      </p:to>
                                    </p:set>
                                    <p:animEffect transition="in" filter="blinds(horizontal)">
                                      <p:cBhvr>
                                        <p:cTn id="23" dur="500"/>
                                        <p:tgtEl>
                                          <p:spTgt spid="9219">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9219">
                                            <p:txEl>
                                              <p:pRg st="5" end="5"/>
                                            </p:txEl>
                                          </p:spTgt>
                                        </p:tgtEl>
                                        <p:attrNameLst>
                                          <p:attrName>style.visibility</p:attrName>
                                        </p:attrNameLst>
                                      </p:cBhvr>
                                      <p:to>
                                        <p:strVal val="visible"/>
                                      </p:to>
                                    </p:set>
                                    <p:animEffect transition="in" filter="blinds(horizontal)">
                                      <p:cBhvr>
                                        <p:cTn id="26" dur="500"/>
                                        <p:tgtEl>
                                          <p:spTgt spid="92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0" y="274638"/>
            <a:ext cx="8229600" cy="1143000"/>
          </a:xfrm>
        </p:spPr>
        <p:txBody>
          <a:bodyPr anchor="b"/>
          <a:lstStyle/>
          <a:p>
            <a:r>
              <a:rPr lang="en-US" b="1" dirty="0"/>
              <a:t>Functional Independence</a:t>
            </a:r>
          </a:p>
        </p:txBody>
      </p:sp>
      <p:sp>
        <p:nvSpPr>
          <p:cNvPr id="10243" name="Rectangle 3"/>
          <p:cNvSpPr>
            <a:spLocks noGrp="1" noChangeArrowheads="1"/>
          </p:cNvSpPr>
          <p:nvPr>
            <p:ph type="body" idx="4294967295"/>
          </p:nvPr>
        </p:nvSpPr>
        <p:spPr>
          <a:xfrm>
            <a:off x="152400" y="1600200"/>
            <a:ext cx="8077200" cy="4525963"/>
          </a:xfrm>
        </p:spPr>
        <p:txBody>
          <a:bodyPr>
            <a:normAutofit/>
          </a:bodyPr>
          <a:lstStyle/>
          <a:p>
            <a:pPr algn="just">
              <a:lnSpc>
                <a:spcPct val="90000"/>
              </a:lnSpc>
              <a:buFont typeface="Arial" panose="020B0604020202020204" pitchFamily="34" charset="0"/>
              <a:buChar char="•"/>
            </a:pPr>
            <a:r>
              <a:rPr lang="en-GB" sz="2500" dirty="0"/>
              <a:t>A module having high cohesion and low coupling is said to be functionally independent of other modules. </a:t>
            </a:r>
          </a:p>
          <a:p>
            <a:pPr lvl="1" algn="just">
              <a:lnSpc>
                <a:spcPct val="90000"/>
              </a:lnSpc>
              <a:buFont typeface="Arial" panose="020B0604020202020204" pitchFamily="34" charset="0"/>
              <a:buChar char="•"/>
            </a:pPr>
            <a:endParaRPr lang="en-GB" sz="2200" dirty="0"/>
          </a:p>
          <a:p>
            <a:pPr algn="just">
              <a:lnSpc>
                <a:spcPct val="90000"/>
              </a:lnSpc>
              <a:buFont typeface="Arial" panose="020B0604020202020204" pitchFamily="34" charset="0"/>
              <a:buChar char="•"/>
            </a:pPr>
            <a:r>
              <a:rPr lang="en-US" sz="2500" dirty="0"/>
              <a:t>Each module addresses a specific sub function of requirements and is easier to maintain or modify</a:t>
            </a:r>
          </a:p>
          <a:p>
            <a:pPr algn="just">
              <a:lnSpc>
                <a:spcPct val="90000"/>
              </a:lnSpc>
              <a:buFont typeface="Arial" panose="020B0604020202020204" pitchFamily="34" charset="0"/>
              <a:buChar char="•"/>
            </a:pPr>
            <a:r>
              <a:rPr lang="en-US" sz="2800" dirty="0"/>
              <a:t>Benefits:</a:t>
            </a:r>
          </a:p>
          <a:p>
            <a:pPr lvl="1" algn="just">
              <a:lnSpc>
                <a:spcPct val="90000"/>
              </a:lnSpc>
              <a:buFont typeface="Arial" panose="020B0604020202020204" pitchFamily="34" charset="0"/>
              <a:buChar char="•"/>
            </a:pPr>
            <a:r>
              <a:rPr lang="en-US" sz="2600" dirty="0"/>
              <a:t>Error isolation</a:t>
            </a:r>
          </a:p>
          <a:p>
            <a:pPr lvl="1" algn="just">
              <a:lnSpc>
                <a:spcPct val="90000"/>
              </a:lnSpc>
              <a:buFont typeface="Arial" panose="020B0604020202020204" pitchFamily="34" charset="0"/>
              <a:buChar char="•"/>
            </a:pPr>
            <a:r>
              <a:rPr lang="en-US" sz="2600" dirty="0"/>
              <a:t>Scope of Re-use</a:t>
            </a:r>
          </a:p>
          <a:p>
            <a:pPr lvl="1" algn="just">
              <a:lnSpc>
                <a:spcPct val="90000"/>
              </a:lnSpc>
              <a:buFont typeface="Arial" panose="020B0604020202020204" pitchFamily="34" charset="0"/>
              <a:buChar char="•"/>
            </a:pPr>
            <a:r>
              <a:rPr lang="en-US" sz="2600" dirty="0"/>
              <a:t>Understandability</a:t>
            </a:r>
          </a:p>
          <a:p>
            <a:pPr lvl="1" algn="just">
              <a:lnSpc>
                <a:spcPct val="90000"/>
              </a:lnSpc>
            </a:pPr>
            <a:endParaRPr lang="en-US" sz="26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linds(horizontal)">
                                      <p:cBhvr>
                                        <p:cTn id="7" dur="500"/>
                                        <p:tgtEl>
                                          <p:spTgt spid="102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243">
                                            <p:txEl>
                                              <p:pRg st="2" end="2"/>
                                            </p:txEl>
                                          </p:spTgt>
                                        </p:tgtEl>
                                        <p:attrNameLst>
                                          <p:attrName>style.visibility</p:attrName>
                                        </p:attrNameLst>
                                      </p:cBhvr>
                                      <p:to>
                                        <p:strVal val="visible"/>
                                      </p:to>
                                    </p:set>
                                    <p:animEffect transition="in" filter="blinds(horizontal)">
                                      <p:cBhvr>
                                        <p:cTn id="12" dur="500"/>
                                        <p:tgtEl>
                                          <p:spTgt spid="1024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243">
                                            <p:txEl>
                                              <p:pRg st="3" end="3"/>
                                            </p:txEl>
                                          </p:spTgt>
                                        </p:tgtEl>
                                        <p:attrNameLst>
                                          <p:attrName>style.visibility</p:attrName>
                                        </p:attrNameLst>
                                      </p:cBhvr>
                                      <p:to>
                                        <p:strVal val="visible"/>
                                      </p:to>
                                    </p:set>
                                    <p:animEffect transition="in" filter="blinds(horizontal)">
                                      <p:cBhvr>
                                        <p:cTn id="17" dur="500"/>
                                        <p:tgtEl>
                                          <p:spTgt spid="10243">
                                            <p:txEl>
                                              <p:pRg st="3" end="3"/>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0243">
                                            <p:txEl>
                                              <p:pRg st="4" end="4"/>
                                            </p:txEl>
                                          </p:spTgt>
                                        </p:tgtEl>
                                        <p:attrNameLst>
                                          <p:attrName>style.visibility</p:attrName>
                                        </p:attrNameLst>
                                      </p:cBhvr>
                                      <p:to>
                                        <p:strVal val="visible"/>
                                      </p:to>
                                    </p:set>
                                    <p:animEffect transition="in" filter="blinds(horizontal)">
                                      <p:cBhvr>
                                        <p:cTn id="20" dur="500"/>
                                        <p:tgtEl>
                                          <p:spTgt spid="10243">
                                            <p:txEl>
                                              <p:pRg st="4" end="4"/>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0243">
                                            <p:txEl>
                                              <p:pRg st="5" end="5"/>
                                            </p:txEl>
                                          </p:spTgt>
                                        </p:tgtEl>
                                        <p:attrNameLst>
                                          <p:attrName>style.visibility</p:attrName>
                                        </p:attrNameLst>
                                      </p:cBhvr>
                                      <p:to>
                                        <p:strVal val="visible"/>
                                      </p:to>
                                    </p:set>
                                    <p:animEffect transition="in" filter="blinds(horizontal)">
                                      <p:cBhvr>
                                        <p:cTn id="23" dur="500"/>
                                        <p:tgtEl>
                                          <p:spTgt spid="10243">
                                            <p:txEl>
                                              <p:pRg st="5" end="5"/>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0243">
                                            <p:txEl>
                                              <p:pRg st="6" end="6"/>
                                            </p:txEl>
                                          </p:spTgt>
                                        </p:tgtEl>
                                        <p:attrNameLst>
                                          <p:attrName>style.visibility</p:attrName>
                                        </p:attrNameLst>
                                      </p:cBhvr>
                                      <p:to>
                                        <p:strVal val="visible"/>
                                      </p:to>
                                    </p:set>
                                    <p:animEffect transition="in" filter="blinds(horizontal)">
                                      <p:cBhvr>
                                        <p:cTn id="26" dur="500"/>
                                        <p:tgtEl>
                                          <p:spTgt spid="1024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pPr>
              <a:buFont typeface="Arial" panose="020B0604020202020204" pitchFamily="34" charset="0"/>
              <a:buChar char="•"/>
            </a:pPr>
            <a:r>
              <a:rPr lang="en-US" dirty="0"/>
              <a:t>Good design</a:t>
            </a:r>
          </a:p>
          <a:p>
            <a:pPr>
              <a:buFont typeface="Arial" panose="020B0604020202020204" pitchFamily="34" charset="0"/>
              <a:buChar char="•"/>
            </a:pPr>
            <a:r>
              <a:rPr lang="en-US" dirty="0"/>
              <a:t>Quality attributes of software design</a:t>
            </a:r>
          </a:p>
          <a:p>
            <a:pPr>
              <a:buFont typeface="Arial" panose="020B0604020202020204" pitchFamily="34" charset="0"/>
              <a:buChar char="•"/>
            </a:pPr>
            <a:r>
              <a:rPr lang="en-US" dirty="0"/>
              <a:t>Software design principles</a:t>
            </a:r>
          </a:p>
          <a:p>
            <a:pPr>
              <a:buFont typeface="Arial" panose="020B0604020202020204" pitchFamily="34" charset="0"/>
              <a:buChar char="•"/>
            </a:pPr>
            <a:r>
              <a:rPr lang="en-US" dirty="0"/>
              <a:t>A few concepts in design</a:t>
            </a: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7</TotalTime>
  <Words>1756</Words>
  <Application>Microsoft Office PowerPoint</Application>
  <PresentationFormat>On-screen Show (4:3)</PresentationFormat>
  <Paragraphs>220</Paragraphs>
  <Slides>31</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Times New Roman</vt:lpstr>
      <vt:lpstr>Wingdings</vt:lpstr>
      <vt:lpstr>Retrospect</vt:lpstr>
      <vt:lpstr>20H58665– Software Design and Architecture</vt:lpstr>
      <vt:lpstr>Previous Lecture</vt:lpstr>
      <vt:lpstr>Outline</vt:lpstr>
      <vt:lpstr>Good Design</vt:lpstr>
      <vt:lpstr>Efficiency</vt:lpstr>
      <vt:lpstr>Efficiency</vt:lpstr>
      <vt:lpstr>Correctness</vt:lpstr>
      <vt:lpstr>Reliability</vt:lpstr>
      <vt:lpstr>Portability</vt:lpstr>
      <vt:lpstr>Maintainability</vt:lpstr>
      <vt:lpstr>Reusability </vt:lpstr>
      <vt:lpstr>Interoperability</vt:lpstr>
      <vt:lpstr>QUALITY ATTRIBUTES OF SOFTWARE DESIGN</vt:lpstr>
      <vt:lpstr>Quality Attributes – Design Objectives</vt:lpstr>
      <vt:lpstr>Quality Attributes – Design Objectives</vt:lpstr>
      <vt:lpstr>Quality Attributes – Design Objectives</vt:lpstr>
      <vt:lpstr>Quality Attributes – Design Objectives</vt:lpstr>
      <vt:lpstr>Quality Attributes – Design Objectives</vt:lpstr>
      <vt:lpstr>Software design principles</vt:lpstr>
      <vt:lpstr>Software Design Principles</vt:lpstr>
      <vt:lpstr>Software Design Principles contd…</vt:lpstr>
      <vt:lpstr>Software Design Principles contd…</vt:lpstr>
      <vt:lpstr>CONCEPTS IN DESIGN</vt:lpstr>
      <vt:lpstr>Concepts in Software Design Process</vt:lpstr>
      <vt:lpstr>Modular Design</vt:lpstr>
      <vt:lpstr>Effective Modular Design</vt:lpstr>
      <vt:lpstr>Information Hiding</vt:lpstr>
      <vt:lpstr>Cohesion</vt:lpstr>
      <vt:lpstr>Coupling</vt:lpstr>
      <vt:lpstr>Functional Independence</vt:lpstr>
      <vt:lpstr>Summary</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Shehla</dc:creator>
  <cp:lastModifiedBy>Faizan Niazi</cp:lastModifiedBy>
  <cp:revision>59</cp:revision>
  <dcterms:created xsi:type="dcterms:W3CDTF">2015-07-29T17:47:00Z</dcterms:created>
  <dcterms:modified xsi:type="dcterms:W3CDTF">2024-09-13T10:51:32Z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005AAB07B7C34EFD9C984A12D7FF956E_12</vt:lpwstr>
  </property>
  <property fmtid="{D5CDD505-2E9C-101B-9397-08002B2CF9AE}" pid="3" name="KSOProductBuildVer">
    <vt:lpwstr>1033-12.2.0.18165</vt:lpwstr>
  </property>
</Properties>
</file>