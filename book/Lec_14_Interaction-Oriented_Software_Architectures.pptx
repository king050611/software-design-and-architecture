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22"/>
  </p:notesMasterIdLst>
  <p:sldIdLst>
    <p:sldId id="320" r:id="rId2"/>
    <p:sldId id="457" r:id="rId3"/>
    <p:sldId id="458" r:id="rId4"/>
    <p:sldId id="459" r:id="rId5"/>
    <p:sldId id="460" r:id="rId6"/>
    <p:sldId id="461" r:id="rId7"/>
    <p:sldId id="477" r:id="rId8"/>
    <p:sldId id="463" r:id="rId9"/>
    <p:sldId id="465" r:id="rId10"/>
    <p:sldId id="475" r:id="rId11"/>
    <p:sldId id="472" r:id="rId12"/>
    <p:sldId id="473" r:id="rId13"/>
    <p:sldId id="474" r:id="rId14"/>
    <p:sldId id="464" r:id="rId15"/>
    <p:sldId id="476" r:id="rId16"/>
    <p:sldId id="469" r:id="rId17"/>
    <p:sldId id="478" r:id="rId18"/>
    <p:sldId id="470" r:id="rId19"/>
    <p:sldId id="471" r:id="rId20"/>
    <p:sldId id="47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5-08-05T11:16:13.80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16:19.11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 14,'0'0'2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1:01.15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6 8 13</inkml:trace>
  <inkml:trace contextRef="#ctx0" brushRef="#br0" timeOffset="31">6 5 14,'0'0'2,"0"0"0,0 0 0,0 0-1</inkml:trace>
  <inkml:trace contextRef="#ctx0" brushRef="#br0" timeOffset="78">0 0 13,'0'0'2,"0"0"0,0 0 0,0 0 0</inkml:trace>
  <inkml:trace contextRef="#ctx0" brushRef="#br0" timeOffset="156">2 7 13,'0'0'3,"0"0"-1,0 0 0</inkml:trace>
  <inkml:trace contextRef="#ctx0" brushRef="#br0" timeOffset="204">4 0 13,'0'0'3</inkml:trace>
  <inkml:trace contextRef="#ctx0" brushRef="#br0" timeOffset="289">8 5 13,'0'0'2,"0"0"0,0 0 0,0 0 0,0 0 0,0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1:14.99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131 36 13</inkml:trace>
  <inkml:trace contextRef="#ctx0" brushRef="#br0" timeOffset="85">0 0 13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2:37.51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0 0 14</inkml:trace>
  <inkml:trace contextRef="#ctx0" brushRef="#br0" timeOffset="107212">6308 6253 19,'0'-1'3,"-2"-1"0,2 1-1,-2 0 0,2-1 0,-2 1-1,2 1 0,0 0 0,0 0-1,0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4:35.45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8 10 14</inkml:trace>
  <inkml:trace contextRef="#ctx0" brushRef="#br0" timeOffset="31">0 0 14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5:09.83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10511 785 15,'0'0'3,"0"-1"0,0 1 0,0 0-1,0 0 0,0 0 0,0 0-1,0 0 0,0 0 0,0 0 0,0 0 0,0 0-1,0 0 0,0 0 1,0 0-1,0 0 0,0 0 0,0 0 1,0 0 0,0-1-1,2-1 0,-2 2 0,0 0 0,0 0 0,0-1 0,0 2-1</inkml:trace>
  <inkml:trace contextRef="#ctx0" brushRef="#br0" timeOffset="1094">8387 1477 15</inkml:trace>
  <inkml:trace contextRef="#ctx0" brushRef="#br0" timeOffset="1700">11055 1178 19,'-2'0'3,"2"0"0,0 0 0,0 0-1,0 0 0,0 0 0,0 0 0,0 0 0,0 0-1,0 0 1,0 0-1,0 0 0,0 0 0,0 0 0,0 0-1,0 0 0,0 0 0,0 0-1,0 0 0</inkml:trace>
  <inkml:trace contextRef="#ctx0" brushRef="#br0" timeOffset="-132583.74">46 0 13,'0'0'3,"0"0"-1,0 0 0</inkml:trace>
  <inkml:trace contextRef="#ctx0" brushRef="#br0" timeOffset="-132443.74">48 0 14</inkml:trace>
  <inkml:trace contextRef="#ctx0" brushRef="#br0" timeOffset="-132411.74">46 2 14,'0'0'2,"0"0"0,0 0 0,0 0 0</inkml:trace>
  <inkml:trace contextRef="#ctx0" brushRef="#br0" timeOffset="-132349.74">46 3 14,'0'0'2</inkml:trace>
  <inkml:trace contextRef="#ctx0" brushRef="#br0" timeOffset="-132349.74">46 8 15,'0'0'2,"0"0"0,-2 1 0,2 2 0,-2 1-1</inkml:trace>
  <inkml:trace contextRef="#ctx0" brushRef="#br0" timeOffset="-132302.74">0 126 13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5:12.68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23 7 20,'-2'0'3,"0"-2"0,0 1-1,-2 0 0,2 1 0,-2-1-1,-1 0 0,5 1 0,-2 0 0,4 0 0,1 0 0,-1 0-2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6:36.91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6 14,'0'0'2,"0"0"0,0 0 0,0 0 0,0 0-1,0 0 0,0 1 0,0-1 0,0 0 0,0 0 0,0 0-1</inkml:trace>
  <inkml:trace contextRef="#ctx0" brushRef="#br0" timeOffset="78">14 0 15,'0'0'3,"0"0"-1,0 0-1,0 0 0,0 0 0,0 0 0,0 0 0,0 0 0,0 0 0,0 0 0,0 0 0,0 0 0,0 0-1</inkml:trace>
  <inkml:trace contextRef="#ctx0" brushRef="#br0" timeOffset="156">22 6 14</inkml:trace>
  <inkml:trace contextRef="#ctx0" brushRef="#br0" timeOffset="24359">6512 548 13,'0'-1'3,"0"1"-1,0 0 0</inkml:trace>
  <inkml:trace contextRef="#ctx0" brushRef="#br0" timeOffset="24406">6508 541 13</inkml:trace>
  <inkml:trace contextRef="#ctx0" brushRef="#br0" timeOffset="24453">6496 547 13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0:09.2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5092 34 14,'0'0'2</inkml:trace>
  <inkml:trace contextRef="#ctx0" brushRef="#br0" timeOffset="4910">4 255 14,'0'0'2,"0"0"0,-2-1 0</inkml:trace>
  <inkml:trace contextRef="#ctx0" brushRef="#br0" timeOffset="4973">0 202 15</inkml:trace>
  <inkml:trace contextRef="#ctx0" brushRef="#br0" timeOffset="5153">356 0 16,'0'3'3,"2"0"-1,0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7:27.2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 0 14,'0'0'2,"0"0"0,0 0 0,0 0 0,0 0 0,0 0-1,0 0 0,0 0 0,0 0 0,0 0-1,0 0 0,0 0 1,0 0 0,0 0-1</inkml:trace>
  <inkml:trace contextRef="#ctx0" brushRef="#br0" timeOffset="94">0 7 14,'0'0'3,"0"0"-1,0 0 0,0 0 0,0 0-1,0 0 0,0 0 0</inkml:trace>
  <inkml:trace contextRef="#ctx0" brushRef="#br0" timeOffset="156">8 4 13,'0'0'3</inkml:trace>
  <inkml:trace contextRef="#ctx0" brushRef="#br0" timeOffset="187">8 3 14,'0'0'2,"0"0"0,0 0 0,0 0 0,0 0-1,0 0 0</inkml:trace>
  <inkml:trace contextRef="#ctx0" brushRef="#br0" timeOffset="250">10 4 15,'0'0'2,"0"0"0,0 0 0,0 0 0</inkml:trace>
  <inkml:trace contextRef="#ctx0" brushRef="#br0" timeOffset="296">10 8 14,'0'0'2,"0"0"0</inkml:trace>
  <inkml:trace contextRef="#ctx0" brushRef="#br0" timeOffset="328">8 26 14,'0'0'2,"0"0"0,0 0 0</inkml:trace>
  <inkml:trace contextRef="#ctx0" brushRef="#br0" timeOffset="374">15 18 15,'0'0'2,"0"0"0,0 0 0,0 0-1,0 0 0,0 0 0,0 0 0,0 0 0,0 0 0,0 0 0,0 0-1,0 0 1,0 0-1,0 1 1,0 2-1</inkml:trace>
  <inkml:trace contextRef="#ctx0" brushRef="#br0" timeOffset="468">29 45 14,'0'1'2,"0"0"0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7:39.44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 27 15,'0'0'2,"0"0"0</inkml:trace>
  <inkml:trace contextRef="#ctx0" brushRef="#br0" timeOffset="63">4 24 13,'0'0'3,"0"0"-1,0 0 0,0 0 0</inkml:trace>
  <inkml:trace contextRef="#ctx0" brushRef="#br0" timeOffset="94">0 27 14,'0'0'2,"0"0"1,0 0-1,0 0 0,0 0-1,0 0 0,0 0 0,0 0 0,0 0 0,0 0 0,0 0 0,0 0-1,0 0 1,0 0-1,0 0 0,0 0 1,0 0-1,0 0 1,0 0 0,0 0-1,0 0 0,0 0 0,0 0 0,0 0 0,0 0 0,0 0 0,0 0 0,0 0 0,0 0 0,0 0 0,0 0 1,0 0-1,0 0 0,0 0 0,0 0 0,0 0 0,0 0 0,0 0 0,0 0 0,0 0 0,0 0 0,0 0 0,0 0 0,0 0 0,0 0 0,0 0 0,0 0 0,0 0 0,0 0 0,0 0 0,0 0 0,0 0 0,0 0 0,0 0 0,0 0 0,0 0 0,0 0 0,0 0 0,0 0 0,0 0 0,0 0 0,0 0 0,0 0 0,0 0 0,0 0 0</inkml:trace>
  <inkml:trace contextRef="#ctx0" brushRef="#br0" timeOffset="406">8 23 14,'0'0'2,"0"0"1,0 0-1,0 0 0,0 0-1,0 0 0,0 0 0,0 0 0,0 0 0,0 0 0,0 0 0,0 0 0,0 0 0,0 0 0,0 0-1,0 0 0,0 0 0,0 0 0,0 0 0,0 0 0,0 0 0,0 0 0,0 0 0,0 0 0,0 0 0,0 0 0,0 0 0,0 0 0,0 0 0,0 0 0,0 0 0,0 0 0,0 0 0,0 0 0,0 0 0</inkml:trace>
  <inkml:trace contextRef="#ctx0" brushRef="#br0" timeOffset="593">4 23 14,'0'0'2,"0"0"1</inkml:trace>
  <inkml:trace contextRef="#ctx0" brushRef="#br0" timeOffset="640">10 23 14,'0'0'2,"0"0"0,0 0 0,0 0-1,0 0 0,0 0 1,0 0-1,0 0 0,0 0 0,0 0 0,0 0-1,0 0 1,0 0-1,0 0 1,0 0-1,0 0 0</inkml:trace>
  <inkml:trace contextRef="#ctx0" brushRef="#br0" timeOffset="1451">887 1 13,'0'0'3,"2"-1"-1,0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7:40.96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5 13,'0'0'3,"4"-2"-1,0 2 0,1-1 0,1 1-1,2-1 0,-2 1 1,2-1-1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7:41.03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33 0 14,'0'0'2,"0"0"1,0 0-1,0 0-1,0 0 0,0 0 0,0 0 0,0 0 0,0 0 0,0 0 0,0 0 0,0 0 0,0 0 0,0 0-1,0 0 0,0 0 1,0 0-1,0 0 1,0 0-1,0 0 1,0 0-1,0 0 1,0 0-1,0 0 0,0 0 1,0 0-1,0 0 0,0 0 0,0 0 0,0 0 0,0 0 0,0 0 0,0 0 0,0 0 0,0 0 1,0 0-1,0 0 1,0 0-1,0 0 0,0 0 0,0 0 0,0 0 0,0 0 0,0 0 0,0 0 0,0 0-1,0 0 1,0 0 0,0 0 0,0 1 0,-2 3 0,0-1 1,0 2-2,0 0 1,0 0 0,0 0 0,0 1 0,2-2 0,-2 2 0,2 0 0,-2 0 0,0 0 0,2-2 0,-2 2 0,2-1 0,-2 0 0,2-1 0,-2 0 0,2 0 0,-3 0 0,3-1 0,-2 1 0,2-1 0,-2 0 0,2 0 0,0-1 0,0 0 0,0 0 0,0-1 0,0 0 0,0 0 0,0-1 0,0 2 0,0-2 1,0 0-1,0 0 0,0 0 0,0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9:04.46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10707 6937 14,'0'0'2,"0"0"1,0 0-1,0 0 0,0 0 0,0 0 0,0 0 0,0 0-1,0 0 0,0 0 0,0 0 0,0 0 0,0 0 0,0 0-1,0 0 0,0 0 0,0 0 1,0 0-1,0 0 1,0 0 0,0 0-1,0 0 0,0 0 0,0 0 0,0 0 0,0 0 0,0 0-1</inkml:trace>
  <inkml:trace contextRef="#ctx0" brushRef="#br0" timeOffset="3823">8902 0 15,'0'0'3,"0"0"-1,0 0 0,0 0 0,0 0 0,0 0 0,0 0-1,0 0 0,0 0 0,0 0 0,0 0 0,0 0 0,0 0 0,0 0-1,0 0 1,0 0 0,0 0-1,0 0 1,0 0 0,0 0 0,0 0-1,0 0 0,0 0 0,0 0 0,0 0 0,0 0 0,0 0 0,0 0 0,0 0-1,0 0 0</inkml:trace>
  <inkml:trace contextRef="#ctx0" brushRef="#br0" timeOffset="48124">13 6428 14,'0'0'2,"-3"0"1,3 0-1,0 0 0</inkml:trace>
  <inkml:trace contextRef="#ctx0" brushRef="#br0" timeOffset="48169">0 6433 15,'0'0'2,"0"0"0,0 0 0,0 0 0,0 0 0,0 0-1,0 0 0,0 0 0,0 0 0,0 0 0,0 0-1,0 0 1,0 0 0</inkml:trace>
  <inkml:trace contextRef="#ctx0" brushRef="#br0" timeOffset="142401">4058 9432 17,'-2'-3'3,"0"1"-2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29:39.63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 0 14,'-2'0'2</inkml:trace>
  <inkml:trace contextRef="#ctx0" brushRef="#br0" timeOffset="184049">5301 4779 17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1:27.22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573 1515 19,'-2'0'3,"2"0"0,0 0 0,0 0-1,0 0 0,0 0 0,0 0 0,0 0-1,0-1 0,-2 0 0,0-2 0,0 2 0,0 0-1,0 0 1,2 0-1,-2-1 0,0 1 0,2 1 0,-2-1 0,2 0 0,-2 0-1,2 0 0</inkml:trace>
  <inkml:trace contextRef="#ctx0" brushRef="#br0" timeOffset="140346">0 368 15,'0'0'3,"0"0"-1,0 0 0,0 0 0,0 0 0,0 0 0,0 0 0,0 0-1,0 0 0,0 0 0,0 0 0,0 0 0,0 0 0,0 0 0,0 0 0,0 0 0,0 0 0,0-1 0,0 0-1,2-2 1,3-2 0,1-2-1,2-1 1,2-3 0,3-1-1,3-4 0,1 0 0,2-1 1,1-2-1,1 0 0,2 0 0,-1-1 1,1 0-1,0 3 0,0-1 0,-3 2 1,3 2-1,-4 0 0,-1 2 0,1 2 0,-3 0 0,-1 1 0,-1 1 0,-1 1 0,-3 1 0,-2 2-1,1-1 1,-1 1 0,-2 0 0,-2 2 0,3-2 0,-3 2 0,0 0 0,-2 0 0,2 0 0,-2 2 0,0-1 1,0 0-2,0 1 1,0 0 0,0 0-1,-2 0 0,2-1 1,1 2-1,-1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4:58.7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56 1191 14,'0'0'2,"0"0"0,0 0 0,0 0-1</inkml:trace>
  <inkml:trace contextRef="#ctx0" brushRef="#br0" timeOffset="2642">840 0 14,'4'1'2</inkml:trace>
  <inkml:trace contextRef="#ctx0" brushRef="#br0" timeOffset="4323">0 142 14,'0'0'2,"0"0"0,0-3 0,2 1 0,2 0-1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6:00.0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9 7 19,'0'-1'3,"-2"0"-1,0-1 0,0 0 0,2 2-1,-3 0 1,6-1-1,-3 1 0,0 0 0,0 0 0,0 0-1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4:16.8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15 15,'0'-2'3,"0"0"0,0 0-1,0 1 1,0 0-1,0 0-1,0 0 0,0-1 0,0 1 1,0 1-1,0 0 0,0-1 0,0 1 0,0 0 0,0 0 0,3 0 0,-3 0 0,0 0 0,0 0 0,2-1 0,0 1 0,0-1-1,0 2 0,2-1 1,0 1-1,2-2 1,3 1 0,-1 1 0,0-2-1,-2 2 1,3-1-1,-1 0 0,2 0 0,1 1 0,1-1 0,0 1 1,1-1 0,-1 2 0,3 0-1,-3-1 0,3 1 0,-3 1 0,2 0 0,1 1 0,-1-1 0,3 1 0,-3-1 0,3 2 0,-3-2 0,1 2 0,-3 0 0,1-1 0,-1 1 0,1-2 0,-1 1 0,0-1 0,-1 1 0,1-1 0,-2 1 0,1-2 0,1 0 0,-1 1 0,1-2 0,2 0 0,1 0 1,-3-1-1,3 1 1,-1-1-1,3 0 0,-1-1 0,1 0 0,-1 1 0,3-1 0,-2 0 0,1 0 0,1 1 0,-1 0 0,-1 0 0,2 0 0,-1 0 0,1 1 0,-1 0 0,-1 0 0,2-1 0,-3 1 0,1 0 0,-1 1 0,1-1 0,-3 0 0,1 0 0,1 0 0,-1 0 0,1 1 0,5-1 0,0-1 0,-1 0 0,3-1 0,2 1 1,0-2-1,2 2 0,0-1 0,-1 0 1,1 1-1,2 0 0,2 0 0,2-1 1,0 1-1,5 1 0,-3-1 0,2 0 0,2 0 0,3-1 0,-1 1 0,0-1 0,3 1 0,-1-1 0,1 1 0,-1-2 0,3 2 0,-1 0 0,-1 0 0,1 2 0,1-1 0,1 1 0,1 0 0,-1 1 0,1-1 0,-1 0 0,1 2 0,2-2-1,-1 0 1,1 2 0,-2-2 1,3 2-2,1-1 1,2 1 0,-1-2 1,1 0-1,2 2 0,0-2-1,2 1 1,-2 0 0,2-1 1,0 1-1,-3-1 0,1 0 0,2 2 0,-2-2 0,0 2 0,-2 0 0,-1 0 0,1-1 0,-2 2 0,0-2 0,-1 1 0,1-1 0,-2 1 0,-1-1 0,1 0 0,-1-1 0,1 0 0,0 1 0,1-1 0,-1 0 0,-2 1 0,1-1 0,1 0 0,-3-1-1,1 2 1,0-1 0,-3-1 0,1 0 0,-1 1 0,1-1 1,-3 0-1,-2 1 0,1-1 0,-1 1 0,1-1 0,-3-1 0,0 1-1,-2 1 0,1-1 1,-3 1 0,-2-2 0,-2 1 0,-2 0 0,-2 1 0,-3-1 0,-1 1 0,-2-1 0,-5 1 0,1-2 0,-5 1 0,1 0 0,-3 1-1,-2-2 0,1 1 0,-3-1 0,-2 1 0,-2-1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9:42.32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17 33 19,'-2'-2'3,"0"-3"0,0 1-1,0 0-1,0 0 1,0 1-1,-1 0 0,1-1 0,2 3 0,0-1 0,0 1-1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9:35.02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0 589 13,'0'0'2,"0"0"1,0 0 0,0 0 0,0 0-2,0 0 1,0 0 0,0 0 0,0 0 0,0 0-1,0 0 0,0 0 0,0 0 0,0 0 0,0 0 0,0 0 0,0 0 0,0 0 1,0 0-1,0 0 0,0 0 0,0 0 0,0 0 0,0 0 0,0 0 0,0 0 0,0 0-1,0 0 0,0 0 1,2 0-1,0 0 0,-2 0 0,2 0 1,0 0-1,0 0 1,1 0-1,1 0 0,2 0 0,0-1 0,0 1 1,0-2-1,3 2 0,-3-1 0,0 1 0,2 0 0,1 0 0,-1 0 0,0 0 0,-2-1 0,3 1 0,-1-1 0,0 1 0,1 0 0,-3-1 0,0 1 0,2-1 0,-2 1 0,3-2 0,-3 2 0,0 0 0,0 0 1,3-1-1,-3 1 0,0-1 0,-2 0 0,2 0 0,1 1 0,-1-3 0,0 1 0,0-1 0,2-1 0,-1 1 0,1-1 0,0-1 0,0 2 0,1 0 0,-1-1 0,-2-1 1,0 2 0,3-1-1,-3 1 0,0-1 0,0 1 0,0-1-1,3 1 1,-3 1 1,2-2 6,1 1-8,1-2 1,0 0-1,3 1 0,1-1 7,1 0-1,1 2-6,-1-2 6,1 2-8,1 0 1,-1 1 7,1 1-7,-1-1 7,1 2-1,-1-2-7,-1 1 1,1 0-1,1 1 1,-3 0 0,3 1 7,-3-1-1,3 0 0,0 0-7,-1-1 0,3 1 0,-3-1 1,1 0 0,1 0 0,-1-1 7,0 1 0,-1-1-1,3 1-7,-3 0 1,3 1-1,-3-1 7,1 1-6,-3-2 6,3 1 0,-1 0-1,1 1 0,0 0-7,-1 0 1,3 0 0,-3 0 0,3-1 0,2 1 1,-3-1 0,1 1 1,1-1 0,1-1 0,0 0 0,0 1 0,-1-1 0,1 0 0,0 2 0,-1-1 0,3 1 0,0-1 1,0 1 0,-3 0 6,1 0-7,0 1 7,-3-1-7,3 1 0,-3 1 0,3 0 0,0-1 0,-3 1 0,1 0 0,0 0 0,-3 0 0,3 1 0,-3-1 0,3 0 1,-2-1 0,-1 2 6,1-1-7,-1-1 7,1 1-8,-3 0 0,1 0 1,-1-1 0,1 0 0,-3 0 7,0 1-1,-1-1-7,1 0 0,-1-1 1,-1 1 6,0-1-7,1 1 0,1-1 0,-2 0 0,3 0 7,-3 0 0,0 0-8,1 0 1,-1 0 0,0 0 0,-1 1 1,-1-1 0,2 0 0,-3 0 0,1 2 0,0-2 0,0 1 0,-1-1 0,-1 1 1,0-1 0,-2 1 0,2 0 0,-2 0 6,3 1-1,-3-1 0,0 0-1,0-1-7,0 1 1,-2-1 0,2 1 0,-2 0 1,3-1 0,-3 2 6,0-1-7,0-1 0,0 1 0,0 0 1,0 0-1,0 0 1,0-1 0,0 0 0,0 0-1,-2 0 2,2 0 0,-2 0-1,2 0-1,0 0 1,-2 0 0,0 0 0,0 0 0,0-1 1,-2 1-1,2 0 0,0 0 0,0 0 0,0 0 0,0 0 0,0-1 0,0 0 0,0 0 0,0 1 0,0-1 0</inkml:trace>
  <inkml:trace contextRef="#ctx0" brushRef="#br0" timeOffset="6213">474 42 15,'0'-3'3,"-2"-2"0,2 0-1,-2 1-1,2-1 0,0 0 0,0 3 0,-2 0 0,2-1 0,0 0 0,2 1 0,-2-1-1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9:42.55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4 17,'0'-4'2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9:52.83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 50 18,'0'-1'3,"0"-1"0,0-1 0,-2 1 0,2-2-1,0 2 0,0 1 0,0-1-1,-2 0 0,2 1 0,-2-1 1,2 0-1,0 0 0,0 0 0,0 1 0,0-2 0,0 2-1,0 0 1,0-1 0,0 0-1,2 0 0,-2 1 0,0 0 0,0 0 0,0-1 0,0 1 0,0 0 0,2 0 0,-2 1 0,0-1 0,2 1 0,-2 0 0,2 0 0,-2 0 0,-2 0 0,2 0 0,2 0 0,-2 0 0,0 0 0,0 0 0,0 0 0,0 0 0,0 0 0,0 0 0,0 0 0,0 0 0,0 0 0,0 0 0,0 0 0,0 0 0,0 0 0,0 0 0,0 0 0,0 0 0,0 0 1,0 0-1,0 0 0,0 0 0,0 0 1,0 0-1,0 0 0,0 0 0,0 0 0,0 0 0,0 0 0,0 0 0,0 0 0,0 0 0,0 0 0,0 0 0,0 0 0,0 0 0,0 0 0,0 0 0,0 0 0,0 0 0,0 0 0,0 0 0,0 0 0,0 0-1,0 0 0,0 0 0,0 0 0,0 0 0,2-1 0,0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9:58.90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56 14,'2'-3'2,"2"-4"0,2-2 0,-2 1 0,2-2-1,5-2 0,-5 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39:59.44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301 0 15,'-6'0'3,"-6"0"-1,-3 1 0,-1 1 0,-5-1 0,0 0 0,-3 1-1,-1 2 0,0-1 0,0 1 0,0-1-1,3 2 1,-1 0-1,2-1 0,1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44:30.68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1278 8 15,'0'0'2,"0"0"0,0 0 0</inkml:trace>
  <inkml:trace contextRef="#ctx0" brushRef="#br0" timeOffset="17884">579 3958 13</inkml:trace>
  <inkml:trace contextRef="#ctx0" brushRef="#br0" timeOffset="17931">568 3953 13,'0'0'3,"0"0"-1,0 0 0,0 0 0,0 0-1,0 0 0,0 0 0</inkml:trace>
  <inkml:trace contextRef="#ctx0" brushRef="#br0" timeOffset="33614">1788 3 17,'0'0'3,"0"0"0,0 0 0,0 0-1,0 0 0,0 0 0,0 0 0,0 0 0,0 0-1,0 0 0,0 0-1,0 0 1,0 0-1,0 0 0,3-1 0,-3 0 0,0 1 0,2-1-1</inkml:trace>
  <inkml:trace contextRef="#ctx0" brushRef="#br0" timeOffset="35143">0 2952 14,'2'4'2,"2"1"0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45:03.52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60 15,'0'0'3,"-2"0"0,2 0 0,0 0-1,0 0 0,0 0-1,0 0 1,0 0-1,0 0 0,0-1 0,0-1 0,0-3-1,2 2 1,2-1-1,0-1 0,0 0 1,4 0-1,3-1 0,-3 1 0,2-2 0,3 1 0,-3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45:03.81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8 17,'0'0'3,"0"-1"0,2 0-1,0 0 0,0-1 0,2 1-1,-2 0 0,2 1 0,-2-1 0,3 1 0,-3 0 0,0 0-1,0 0 1,0 0 0,0 1-1,0-1 0,-2 1 1,0 0-1,0 1 0,0-1-1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45:04.52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12 5 19,'0'0'3,"-2"0"0,2 0 0,0 0 0,0 0-1,-2-1 0,0 0-1,0 0 0,0-1 0,2 2-1,-2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53:10.99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0 285 15,'0'1'3,"0"-1"0,0 0-1,0 0-1,0 0 1,0 0 0,0 0 0,0 0-1,0 0 0,0 0 0,0 0 1,0 0-1,0 0 0,0 0 0,0 0 0,0 0 0,0 0 0,0 0 0,0 0 0,0 0 0,0 0-1,0 0 0,0 0 1,0 0 0,0 0-1,0 0 0,0 0 0,0 0 1,0 0-1,0 0 1,2-1-1,4 0 1,2-4-1,3 2 1,3-1-1,0 0 0,3-1 0,2-1 1,1 2-1,1-2 0,4 0 0,2 0 0,2 0 0,4 1 0,2-2 0,2 0 0,4-1 0,3-1 0,3 1 1,1 0-1,6-1 0,4-2 0,2 2 0,2-1 0,4-2 0,0 1 0,2 0 0,1 0 0,3 1 0,2-1 1,1 1-1,-1 0 0,1 0 0,-1 2 0,1 1 0,-1 0 0,1 2 0,1 1 0,-1-1 0,1 3 0,-1 0 0,-3 0-1,0 2 1,1 2 0,-3 0 0,-2 0 0,1 2 0,-1-1 0,0 1 0,0 0 1,-1 2-1,-1-1 0,-2 2 0,-2 0 0,0 0 0,0 0 0,-4-2 0,0 2 0,-2-1 0,-3 1 0,-1 0 0,0-1-1,-5 0 2,-3 0-1,-1-2 0,-3 1-1,-5 0 1,-2-3 0,-2 1 0,-4 0-1,0-1 1,-5 0-1,-1 0 0,-2-1 0,-3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in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00" units="1/in"/>
        </inkml:channelProperties>
      </inkml:inkSource>
      <inkml:timestamp xml:id="ts0" timeString="2015-08-05T11:57:00.76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0 0 14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0D3D8-FE8C-4948-89FA-4A31366A4612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87A72-AE6E-4F97-A386-96D2D976BC4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553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64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7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09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35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90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2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2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5674ED9-745F-4B40-A9C6-03AEE5B8ECEC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72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11.xml"/><Relationship Id="rId18" Type="http://schemas.openxmlformats.org/officeDocument/2006/relationships/image" Target="../media/image14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11.png"/><Relationship Id="rId17" Type="http://schemas.openxmlformats.org/officeDocument/2006/relationships/customXml" Target="../ink/ink13.xml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10" Type="http://schemas.openxmlformats.org/officeDocument/2006/relationships/image" Target="../media/image10.png"/><Relationship Id="rId19" Type="http://schemas.openxmlformats.org/officeDocument/2006/relationships/customXml" Target="../ink/ink14.xml"/><Relationship Id="rId4" Type="http://schemas.openxmlformats.org/officeDocument/2006/relationships/image" Target="../media/image7.png"/><Relationship Id="rId9" Type="http://schemas.openxmlformats.org/officeDocument/2006/relationships/customXml" Target="../ink/ink9.xml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1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21.png"/><Relationship Id="rId4" Type="http://schemas.openxmlformats.org/officeDocument/2006/relationships/customXml" Target="../ink/ink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26.xml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12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customXml" Target="../ink/ink25.xml"/><Relationship Id="rId5" Type="http://schemas.openxmlformats.org/officeDocument/2006/relationships/customXml" Target="../ink/ink22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24.xml"/><Relationship Id="rId1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5" Type="http://schemas.openxmlformats.org/officeDocument/2006/relationships/image" Target="../media/image30.png"/><Relationship Id="rId4" Type="http://schemas.openxmlformats.org/officeDocument/2006/relationships/customXml" Target="../ink/ink28.xml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SOFTWARE DESIGN AND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INSTRUCTOR: M FAIZAN KHAN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09AB3A-744D-B062-13F3-B50483551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427340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Implicit Asynchronous Communication Software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Interaction-Oriented Software Architectures</a:t>
            </a:r>
          </a:p>
          <a:p>
            <a:pPr lvl="1"/>
            <a:r>
              <a:rPr lang="en-US" dirty="0"/>
              <a:t>MVC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Interaction-Oriented Software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interaction-oriented software architecture decomposes the system into three major partitions: </a:t>
            </a:r>
          </a:p>
          <a:p>
            <a:pPr lvl="1"/>
            <a:r>
              <a:rPr lang="en-US" dirty="0"/>
              <a:t>data module, </a:t>
            </a:r>
          </a:p>
          <a:p>
            <a:pPr lvl="1"/>
            <a:r>
              <a:rPr lang="en-US" dirty="0"/>
              <a:t>control module, and </a:t>
            </a:r>
          </a:p>
          <a:p>
            <a:pPr lvl="1"/>
            <a:r>
              <a:rPr lang="en-US" dirty="0"/>
              <a:t>view presentation module. </a:t>
            </a:r>
          </a:p>
          <a:p>
            <a:endParaRPr lang="en-US" dirty="0"/>
          </a:p>
          <a:p>
            <a:r>
              <a:rPr lang="en-US" dirty="0"/>
              <a:t>Each module has its own responsibilities. </a:t>
            </a:r>
          </a:p>
          <a:p>
            <a:r>
              <a:rPr lang="en-US" dirty="0"/>
              <a:t>The key point of this architecture is its separation of user interactions from data abstraction and business data processing.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Interaction-Oriented Software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44040"/>
            <a:ext cx="7543801" cy="4023360"/>
          </a:xfrm>
        </p:spPr>
        <p:txBody>
          <a:bodyPr>
            <a:normAutofit/>
          </a:bodyPr>
          <a:lstStyle/>
          <a:p>
            <a:r>
              <a:rPr lang="en-US" dirty="0"/>
              <a:t>The data module provides the data abstraction and all core business logic on data processing. </a:t>
            </a:r>
          </a:p>
          <a:p>
            <a:endParaRPr lang="en-US" dirty="0"/>
          </a:p>
          <a:p>
            <a:r>
              <a:rPr lang="en-US" dirty="0"/>
              <a:t>The view presentation module is responsible for visual or audio data output presentation and may also provide user input interface when necessary. </a:t>
            </a:r>
          </a:p>
          <a:p>
            <a:endParaRPr lang="en-US" dirty="0"/>
          </a:p>
          <a:p>
            <a:r>
              <a:rPr lang="en-US" dirty="0"/>
              <a:t>The control module determines the flow of control involving view selections, communications between modules, job dispatching, and certain data initialization and system configuration actions.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56425" y="28597225"/>
              <a:ext cx="0" cy="0"/>
            </p14:xfrm>
          </p:contentPart>
        </mc:Choice>
        <mc:Fallback xmlns=""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6425" y="28597225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2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544375" y="11137900"/>
              <a:ext cx="0" cy="0"/>
            </p14:xfrm>
          </p:contentPart>
        </mc:Choice>
        <mc:Fallback xmlns="">
          <p:pic>
            <p:nvPicPr>
              <p:cNvPr id="102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44375" y="11137900"/>
                <a:ext cx="0" cy="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Model-View-Controller (MVC)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MVC?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Architectural design pattern which works to separate data and UI for a more cohesive and modularized system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17988" y="2960688"/>
              <a:ext cx="3175" cy="3175"/>
            </p14:xfrm>
          </p:contentPart>
        </mc:Choice>
        <mc:Fallback xmlns=""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8816" y="2951516"/>
                <a:ext cx="21519" cy="21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5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46338" y="1938338"/>
              <a:ext cx="47625" cy="14287"/>
            </p14:xfrm>
          </p:contentPart>
        </mc:Choice>
        <mc:Fallback xmlns="">
          <p:pic>
            <p:nvPicPr>
              <p:cNvPr id="205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36957" y="1928298"/>
                <a:ext cx="66386" cy="3436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Model-View-Controller (MVC)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MVC pattern was originally proposed in the 1980s as an approach to GUI design that allowed for </a:t>
            </a:r>
          </a:p>
          <a:p>
            <a:pPr lvl="1"/>
            <a:r>
              <a:rPr lang="en-US" dirty="0"/>
              <a:t>multiple presentations of an object and</a:t>
            </a:r>
          </a:p>
          <a:p>
            <a:pPr lvl="1"/>
            <a:r>
              <a:rPr lang="en-US" dirty="0"/>
              <a:t>separate styles of interaction with each of these presentations. 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7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51513" y="2714625"/>
              <a:ext cx="2270125" cy="2252663"/>
            </p14:xfrm>
          </p:contentPart>
        </mc:Choice>
        <mc:Fallback xmlns="">
          <p:pic>
            <p:nvPicPr>
              <p:cNvPr id="307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42158" y="2705260"/>
                <a:ext cx="2288836" cy="227139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8" name="Picture 8" descr="mvc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" y="1769206"/>
            <a:ext cx="7848600" cy="4326794"/>
          </a:xfrm>
          <a:prstGeom prst="rect">
            <a:avLst/>
          </a:prstGeom>
          <a:noFill/>
        </p:spPr>
      </p:pic>
      <p:sp>
        <p:nvSpPr>
          <p:cNvPr id="15370" name="Rectangle 10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/>
              <a:t>MVC – general example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9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45275" y="5330825"/>
              <a:ext cx="3175" cy="3175"/>
            </p14:xfrm>
          </p:contentPart>
        </mc:Choice>
        <mc:Fallback xmlns="">
          <p:pic>
            <p:nvPicPr>
              <p:cNvPr id="409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36103" y="5323320"/>
                <a:ext cx="21519" cy="18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105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79825" y="5567363"/>
              <a:ext cx="3979863" cy="531812"/>
            </p14:xfrm>
          </p:contentPart>
        </mc:Choice>
        <mc:Fallback xmlns="">
          <p:pic>
            <p:nvPicPr>
              <p:cNvPr id="4105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70466" y="5558008"/>
                <a:ext cx="3998582" cy="550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108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15138" y="6348413"/>
              <a:ext cx="7937" cy="1587"/>
            </p14:xfrm>
          </p:contentPart>
        </mc:Choice>
        <mc:Fallback xmlns="">
          <p:pic>
            <p:nvPicPr>
              <p:cNvPr id="4108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06540" y="6343255"/>
                <a:ext cx="25134" cy="11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15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19575" y="5149850"/>
              <a:ext cx="2344738" cy="196850"/>
            </p14:xfrm>
          </p:contentPart>
        </mc:Choice>
        <mc:Fallback xmlns="">
          <p:pic>
            <p:nvPicPr>
              <p:cNvPr id="4115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10215" y="5140527"/>
                <a:ext cx="2363458" cy="215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116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54200" y="5608638"/>
              <a:ext cx="1833563" cy="92075"/>
            </p14:xfrm>
          </p:contentPart>
        </mc:Choice>
        <mc:Fallback xmlns="">
          <p:pic>
            <p:nvPicPr>
              <p:cNvPr id="4116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44840" y="5599287"/>
                <a:ext cx="1852284" cy="110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122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28750" y="6078538"/>
              <a:ext cx="11113" cy="17462"/>
            </p14:xfrm>
          </p:contentPart>
        </mc:Choice>
        <mc:Fallback xmlns="">
          <p:pic>
            <p:nvPicPr>
              <p:cNvPr id="4122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19119" y="6069079"/>
                <a:ext cx="30376" cy="36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123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41488" y="2519363"/>
              <a:ext cx="320675" cy="9525"/>
            </p14:xfrm>
          </p:contentPart>
        </mc:Choice>
        <mc:Fallback xmlns="">
          <p:pic>
            <p:nvPicPr>
              <p:cNvPr id="4123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32141" y="2510518"/>
                <a:ext cx="339369" cy="272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25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16138" y="2509838"/>
              <a:ext cx="15875" cy="1587"/>
            </p14:xfrm>
          </p:contentPart>
        </mc:Choice>
        <mc:Fallback xmlns="">
          <p:pic>
            <p:nvPicPr>
              <p:cNvPr id="4125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06311" y="2502961"/>
                <a:ext cx="35530" cy="15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126" name="Ink 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62175" y="2506663"/>
              <a:ext cx="12700" cy="46037"/>
            </p14:xfrm>
          </p:contentPart>
        </mc:Choice>
        <mc:Fallback xmlns="">
          <p:pic>
            <p:nvPicPr>
              <p:cNvPr id="4126" name="Ink 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52463" y="2497163"/>
                <a:ext cx="32124" cy="6503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 l="26940" t="14583" r="26208" b="25000"/>
          <a:stretch>
            <a:fillRect/>
          </a:stretch>
        </p:blipFill>
        <p:spPr bwMode="auto">
          <a:xfrm>
            <a:off x="844568" y="591960"/>
            <a:ext cx="7252138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12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92350" y="1376363"/>
              <a:ext cx="3854450" cy="3395662"/>
            </p14:xfrm>
          </p:contentPart>
        </mc:Choice>
        <mc:Fallback xmlns="">
          <p:pic>
            <p:nvPicPr>
              <p:cNvPr id="512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2991" y="1367004"/>
                <a:ext cx="3873168" cy="34143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12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86288" y="2219325"/>
              <a:ext cx="1908175" cy="1720850"/>
            </p14:xfrm>
          </p:contentPart>
        </mc:Choice>
        <mc:Fallback xmlns="">
          <p:pic>
            <p:nvPicPr>
              <p:cNvPr id="512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6931" y="2209965"/>
                <a:ext cx="1926890" cy="17395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129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68875" y="4076700"/>
              <a:ext cx="206375" cy="546100"/>
            </p14:xfrm>
          </p:contentPart>
        </mc:Choice>
        <mc:Fallback xmlns="">
          <p:pic>
            <p:nvPicPr>
              <p:cNvPr id="5129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59527" y="4067334"/>
                <a:ext cx="225071" cy="56483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domain-specific representation of the information on which the application operates.</a:t>
            </a:r>
          </a:p>
          <a:p>
            <a:endParaRPr lang="en-US" dirty="0"/>
          </a:p>
          <a:p>
            <a:r>
              <a:rPr lang="en-US" dirty="0"/>
              <a:t>The model is another name for the application logic layer </a:t>
            </a:r>
          </a:p>
          <a:p>
            <a:endParaRPr lang="en-US" dirty="0"/>
          </a:p>
          <a:p>
            <a:r>
              <a:rPr lang="en-US" dirty="0"/>
              <a:t>Application (or domain) logic adds meaning to raw data </a:t>
            </a:r>
          </a:p>
          <a:p>
            <a:endParaRPr lang="en-US" dirty="0"/>
          </a:p>
          <a:p>
            <a:r>
              <a:rPr lang="en-US" dirty="0"/>
              <a:t>Many applications use a persistent storage mechanism (such as a database) to store data.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4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064500" y="3348038"/>
              <a:ext cx="304800" cy="428625"/>
            </p14:xfrm>
          </p:contentPart>
        </mc:Choice>
        <mc:Fallback xmlns="">
          <p:pic>
            <p:nvPicPr>
              <p:cNvPr id="614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55122" y="3338689"/>
                <a:ext cx="323557" cy="447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14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628063" y="5153025"/>
              <a:ext cx="3175" cy="3175"/>
            </p14:xfrm>
          </p:contentPart>
        </mc:Choice>
        <mc:Fallback xmlns="">
          <p:pic>
            <p:nvPicPr>
              <p:cNvPr id="61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19808" y="5142706"/>
                <a:ext cx="19685" cy="23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15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38313" y="1941513"/>
              <a:ext cx="1908175" cy="92075"/>
            </p14:xfrm>
          </p:contentPart>
        </mc:Choice>
        <mc:Fallback xmlns="">
          <p:pic>
            <p:nvPicPr>
              <p:cNvPr id="615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28949" y="1932234"/>
                <a:ext cx="1926904" cy="11063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Renders the model into a form suitable for interaction, typically a user interface element. </a:t>
            </a:r>
          </a:p>
          <a:p>
            <a:endParaRPr lang="en-US" dirty="0"/>
          </a:p>
          <a:p>
            <a:r>
              <a:rPr lang="en-US" dirty="0"/>
              <a:t>MVC is often seen in web applications, where the view is the HTML page and the code which gathers dynamic data for the page.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13716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Processes and responds to events, typically user actions, and may invoke changes on the model and view.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l="26940" t="14583" r="26208" b="25000"/>
          <a:stretch>
            <a:fillRect/>
          </a:stretch>
        </p:blipFill>
        <p:spPr bwMode="auto">
          <a:xfrm>
            <a:off x="4241002" y="2971800"/>
            <a:ext cx="4374930" cy="3171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19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99063" y="5697538"/>
              <a:ext cx="6350" cy="12700"/>
            </p14:xfrm>
          </p:contentPart>
        </mc:Choice>
        <mc:Fallback xmlns="">
          <p:pic>
            <p:nvPicPr>
              <p:cNvPr id="819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9891" y="5687826"/>
                <a:ext cx="24694" cy="321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19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07075" y="5634038"/>
              <a:ext cx="768350" cy="212725"/>
            </p14:xfrm>
          </p:contentPart>
        </mc:Choice>
        <mc:Fallback xmlns="">
          <p:pic>
            <p:nvPicPr>
              <p:cNvPr id="819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97718" y="5624664"/>
                <a:ext cx="787064" cy="231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19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02238" y="5689600"/>
              <a:ext cx="1587" cy="1588"/>
            </p14:xfrm>
          </p:contentPart>
        </mc:Choice>
        <mc:Fallback xmlns="">
          <p:pic>
            <p:nvPicPr>
              <p:cNvPr id="819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60976" y="5681342"/>
                <a:ext cx="84111" cy="181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20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385050" y="5507038"/>
              <a:ext cx="4763" cy="19050"/>
            </p14:xfrm>
          </p:contentPart>
        </mc:Choice>
        <mc:Fallback xmlns="">
          <p:pic>
            <p:nvPicPr>
              <p:cNvPr id="820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75524" y="5497326"/>
                <a:ext cx="23815" cy="38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20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864475" y="4840288"/>
              <a:ext cx="14288" cy="20637"/>
            </p14:xfrm>
          </p:contentPart>
        </mc:Choice>
        <mc:Fallback xmlns="">
          <p:pic>
            <p:nvPicPr>
              <p:cNvPr id="820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55188" y="4830875"/>
                <a:ext cx="32862" cy="394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202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15063" y="3171825"/>
              <a:ext cx="109537" cy="14288"/>
            </p14:xfrm>
          </p:contentPart>
        </mc:Choice>
        <mc:Fallback xmlns="">
          <p:pic>
            <p:nvPicPr>
              <p:cNvPr id="8202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05633" y="3162764"/>
                <a:ext cx="128398" cy="3240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18488" cy="731838"/>
          </a:xfrm>
        </p:spPr>
        <p:txBody>
          <a:bodyPr>
            <a:normAutofit/>
          </a:bodyPr>
          <a:lstStyle/>
          <a:p>
            <a:r>
              <a:rPr lang="en-GB" dirty="0"/>
              <a:t>Example Control Flow in MVC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4572000"/>
          </a:xfrm>
        </p:spPr>
        <p:txBody>
          <a:bodyPr>
            <a:normAutofit/>
          </a:bodyPr>
          <a:lstStyle/>
          <a:p>
            <a:r>
              <a:rPr lang="en-US" dirty="0"/>
              <a:t>Though MVC comes in different </a:t>
            </a:r>
            <a:r>
              <a:rPr lang="en-US" dirty="0" err="1"/>
              <a:t>flavours</a:t>
            </a:r>
            <a:r>
              <a:rPr lang="en-US" dirty="0"/>
              <a:t>, the control flow generally works as follows:</a:t>
            </a:r>
          </a:p>
          <a:p>
            <a:r>
              <a:rPr lang="en-US" dirty="0"/>
              <a:t>1. The user interacts with the user interface in some way (e.g., user presses a button)</a:t>
            </a:r>
          </a:p>
          <a:p>
            <a:endParaRPr lang="en-US" dirty="0"/>
          </a:p>
          <a:p>
            <a:r>
              <a:rPr lang="en-US" dirty="0"/>
              <a:t>2. A controller handles the input event from the user interface, often via a registered handler or callback.</a:t>
            </a:r>
          </a:p>
          <a:p>
            <a:endParaRPr lang="en-US" dirty="0"/>
          </a:p>
          <a:p>
            <a:r>
              <a:rPr lang="en-US" dirty="0"/>
              <a:t>3. The controller accesses the model, possibly updating it in a way appropriate to the user’s action (e.g., controller updates user’s shopping cart).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18488" cy="731838"/>
          </a:xfrm>
        </p:spPr>
        <p:txBody>
          <a:bodyPr>
            <a:normAutofit/>
          </a:bodyPr>
          <a:lstStyle/>
          <a:p>
            <a:r>
              <a:rPr lang="en-GB" dirty="0"/>
              <a:t>Example Control Flow in MVC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4. A view uses the model to generate an appropriate user interface (e.g., view produces a screen listing the shopping cart contents).</a:t>
            </a:r>
          </a:p>
          <a:p>
            <a:r>
              <a:rPr lang="en-US" dirty="0"/>
              <a:t>The view gets its own data from the model. </a:t>
            </a:r>
          </a:p>
          <a:p>
            <a:r>
              <a:rPr lang="en-US" dirty="0"/>
              <a:t>The model has no direct knowledge of the view. </a:t>
            </a:r>
          </a:p>
          <a:p>
            <a:endParaRPr lang="en-US" dirty="0"/>
          </a:p>
          <a:p>
            <a:r>
              <a:rPr lang="en-US" dirty="0"/>
              <a:t>5. The user interface waits for further user interactions, which begins the cycle anew.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maps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21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80075" y="2357438"/>
              <a:ext cx="646113" cy="1425575"/>
            </p14:xfrm>
          </p:contentPart>
        </mc:Choice>
        <mc:Fallback xmlns="">
          <p:pic>
            <p:nvPicPr>
              <p:cNvPr id="921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70711" y="2348076"/>
                <a:ext cx="664841" cy="1444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240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43675" y="2268538"/>
              <a:ext cx="26988" cy="20637"/>
            </p14:xfrm>
          </p:contentPart>
        </mc:Choice>
        <mc:Fallback xmlns="">
          <p:pic>
            <p:nvPicPr>
              <p:cNvPr id="9240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34442" y="2259742"/>
                <a:ext cx="45453" cy="382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241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32575" y="2262188"/>
              <a:ext cx="14288" cy="3175"/>
            </p14:xfrm>
          </p:contentPart>
        </mc:Choice>
        <mc:Fallback xmlns="">
          <p:pic>
            <p:nvPicPr>
              <p:cNvPr id="9241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22256" y="2253016"/>
                <a:ext cx="34926" cy="21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242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16663" y="2389188"/>
              <a:ext cx="4762" cy="3175"/>
            </p14:xfrm>
          </p:contentPart>
        </mc:Choice>
        <mc:Fallback xmlns="">
          <p:pic>
            <p:nvPicPr>
              <p:cNvPr id="9242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07139" y="2375430"/>
                <a:ext cx="23810" cy="3069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Model 2 and ASP.NET</a:t>
            </a:r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70415" y="2567149"/>
            <a:ext cx="6047619" cy="2580952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views synchronized with same data model.</a:t>
            </a:r>
          </a:p>
          <a:p>
            <a:endParaRPr lang="en-US" dirty="0"/>
          </a:p>
          <a:p>
            <a:r>
              <a:rPr lang="en-US" dirty="0"/>
              <a:t>Easy to change or plug in new interface views, allowing updating of interface views with new technologies without overhauling the rest of the system.</a:t>
            </a:r>
          </a:p>
          <a:p>
            <a:endParaRPr lang="en-US" dirty="0"/>
          </a:p>
          <a:p>
            <a:r>
              <a:rPr lang="en-US" dirty="0"/>
              <a:t>Very effective for developments if graphics, programming, and database development professionals are working in a team in a designed project.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suitable for agent-oriented applications such as interactive mobile and robotics applications.</a:t>
            </a:r>
          </a:p>
          <a:p>
            <a:endParaRPr lang="en-US" dirty="0"/>
          </a:p>
          <a:p>
            <a:r>
              <a:rPr lang="en-US" dirty="0"/>
              <a:t>Multiple pairs of controllers and views based on the same data model make any data model change expensive.</a:t>
            </a:r>
          </a:p>
          <a:p>
            <a:endParaRPr lang="en-US" dirty="0"/>
          </a:p>
          <a:p>
            <a:r>
              <a:rPr lang="en-US" dirty="0"/>
              <a:t>The division between the View and the Controller is not clear in some cases.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29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98850" y="1995488"/>
              <a:ext cx="1336675" cy="104775"/>
            </p14:xfrm>
          </p:contentPart>
        </mc:Choice>
        <mc:Fallback xmlns="">
          <p:pic>
            <p:nvPicPr>
              <p:cNvPr id="1229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89500" y="1985963"/>
                <a:ext cx="1355375" cy="12382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Interaction-Oriented Software Architectures</a:t>
            </a:r>
          </a:p>
          <a:p>
            <a:pPr lvl="1"/>
            <a:r>
              <a:rPr lang="en-US" dirty="0"/>
              <a:t>MVC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328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916988" y="17513300"/>
              <a:ext cx="0" cy="0"/>
            </p14:xfrm>
          </p:contentPart>
        </mc:Choice>
        <mc:Fallback xmlns="">
          <p:pic>
            <p:nvPicPr>
              <p:cNvPr id="13328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16988" y="17513300"/>
                <a:ext cx="0" cy="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3070</TotalTime>
  <Words>613</Words>
  <Application>Microsoft Office PowerPoint</Application>
  <PresentationFormat>On-screen Show (4:3)</PresentationFormat>
  <Paragraphs>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Calibri</vt:lpstr>
      <vt:lpstr>Calibri Light</vt:lpstr>
      <vt:lpstr>Retrospect</vt:lpstr>
      <vt:lpstr>SOFTWARE DESIGN AND ARCHITECTURE</vt:lpstr>
      <vt:lpstr>Review</vt:lpstr>
      <vt:lpstr>Outline</vt:lpstr>
      <vt:lpstr>Interaction-Oriented Software Architectures</vt:lpstr>
      <vt:lpstr>Interaction-Oriented Software Architectures</vt:lpstr>
      <vt:lpstr>Model-View-Controller (MVC)</vt:lpstr>
      <vt:lpstr>What is MVC?</vt:lpstr>
      <vt:lpstr>Model-View-Controller (MVC)</vt:lpstr>
      <vt:lpstr>MVC – general example</vt:lpstr>
      <vt:lpstr>PowerPoint Presentation</vt:lpstr>
      <vt:lpstr>Model</vt:lpstr>
      <vt:lpstr> View</vt:lpstr>
      <vt:lpstr>Controller</vt:lpstr>
      <vt:lpstr>Example Control Flow in MVC</vt:lpstr>
      <vt:lpstr>Example Control Flow in MVC</vt:lpstr>
      <vt:lpstr>Example: </vt:lpstr>
      <vt:lpstr>Model 2 and ASP.NET</vt:lpstr>
      <vt:lpstr>Benefits:</vt:lpstr>
      <vt:lpstr>Limitations: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Faizan Niazi</cp:lastModifiedBy>
  <cp:revision>148</cp:revision>
  <dcterms:created xsi:type="dcterms:W3CDTF">2015-07-31T14:09:29Z</dcterms:created>
  <dcterms:modified xsi:type="dcterms:W3CDTF">2024-11-03T11:24:51Z</dcterms:modified>
</cp:coreProperties>
</file>